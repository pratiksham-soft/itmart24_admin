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jpg" ContentType="image/png"/>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257" r:id="rId3"/>
    <p:sldId id="260" r:id="rId4"/>
    <p:sldId id="261" r:id="rId5"/>
    <p:sldId id="262" r:id="rId6"/>
    <p:sldId id="263" r:id="rId7"/>
    <p:sldId id="264" r:id="rId8"/>
    <p:sldId id="265" r:id="rId9"/>
    <p:sldId id="266" r:id="rId10"/>
    <p:sldId id="267" r:id="rId11"/>
    <p:sldId id="268" r:id="rId12"/>
    <p:sldId id="270" r:id="rId13"/>
    <p:sldId id="269"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A5A5A5"/>
    <a:srgbClr val="ED7D31"/>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595"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Market Size </a:t>
            </a:r>
            <a:r>
              <a:rPr lang="en-US" dirty="0" smtClean="0"/>
              <a:t>2022</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Market Size 2022 (in billion USD )</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Hosting</c:v>
                </c:pt>
                <c:pt idx="1">
                  <c:v>Software</c:v>
                </c:pt>
                <c:pt idx="2">
                  <c:v>A.I.</c:v>
                </c:pt>
                <c:pt idx="3">
                  <c:v>Digital Tutorials</c:v>
                </c:pt>
              </c:strCache>
            </c:strRef>
          </c:cat>
          <c:val>
            <c:numRef>
              <c:f>Sheet1!$B$2:$B$5</c:f>
              <c:numCache>
                <c:formatCode>General</c:formatCode>
                <c:ptCount val="4"/>
                <c:pt idx="0">
                  <c:v>94.64</c:v>
                </c:pt>
                <c:pt idx="1">
                  <c:v>589.6</c:v>
                </c:pt>
                <c:pt idx="2">
                  <c:v>454.12</c:v>
                </c:pt>
                <c:pt idx="3">
                  <c:v>232.47</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Market Size 2023</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Hosting</c:v>
                </c:pt>
                <c:pt idx="1">
                  <c:v>Software</c:v>
                </c:pt>
                <c:pt idx="2">
                  <c:v>A.I. </c:v>
                </c:pt>
                <c:pt idx="3">
                  <c:v>Digital Tutorial</c:v>
                </c:pt>
              </c:strCache>
            </c:strRef>
          </c:cat>
          <c:val>
            <c:numRef>
              <c:f>Sheet1!$B$2:$B$5</c:f>
              <c:numCache>
                <c:formatCode>General</c:formatCode>
                <c:ptCount val="4"/>
                <c:pt idx="0">
                  <c:v>108.54</c:v>
                </c:pt>
                <c:pt idx="1">
                  <c:v>658.82</c:v>
                </c:pt>
                <c:pt idx="2">
                  <c:v>538.13</c:v>
                </c:pt>
                <c:pt idx="3">
                  <c:v>263.33999999999997</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smtClean="0"/>
              <a:t>Predicted Market </a:t>
            </a:r>
            <a:r>
              <a:rPr lang="en-US" dirty="0"/>
              <a:t>Size </a:t>
            </a:r>
            <a:r>
              <a:rPr lang="en-US" dirty="0" smtClean="0"/>
              <a:t>2030</a:t>
            </a:r>
            <a:endParaRPr lang="en-US"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Market Size 2022 (in billion USD )</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Hosting</c:v>
                </c:pt>
                <c:pt idx="1">
                  <c:v>Software</c:v>
                </c:pt>
                <c:pt idx="2">
                  <c:v>A.I.</c:v>
                </c:pt>
                <c:pt idx="3">
                  <c:v>Digital Tutorials</c:v>
                </c:pt>
              </c:strCache>
            </c:strRef>
          </c:cat>
          <c:val>
            <c:numRef>
              <c:f>Sheet1!$B$2:$B$5</c:f>
              <c:numCache>
                <c:formatCode>General</c:formatCode>
                <c:ptCount val="4"/>
                <c:pt idx="0">
                  <c:v>395.84</c:v>
                </c:pt>
                <c:pt idx="1">
                  <c:v>1432.94</c:v>
                </c:pt>
                <c:pt idx="2">
                  <c:v>1807.84</c:v>
                </c:pt>
                <c:pt idx="3">
                  <c:v>491.35</c:v>
                </c:pt>
              </c:numCache>
            </c:numRef>
          </c:val>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CE5E96E-AE92-42D1-867C-26EB19734F35}" type="datetimeFigureOut">
              <a:rPr lang="en-IN" smtClean="0"/>
              <a:t>23-11-2023</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AFEE0B-61C9-4C90-BAC1-DEED9CD12DBC}" type="slidenum">
              <a:rPr lang="en-IN" smtClean="0"/>
              <a:t>‹#›</a:t>
            </a:fld>
            <a:endParaRPr lang="en-IN"/>
          </a:p>
        </p:txBody>
      </p:sp>
    </p:spTree>
    <p:extLst>
      <p:ext uri="{BB962C8B-B14F-4D97-AF65-F5344CB8AC3E}">
        <p14:creationId xmlns:p14="http://schemas.microsoft.com/office/powerpoint/2010/main" val="13725110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CA7C6F-A7FD-4342-AF6F-04D520C7EE94}" type="datetimeFigureOut">
              <a:rPr lang="en-IN" smtClean="0"/>
              <a:t>23-11-2023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CD2B5B-8CB4-49DF-95B4-4B087D41F690}" type="slidenum">
              <a:rPr lang="en-IN" smtClean="0"/>
              <a:t>‹#›</a:t>
            </a:fld>
            <a:endParaRPr lang="en-IN"/>
          </a:p>
        </p:txBody>
      </p:sp>
    </p:spTree>
    <p:extLst>
      <p:ext uri="{BB962C8B-B14F-4D97-AF65-F5344CB8AC3E}">
        <p14:creationId xmlns:p14="http://schemas.microsoft.com/office/powerpoint/2010/main" val="222867746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44242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952848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7518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29881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03610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90771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08220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46458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84404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59863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19347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30505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84164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60776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783385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08020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247772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17902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9291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21510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417273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932395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1299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75103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D529AD0-0161-44C2-A95C-F00E7060FEBF}" type="datetimeFigureOut">
              <a:rPr lang="en-IN" smtClean="0"/>
              <a:t>23-11-2023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4085190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529AD0-0161-44C2-A95C-F00E7060FEBF}" type="datetimeFigureOut">
              <a:rPr lang="en-IN" smtClean="0"/>
              <a:t>23-11-2023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3642709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529AD0-0161-44C2-A95C-F00E7060FEBF}" type="datetimeFigureOut">
              <a:rPr lang="en-IN" smtClean="0"/>
              <a:t>23-11-2023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4010389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D529AD0-0161-44C2-A95C-F00E7060FEBF}" type="datetimeFigureOut">
              <a:rPr lang="en-IN" smtClean="0"/>
              <a:t>23-11-2023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2302318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D529AD0-0161-44C2-A95C-F00E7060FEBF}" type="datetimeFigureOut">
              <a:rPr lang="en-IN" smtClean="0"/>
              <a:t>23-11-2023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82492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D529AD0-0161-44C2-A95C-F00E7060FEBF}" type="datetimeFigureOut">
              <a:rPr lang="en-IN" smtClean="0"/>
              <a:t>23-11-2023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1215532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529AD0-0161-44C2-A95C-F00E7060FEBF}" type="datetimeFigureOut">
              <a:rPr lang="en-IN" smtClean="0"/>
              <a:t>23-11-2023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4137905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529AD0-0161-44C2-A95C-F00E7060FEBF}" type="datetimeFigureOut">
              <a:rPr lang="en-IN" smtClean="0"/>
              <a:t>23-11-2023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377256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529AD0-0161-44C2-A95C-F00E7060FEBF}" type="datetimeFigureOut">
              <a:rPr lang="en-IN" smtClean="0"/>
              <a:t>23-11-2023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3578684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529AD0-0161-44C2-A95C-F00E7060FEBF}" type="datetimeFigureOut">
              <a:rPr lang="en-IN" smtClean="0"/>
              <a:t>23-11-2023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891271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529AD0-0161-44C2-A95C-F00E7060FEBF}" type="datetimeFigureOut">
              <a:rPr lang="en-IN" smtClean="0"/>
              <a:t>23-11-2023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AC287B2-28BC-4DEE-B4D5-A8291B2E88B3}" type="slidenum">
              <a:rPr lang="en-IN" smtClean="0"/>
              <a:t>‹#›</a:t>
            </a:fld>
            <a:endParaRPr lang="en-IN"/>
          </a:p>
        </p:txBody>
      </p:sp>
    </p:spTree>
    <p:extLst>
      <p:ext uri="{BB962C8B-B14F-4D97-AF65-F5344CB8AC3E}">
        <p14:creationId xmlns:p14="http://schemas.microsoft.com/office/powerpoint/2010/main" val="3303813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529AD0-0161-44C2-A95C-F00E7060FEBF}" type="datetimeFigureOut">
              <a:rPr lang="en-IN" smtClean="0"/>
              <a:t>23-11-2023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287B2-28BC-4DEE-B4D5-A8291B2E88B3}" type="slidenum">
              <a:rPr lang="en-IN" smtClean="0"/>
              <a:t>‹#›</a:t>
            </a:fld>
            <a:endParaRPr lang="en-IN"/>
          </a:p>
        </p:txBody>
      </p:sp>
    </p:spTree>
    <p:extLst>
      <p:ext uri="{BB962C8B-B14F-4D97-AF65-F5344CB8AC3E}">
        <p14:creationId xmlns:p14="http://schemas.microsoft.com/office/powerpoint/2010/main" val="2819302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2.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3.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4.pn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image" Target="../media/image3.jpg"/><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4.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5.pn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image" Target="../media/image3.jpg"/><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5.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6.pn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image" Target="../media/image3.jpg"/><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6.xml.rels><?xml version="1.0" encoding="UTF-8" standalone="yes"?>
<Relationships xmlns="http://schemas.openxmlformats.org/package/2006/relationships"><Relationship Id="rId8" Type="http://schemas.openxmlformats.org/officeDocument/2006/relationships/slide" Target="slide2.xml"/><Relationship Id="rId13" Type="http://schemas.openxmlformats.org/officeDocument/2006/relationships/slide" Target="slide14.xml"/><Relationship Id="rId18" Type="http://schemas.openxmlformats.org/officeDocument/2006/relationships/slide" Target="slide24.xml"/><Relationship Id="rId3" Type="http://schemas.openxmlformats.org/officeDocument/2006/relationships/image" Target="../media/image7.png"/><Relationship Id="rId21" Type="http://schemas.openxmlformats.org/officeDocument/2006/relationships/slide" Target="slide28.xml"/><Relationship Id="rId7" Type="http://schemas.openxmlformats.org/officeDocument/2006/relationships/image" Target="../media/image11.png"/><Relationship Id="rId12" Type="http://schemas.openxmlformats.org/officeDocument/2006/relationships/slide" Target="slide11.xml"/><Relationship Id="rId17" Type="http://schemas.openxmlformats.org/officeDocument/2006/relationships/slide" Target="slide23.xml"/><Relationship Id="rId2" Type="http://schemas.openxmlformats.org/officeDocument/2006/relationships/image" Target="../media/image3.jpg"/><Relationship Id="rId16" Type="http://schemas.openxmlformats.org/officeDocument/2006/relationships/slide" Target="slide21.xml"/><Relationship Id="rId20"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slide" Target="slide10.xml"/><Relationship Id="rId5" Type="http://schemas.openxmlformats.org/officeDocument/2006/relationships/image" Target="../media/image9.png"/><Relationship Id="rId15" Type="http://schemas.openxmlformats.org/officeDocument/2006/relationships/slide" Target="slide19.xml"/><Relationship Id="rId10" Type="http://schemas.openxmlformats.org/officeDocument/2006/relationships/slide" Target="slide7.xml"/><Relationship Id="rId19" Type="http://schemas.openxmlformats.org/officeDocument/2006/relationships/slide" Target="slide26.xml"/><Relationship Id="rId4" Type="http://schemas.openxmlformats.org/officeDocument/2006/relationships/image" Target="../media/image8.png"/><Relationship Id="rId9" Type="http://schemas.openxmlformats.org/officeDocument/2006/relationships/slide" Target="slide3.xml"/><Relationship Id="rId14" Type="http://schemas.openxmlformats.org/officeDocument/2006/relationships/slide" Target="slide17.xml"/><Relationship Id="rId22" Type="http://schemas.openxmlformats.org/officeDocument/2006/relationships/slide" Target="slide29.xml"/></Relationships>
</file>

<file path=ppt/slides/_rels/slide7.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12.pn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image" Target="../media/image3.jpg"/><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8.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7.xml"/><Relationship Id="rId18" Type="http://schemas.openxmlformats.org/officeDocument/2006/relationships/slide" Target="slide26.xml"/><Relationship Id="rId3" Type="http://schemas.openxmlformats.org/officeDocument/2006/relationships/image" Target="../media/image8.png"/><Relationship Id="rId21" Type="http://schemas.openxmlformats.org/officeDocument/2006/relationships/slide" Target="slide29.xml"/><Relationship Id="rId7" Type="http://schemas.openxmlformats.org/officeDocument/2006/relationships/slide" Target="slide2.xml"/><Relationship Id="rId12" Type="http://schemas.openxmlformats.org/officeDocument/2006/relationships/slide" Target="slide14.xml"/><Relationship Id="rId17" Type="http://schemas.openxmlformats.org/officeDocument/2006/relationships/slide" Target="slide24.xml"/><Relationship Id="rId2" Type="http://schemas.openxmlformats.org/officeDocument/2006/relationships/image" Target="../media/image3.jpg"/><Relationship Id="rId16" Type="http://schemas.openxmlformats.org/officeDocument/2006/relationships/slide" Target="slide23.xml"/><Relationship Id="rId20"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slide" Target="slide11.xml"/><Relationship Id="rId5" Type="http://schemas.openxmlformats.org/officeDocument/2006/relationships/image" Target="../media/image10.png"/><Relationship Id="rId15" Type="http://schemas.openxmlformats.org/officeDocument/2006/relationships/slide" Target="slide21.xml"/><Relationship Id="rId10" Type="http://schemas.openxmlformats.org/officeDocument/2006/relationships/slide" Target="slide10.xml"/><Relationship Id="rId19" Type="http://schemas.openxmlformats.org/officeDocument/2006/relationships/slide" Target="slide27.xml"/><Relationship Id="rId4" Type="http://schemas.openxmlformats.org/officeDocument/2006/relationships/image" Target="../media/image13.png"/><Relationship Id="rId9" Type="http://schemas.openxmlformats.org/officeDocument/2006/relationships/slide" Target="slide7.xml"/><Relationship Id="rId14" Type="http://schemas.openxmlformats.org/officeDocument/2006/relationships/slide" Target="slide19.xml"/></Relationships>
</file>

<file path=ppt/slides/_rels/slide9.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1.xml"/><Relationship Id="rId18" Type="http://schemas.openxmlformats.org/officeDocument/2006/relationships/slide" Target="slide28.xml"/><Relationship Id="rId3" Type="http://schemas.openxmlformats.org/officeDocument/2006/relationships/image" Target="../media/image3.jpg"/><Relationship Id="rId7" Type="http://schemas.openxmlformats.org/officeDocument/2006/relationships/slide" Target="slide7.xml"/><Relationship Id="rId12" Type="http://schemas.openxmlformats.org/officeDocument/2006/relationships/slide" Target="slide19.xml"/><Relationship Id="rId17" Type="http://schemas.openxmlformats.org/officeDocument/2006/relationships/slide" Target="slide27.xml"/><Relationship Id="rId2" Type="http://schemas.openxmlformats.org/officeDocument/2006/relationships/notesSlide" Target="../notesSlides/notesSlide3.xml"/><Relationship Id="rId16" Type="http://schemas.openxmlformats.org/officeDocument/2006/relationships/slide" Target="slide26.xml"/><Relationship Id="rId1" Type="http://schemas.openxmlformats.org/officeDocument/2006/relationships/slideLayout" Target="../slideLayouts/slideLayout7.xml"/><Relationship Id="rId6" Type="http://schemas.openxmlformats.org/officeDocument/2006/relationships/slide" Target="slide3.xml"/><Relationship Id="rId11" Type="http://schemas.openxmlformats.org/officeDocument/2006/relationships/slide" Target="slide17.xml"/><Relationship Id="rId5" Type="http://schemas.openxmlformats.org/officeDocument/2006/relationships/slide" Target="slide2.xml"/><Relationship Id="rId15" Type="http://schemas.openxmlformats.org/officeDocument/2006/relationships/slide" Target="slide24.xml"/><Relationship Id="rId10" Type="http://schemas.openxmlformats.org/officeDocument/2006/relationships/slide" Target="slide14.xml"/><Relationship Id="rId19" Type="http://schemas.openxmlformats.org/officeDocument/2006/relationships/slide" Target="slide29.xml"/><Relationship Id="rId4" Type="http://schemas.openxmlformats.org/officeDocument/2006/relationships/image" Target="../media/image14.png"/><Relationship Id="rId9" Type="http://schemas.openxmlformats.org/officeDocument/2006/relationships/slide" Target="slide11.xml"/><Relationship Id="rId14" Type="http://schemas.openxmlformats.org/officeDocument/2006/relationships/slide" Target="slide23.xml"/></Relationships>
</file>

<file path=ppt/slides/_rels/slide10.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7.xml"/><Relationship Id="rId18" Type="http://schemas.openxmlformats.org/officeDocument/2006/relationships/slide" Target="slide26.xml"/><Relationship Id="rId3" Type="http://schemas.openxmlformats.org/officeDocument/2006/relationships/image" Target="../media/image3.jpg"/><Relationship Id="rId21" Type="http://schemas.openxmlformats.org/officeDocument/2006/relationships/slide" Target="slide29.xml"/><Relationship Id="rId7" Type="http://schemas.openxmlformats.org/officeDocument/2006/relationships/slide" Target="slide2.xml"/><Relationship Id="rId12" Type="http://schemas.openxmlformats.org/officeDocument/2006/relationships/slide" Target="slide14.xml"/><Relationship Id="rId17" Type="http://schemas.openxmlformats.org/officeDocument/2006/relationships/slide" Target="slide24.xml"/><Relationship Id="rId2" Type="http://schemas.openxmlformats.org/officeDocument/2006/relationships/notesSlide" Target="../notesSlides/notesSlide4.xml"/><Relationship Id="rId16" Type="http://schemas.openxmlformats.org/officeDocument/2006/relationships/slide" Target="slide23.xml"/><Relationship Id="rId20"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chart" Target="../charts/chart3.xml"/><Relationship Id="rId11" Type="http://schemas.openxmlformats.org/officeDocument/2006/relationships/slide" Target="slide11.xml"/><Relationship Id="rId5" Type="http://schemas.openxmlformats.org/officeDocument/2006/relationships/chart" Target="../charts/chart2.xml"/><Relationship Id="rId15" Type="http://schemas.openxmlformats.org/officeDocument/2006/relationships/slide" Target="slide21.xml"/><Relationship Id="rId10" Type="http://schemas.openxmlformats.org/officeDocument/2006/relationships/slide" Target="slide10.xml"/><Relationship Id="rId19" Type="http://schemas.openxmlformats.org/officeDocument/2006/relationships/slide" Target="slide27.xml"/><Relationship Id="rId4" Type="http://schemas.openxmlformats.org/officeDocument/2006/relationships/chart" Target="../charts/chart1.xml"/><Relationship Id="rId9" Type="http://schemas.openxmlformats.org/officeDocument/2006/relationships/slide" Target="slide7.xml"/><Relationship Id="rId14" Type="http://schemas.openxmlformats.org/officeDocument/2006/relationships/slide" Target="slide19.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slide" Target="slide11.xml"/><Relationship Id="rId26" Type="http://schemas.openxmlformats.org/officeDocument/2006/relationships/slide" Target="slide27.xml"/><Relationship Id="rId3" Type="http://schemas.openxmlformats.org/officeDocument/2006/relationships/image" Target="../media/image3.jpg"/><Relationship Id="rId21" Type="http://schemas.openxmlformats.org/officeDocument/2006/relationships/slide" Target="slide19.xml"/><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slide" Target="slide10.xml"/><Relationship Id="rId25" Type="http://schemas.openxmlformats.org/officeDocument/2006/relationships/slide" Target="slide26.xml"/><Relationship Id="rId2" Type="http://schemas.openxmlformats.org/officeDocument/2006/relationships/notesSlide" Target="../notesSlides/notesSlide5.xml"/><Relationship Id="rId16" Type="http://schemas.openxmlformats.org/officeDocument/2006/relationships/slide" Target="slide7.xml"/><Relationship Id="rId20" Type="http://schemas.openxmlformats.org/officeDocument/2006/relationships/slide" Target="slide17.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slide" Target="slide24.xml"/><Relationship Id="rId5" Type="http://schemas.openxmlformats.org/officeDocument/2006/relationships/image" Target="../media/image16.png"/><Relationship Id="rId15" Type="http://schemas.openxmlformats.org/officeDocument/2006/relationships/slide" Target="slide3.xml"/><Relationship Id="rId23" Type="http://schemas.openxmlformats.org/officeDocument/2006/relationships/slide" Target="slide23.xml"/><Relationship Id="rId28" Type="http://schemas.openxmlformats.org/officeDocument/2006/relationships/slide" Target="slide29.xml"/><Relationship Id="rId10" Type="http://schemas.openxmlformats.org/officeDocument/2006/relationships/image" Target="../media/image21.png"/><Relationship Id="rId19" Type="http://schemas.openxmlformats.org/officeDocument/2006/relationships/slide" Target="slide14.xml"/><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slide" Target="slide2.xml"/><Relationship Id="rId22" Type="http://schemas.openxmlformats.org/officeDocument/2006/relationships/slide" Target="slide21.xml"/><Relationship Id="rId27" Type="http://schemas.openxmlformats.org/officeDocument/2006/relationships/slide" Target="slide28.xml"/></Relationships>
</file>

<file path=ppt/slides/_rels/slide1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6.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3.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7.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4.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8.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5.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9.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6.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0.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7.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1.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8.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2.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slide" Target="slide7.xml"/><Relationship Id="rId26" Type="http://schemas.openxmlformats.org/officeDocument/2006/relationships/slide" Target="slide24.xml"/><Relationship Id="rId3" Type="http://schemas.openxmlformats.org/officeDocument/2006/relationships/image" Target="../media/image3.jpg"/><Relationship Id="rId21" Type="http://schemas.openxmlformats.org/officeDocument/2006/relationships/slide" Target="slide14.xml"/><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slide" Target="slide3.xml"/><Relationship Id="rId25" Type="http://schemas.openxmlformats.org/officeDocument/2006/relationships/slide" Target="slide23.xml"/><Relationship Id="rId2" Type="http://schemas.openxmlformats.org/officeDocument/2006/relationships/notesSlide" Target="../notesSlides/notesSlide13.xml"/><Relationship Id="rId16" Type="http://schemas.openxmlformats.org/officeDocument/2006/relationships/slide" Target="slide2.xml"/><Relationship Id="rId20" Type="http://schemas.openxmlformats.org/officeDocument/2006/relationships/slide" Target="slide11.xml"/><Relationship Id="rId29" Type="http://schemas.openxmlformats.org/officeDocument/2006/relationships/slide" Target="slide28.xml"/><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png"/><Relationship Id="rId24" Type="http://schemas.openxmlformats.org/officeDocument/2006/relationships/slide" Target="slide21.xml"/><Relationship Id="rId5" Type="http://schemas.openxmlformats.org/officeDocument/2006/relationships/image" Target="../media/image26.png"/><Relationship Id="rId15" Type="http://schemas.openxmlformats.org/officeDocument/2006/relationships/image" Target="../media/image36.png"/><Relationship Id="rId23" Type="http://schemas.openxmlformats.org/officeDocument/2006/relationships/slide" Target="slide19.xml"/><Relationship Id="rId28" Type="http://schemas.openxmlformats.org/officeDocument/2006/relationships/slide" Target="slide27.xml"/><Relationship Id="rId10" Type="http://schemas.openxmlformats.org/officeDocument/2006/relationships/image" Target="../media/image31.png"/><Relationship Id="rId19" Type="http://schemas.openxmlformats.org/officeDocument/2006/relationships/slide" Target="slide10.xml"/><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 Id="rId22" Type="http://schemas.openxmlformats.org/officeDocument/2006/relationships/slide" Target="slide17.xml"/><Relationship Id="rId27" Type="http://schemas.openxmlformats.org/officeDocument/2006/relationships/slide" Target="slide26.xml"/><Relationship Id="rId30" Type="http://schemas.openxmlformats.org/officeDocument/2006/relationships/slide" Target="slide29.xml"/></Relationships>
</file>

<file path=ppt/slides/_rels/slide20.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4.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1.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5.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2.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6.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3.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17.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4.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1.xml"/><Relationship Id="rId18" Type="http://schemas.openxmlformats.org/officeDocument/2006/relationships/slide" Target="slide28.xml"/><Relationship Id="rId3" Type="http://schemas.openxmlformats.org/officeDocument/2006/relationships/image" Target="../media/image3.jpg"/><Relationship Id="rId7" Type="http://schemas.openxmlformats.org/officeDocument/2006/relationships/slide" Target="slide7.xml"/><Relationship Id="rId12" Type="http://schemas.openxmlformats.org/officeDocument/2006/relationships/slide" Target="slide19.xml"/><Relationship Id="rId17" Type="http://schemas.openxmlformats.org/officeDocument/2006/relationships/slide" Target="slide27.xml"/><Relationship Id="rId2" Type="http://schemas.openxmlformats.org/officeDocument/2006/relationships/notesSlide" Target="../notesSlides/notesSlide18.xml"/><Relationship Id="rId16" Type="http://schemas.openxmlformats.org/officeDocument/2006/relationships/slide" Target="slide26.xml"/><Relationship Id="rId1" Type="http://schemas.openxmlformats.org/officeDocument/2006/relationships/slideLayout" Target="../slideLayouts/slideLayout7.xml"/><Relationship Id="rId6" Type="http://schemas.openxmlformats.org/officeDocument/2006/relationships/slide" Target="slide3.xml"/><Relationship Id="rId11" Type="http://schemas.openxmlformats.org/officeDocument/2006/relationships/slide" Target="slide17.xml"/><Relationship Id="rId5" Type="http://schemas.openxmlformats.org/officeDocument/2006/relationships/slide" Target="slide2.xml"/><Relationship Id="rId15" Type="http://schemas.openxmlformats.org/officeDocument/2006/relationships/slide" Target="slide24.xml"/><Relationship Id="rId10" Type="http://schemas.openxmlformats.org/officeDocument/2006/relationships/slide" Target="slide14.xml"/><Relationship Id="rId19" Type="http://schemas.openxmlformats.org/officeDocument/2006/relationships/slide" Target="slide29.xml"/><Relationship Id="rId4" Type="http://schemas.openxmlformats.org/officeDocument/2006/relationships/image" Target="../media/image37.png"/><Relationship Id="rId9" Type="http://schemas.openxmlformats.org/officeDocument/2006/relationships/slide" Target="slide11.xml"/><Relationship Id="rId14" Type="http://schemas.openxmlformats.org/officeDocument/2006/relationships/slide" Target="slide23.xml"/></Relationships>
</file>

<file path=ppt/slides/_rels/slide25.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1.xml"/><Relationship Id="rId18" Type="http://schemas.openxmlformats.org/officeDocument/2006/relationships/slide" Target="slide28.xml"/><Relationship Id="rId3" Type="http://schemas.openxmlformats.org/officeDocument/2006/relationships/image" Target="../media/image3.jpg"/><Relationship Id="rId7" Type="http://schemas.openxmlformats.org/officeDocument/2006/relationships/slide" Target="slide7.xml"/><Relationship Id="rId12" Type="http://schemas.openxmlformats.org/officeDocument/2006/relationships/slide" Target="slide19.xml"/><Relationship Id="rId17" Type="http://schemas.openxmlformats.org/officeDocument/2006/relationships/slide" Target="slide27.xml"/><Relationship Id="rId2" Type="http://schemas.openxmlformats.org/officeDocument/2006/relationships/notesSlide" Target="../notesSlides/notesSlide19.xml"/><Relationship Id="rId16" Type="http://schemas.openxmlformats.org/officeDocument/2006/relationships/slide" Target="slide26.xml"/><Relationship Id="rId1" Type="http://schemas.openxmlformats.org/officeDocument/2006/relationships/slideLayout" Target="../slideLayouts/slideLayout7.xml"/><Relationship Id="rId6" Type="http://schemas.openxmlformats.org/officeDocument/2006/relationships/slide" Target="slide3.xml"/><Relationship Id="rId11" Type="http://schemas.openxmlformats.org/officeDocument/2006/relationships/slide" Target="slide17.xml"/><Relationship Id="rId5" Type="http://schemas.openxmlformats.org/officeDocument/2006/relationships/slide" Target="slide2.xml"/><Relationship Id="rId15" Type="http://schemas.openxmlformats.org/officeDocument/2006/relationships/slide" Target="slide24.xml"/><Relationship Id="rId10" Type="http://schemas.openxmlformats.org/officeDocument/2006/relationships/slide" Target="slide14.xml"/><Relationship Id="rId19" Type="http://schemas.openxmlformats.org/officeDocument/2006/relationships/slide" Target="slide29.xml"/><Relationship Id="rId4" Type="http://schemas.openxmlformats.org/officeDocument/2006/relationships/image" Target="../media/image37.png"/><Relationship Id="rId9" Type="http://schemas.openxmlformats.org/officeDocument/2006/relationships/slide" Target="slide11.xml"/><Relationship Id="rId14" Type="http://schemas.openxmlformats.org/officeDocument/2006/relationships/slide" Target="slide23.xml"/></Relationships>
</file>

<file path=ppt/slides/_rels/slide26.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1.xml"/><Relationship Id="rId18" Type="http://schemas.openxmlformats.org/officeDocument/2006/relationships/slide" Target="slide28.xml"/><Relationship Id="rId3" Type="http://schemas.openxmlformats.org/officeDocument/2006/relationships/image" Target="../media/image3.jpg"/><Relationship Id="rId7" Type="http://schemas.openxmlformats.org/officeDocument/2006/relationships/slide" Target="slide7.xml"/><Relationship Id="rId12" Type="http://schemas.openxmlformats.org/officeDocument/2006/relationships/slide" Target="slide19.xml"/><Relationship Id="rId17" Type="http://schemas.openxmlformats.org/officeDocument/2006/relationships/slide" Target="slide27.xml"/><Relationship Id="rId2" Type="http://schemas.openxmlformats.org/officeDocument/2006/relationships/notesSlide" Target="../notesSlides/notesSlide20.xml"/><Relationship Id="rId16" Type="http://schemas.openxmlformats.org/officeDocument/2006/relationships/slide" Target="slide26.xml"/><Relationship Id="rId1" Type="http://schemas.openxmlformats.org/officeDocument/2006/relationships/slideLayout" Target="../slideLayouts/slideLayout7.xml"/><Relationship Id="rId6" Type="http://schemas.openxmlformats.org/officeDocument/2006/relationships/slide" Target="slide3.xml"/><Relationship Id="rId11" Type="http://schemas.openxmlformats.org/officeDocument/2006/relationships/slide" Target="slide17.xml"/><Relationship Id="rId5" Type="http://schemas.openxmlformats.org/officeDocument/2006/relationships/slide" Target="slide2.xml"/><Relationship Id="rId15" Type="http://schemas.openxmlformats.org/officeDocument/2006/relationships/slide" Target="slide24.xml"/><Relationship Id="rId10" Type="http://schemas.openxmlformats.org/officeDocument/2006/relationships/slide" Target="slide14.xml"/><Relationship Id="rId19" Type="http://schemas.openxmlformats.org/officeDocument/2006/relationships/slide" Target="slide29.xml"/><Relationship Id="rId4" Type="http://schemas.openxmlformats.org/officeDocument/2006/relationships/image" Target="../media/image38.png"/><Relationship Id="rId9" Type="http://schemas.openxmlformats.org/officeDocument/2006/relationships/slide" Target="slide11.xml"/><Relationship Id="rId14" Type="http://schemas.openxmlformats.org/officeDocument/2006/relationships/slide" Target="slide23.xml"/></Relationships>
</file>

<file path=ppt/slides/_rels/slide27.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21.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8.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22.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29.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23.xml"/><Relationship Id="rId18" Type="http://schemas.openxmlformats.org/officeDocument/2006/relationships/slide" Target="slide29.xml"/><Relationship Id="rId3" Type="http://schemas.openxmlformats.org/officeDocument/2006/relationships/image" Target="../media/image3.jpg"/><Relationship Id="rId7" Type="http://schemas.openxmlformats.org/officeDocument/2006/relationships/slide" Target="slide10.xml"/><Relationship Id="rId12" Type="http://schemas.openxmlformats.org/officeDocument/2006/relationships/slide" Target="slide21.xml"/><Relationship Id="rId17" Type="http://schemas.openxmlformats.org/officeDocument/2006/relationships/slide" Target="slide28.xml"/><Relationship Id="rId2" Type="http://schemas.openxmlformats.org/officeDocument/2006/relationships/notesSlide" Target="../notesSlides/notesSlide23.xml"/><Relationship Id="rId16" Type="http://schemas.openxmlformats.org/officeDocument/2006/relationships/slide" Target="slide27.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9.xml"/><Relationship Id="rId5" Type="http://schemas.openxmlformats.org/officeDocument/2006/relationships/slide" Target="slide3.xml"/><Relationship Id="rId15" Type="http://schemas.openxmlformats.org/officeDocument/2006/relationships/slide" Target="slide26.xml"/><Relationship Id="rId10" Type="http://schemas.openxmlformats.org/officeDocument/2006/relationships/slide" Target="slide17.xml"/><Relationship Id="rId4" Type="http://schemas.openxmlformats.org/officeDocument/2006/relationships/slide" Target="slide2.xml"/><Relationship Id="rId9" Type="http://schemas.openxmlformats.org/officeDocument/2006/relationships/slide" Target="slide14.xml"/><Relationship Id="rId14" Type="http://schemas.openxmlformats.org/officeDocument/2006/relationships/slide" Target="slide24.xml"/></Relationships>
</file>

<file path=ppt/slides/_rels/slide3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21.xml"/><Relationship Id="rId18" Type="http://schemas.openxmlformats.org/officeDocument/2006/relationships/slide" Target="slide28.xml"/><Relationship Id="rId3" Type="http://schemas.openxmlformats.org/officeDocument/2006/relationships/image" Target="../media/image3.jpg"/><Relationship Id="rId7" Type="http://schemas.openxmlformats.org/officeDocument/2006/relationships/slide" Target="slide7.xml"/><Relationship Id="rId12" Type="http://schemas.openxmlformats.org/officeDocument/2006/relationships/slide" Target="slide19.xml"/><Relationship Id="rId17" Type="http://schemas.openxmlformats.org/officeDocument/2006/relationships/slide" Target="slide27.xml"/><Relationship Id="rId2" Type="http://schemas.openxmlformats.org/officeDocument/2006/relationships/notesSlide" Target="../notesSlides/notesSlide24.xml"/><Relationship Id="rId16" Type="http://schemas.openxmlformats.org/officeDocument/2006/relationships/slide" Target="slide26.xml"/><Relationship Id="rId1" Type="http://schemas.openxmlformats.org/officeDocument/2006/relationships/slideLayout" Target="../slideLayouts/slideLayout7.xml"/><Relationship Id="rId6" Type="http://schemas.openxmlformats.org/officeDocument/2006/relationships/slide" Target="slide3.xml"/><Relationship Id="rId11" Type="http://schemas.openxmlformats.org/officeDocument/2006/relationships/slide" Target="slide17.xml"/><Relationship Id="rId5" Type="http://schemas.openxmlformats.org/officeDocument/2006/relationships/slide" Target="slide2.xml"/><Relationship Id="rId15" Type="http://schemas.openxmlformats.org/officeDocument/2006/relationships/slide" Target="slide24.xml"/><Relationship Id="rId10" Type="http://schemas.openxmlformats.org/officeDocument/2006/relationships/slide" Target="slide14.xml"/><Relationship Id="rId19" Type="http://schemas.openxmlformats.org/officeDocument/2006/relationships/slide" Target="slide29.xml"/><Relationship Id="rId4" Type="http://schemas.openxmlformats.org/officeDocument/2006/relationships/image" Target="../media/image39.png"/><Relationship Id="rId9" Type="http://schemas.openxmlformats.org/officeDocument/2006/relationships/slide" Target="slide11.xml"/><Relationship Id="rId14"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2189527" y="3123097"/>
            <a:ext cx="3404650" cy="1138773"/>
          </a:xfrm>
          <a:prstGeom prst="rect">
            <a:avLst/>
          </a:prstGeom>
        </p:spPr>
        <p:txBody>
          <a:bodyPr wrap="none">
            <a:spAutoFit/>
          </a:bodyPr>
          <a:lstStyle/>
          <a:p>
            <a:pPr algn="ctr"/>
            <a:r>
              <a:rPr lang="en-US" sz="4800" dirty="0" smtClean="0">
                <a:solidFill>
                  <a:srgbClr val="374151"/>
                </a:solidFill>
                <a:latin typeface="Söhne"/>
              </a:rPr>
              <a:t>IT-Mart24</a:t>
            </a:r>
            <a:endParaRPr lang="en-US" sz="2000" dirty="0" smtClean="0">
              <a:solidFill>
                <a:srgbClr val="374151"/>
              </a:solidFill>
              <a:latin typeface="Söhne"/>
            </a:endParaRPr>
          </a:p>
          <a:p>
            <a:pPr algn="ctr"/>
            <a:r>
              <a:rPr lang="en-US" sz="2000" dirty="0" smtClean="0">
                <a:solidFill>
                  <a:srgbClr val="374151"/>
                </a:solidFill>
                <a:latin typeface="Söhne"/>
              </a:rPr>
              <a:t>Your Tech Companion, 24/7 </a:t>
            </a:r>
            <a:endParaRPr lang="en-IN" sz="2000" dirty="0"/>
          </a:p>
        </p:txBody>
      </p:sp>
      <p:sp>
        <p:nvSpPr>
          <p:cNvPr id="3" name="Rectangle 2"/>
          <p:cNvSpPr/>
          <p:nvPr/>
        </p:nvSpPr>
        <p:spPr>
          <a:xfrm>
            <a:off x="8169435" y="6281337"/>
            <a:ext cx="3685624" cy="400110"/>
          </a:xfrm>
          <a:prstGeom prst="rect">
            <a:avLst/>
          </a:prstGeom>
        </p:spPr>
        <p:txBody>
          <a:bodyPr wrap="none">
            <a:spAutoFit/>
          </a:bodyPr>
          <a:lstStyle/>
          <a:p>
            <a:pPr algn="ctr"/>
            <a:r>
              <a:rPr lang="en-US" sz="2000" dirty="0" smtClean="0">
                <a:solidFill>
                  <a:schemeClr val="bg1"/>
                </a:solidFill>
                <a:latin typeface="Söhne"/>
              </a:rPr>
              <a:t>Pratiksham </a:t>
            </a:r>
            <a:r>
              <a:rPr lang="en-US" sz="2000" dirty="0" err="1" smtClean="0">
                <a:solidFill>
                  <a:schemeClr val="bg1"/>
                </a:solidFill>
                <a:latin typeface="Söhne"/>
              </a:rPr>
              <a:t>Softwares</a:t>
            </a:r>
            <a:r>
              <a:rPr lang="en-US" sz="2000" dirty="0" smtClean="0">
                <a:solidFill>
                  <a:schemeClr val="bg1"/>
                </a:solidFill>
                <a:latin typeface="Söhne"/>
              </a:rPr>
              <a:t> Pvt. Ltd.</a:t>
            </a:r>
            <a:endParaRPr lang="en-IN" sz="2000" dirty="0">
              <a:solidFill>
                <a:schemeClr val="bg1"/>
              </a:solidFil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092906"/>
            <a:ext cx="1020470" cy="1164920"/>
          </a:xfrm>
          <a:prstGeom prst="rect">
            <a:avLst/>
          </a:prstGeom>
        </p:spPr>
      </p:pic>
    </p:spTree>
    <p:extLst>
      <p:ext uri="{BB962C8B-B14F-4D97-AF65-F5344CB8AC3E}">
        <p14:creationId xmlns:p14="http://schemas.microsoft.com/office/powerpoint/2010/main" val="22123364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graphicFrame>
        <p:nvGraphicFramePr>
          <p:cNvPr id="36" name="Table 35"/>
          <p:cNvGraphicFramePr>
            <a:graphicFrameLocks noGrp="1"/>
          </p:cNvGraphicFramePr>
          <p:nvPr>
            <p:extLst>
              <p:ext uri="{D42A27DB-BD31-4B8C-83A1-F6EECF244321}">
                <p14:modId xmlns:p14="http://schemas.microsoft.com/office/powerpoint/2010/main" val="46774274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2" name="Rectangle 1"/>
          <p:cNvSpPr/>
          <p:nvPr/>
        </p:nvSpPr>
        <p:spPr>
          <a:xfrm>
            <a:off x="2133599" y="297390"/>
            <a:ext cx="9525001" cy="6247864"/>
          </a:xfrm>
          <a:prstGeom prst="rect">
            <a:avLst/>
          </a:prstGeom>
        </p:spPr>
        <p:txBody>
          <a:bodyPr wrap="square">
            <a:spAutoFit/>
          </a:bodyPr>
          <a:lstStyle/>
          <a:p>
            <a:pPr algn="just"/>
            <a:r>
              <a:rPr lang="en-IN" sz="1600" b="1" dirty="0"/>
              <a:t>Introduction: Pratiksham </a:t>
            </a:r>
            <a:r>
              <a:rPr lang="en-IN" sz="1600" b="1" dirty="0" err="1"/>
              <a:t>Softwares</a:t>
            </a:r>
            <a:r>
              <a:rPr lang="en-IN" sz="1600" b="1" dirty="0"/>
              <a:t> </a:t>
            </a:r>
            <a:r>
              <a:rPr lang="en-IN" sz="1600" b="1" dirty="0" err="1"/>
              <a:t>Pvt.</a:t>
            </a:r>
            <a:r>
              <a:rPr lang="en-IN" sz="1600" b="1" dirty="0"/>
              <a:t> Ltd.</a:t>
            </a:r>
          </a:p>
          <a:p>
            <a:pPr algn="just"/>
            <a:endParaRPr lang="en-IN" sz="1600" dirty="0"/>
          </a:p>
          <a:p>
            <a:pPr algn="just"/>
            <a:r>
              <a:rPr lang="en-IN" sz="1600" dirty="0"/>
              <a:t>At Pratiksham </a:t>
            </a:r>
            <a:r>
              <a:rPr lang="en-IN" sz="1600" dirty="0" err="1"/>
              <a:t>Softwares</a:t>
            </a:r>
            <a:r>
              <a:rPr lang="en-IN" sz="1600" dirty="0"/>
              <a:t> </a:t>
            </a:r>
            <a:r>
              <a:rPr lang="en-IN" sz="1600" dirty="0" err="1"/>
              <a:t>Pvt.</a:t>
            </a:r>
            <a:r>
              <a:rPr lang="en-IN" sz="1600" dirty="0"/>
              <a:t> Ltd., innovation has been our cornerstone since our inception in 2017. Our journey has been marked by continuous growth and a steadfast commitment to delivering cutting-edge IT solutions to a diverse array of businesses. We are proud to have left our indelible mark in sectors ranging from trading businesses to medical services and even government entities.</a:t>
            </a:r>
          </a:p>
          <a:p>
            <a:pPr algn="just"/>
            <a:endParaRPr lang="en-IN" sz="1600" dirty="0"/>
          </a:p>
          <a:p>
            <a:pPr algn="just"/>
            <a:r>
              <a:rPr lang="en-IN" sz="1600" b="1" dirty="0"/>
              <a:t>Unveiling Tomorrow's Technology, Today</a:t>
            </a:r>
          </a:p>
          <a:p>
            <a:pPr algn="just"/>
            <a:endParaRPr lang="en-IN" sz="1600" dirty="0"/>
          </a:p>
          <a:p>
            <a:pPr algn="just"/>
            <a:r>
              <a:rPr lang="en-IN" sz="1600" dirty="0"/>
              <a:t>Over the years, we've honed our expertise in various facets of the IT industry, focusing on standalone application software development, web application solutions, enterprise-level applications, server software, and mobile application development. Our passion lies in crafting software that's not only powerful but also remarkably user-friendly, adhering to the philosophy of "Simple to Understand, Easy to Use."</a:t>
            </a:r>
          </a:p>
          <a:p>
            <a:pPr algn="just"/>
            <a:endParaRPr lang="en-IN" sz="1600" dirty="0"/>
          </a:p>
          <a:p>
            <a:pPr algn="just"/>
            <a:r>
              <a:rPr lang="en-IN" sz="1600" b="1" dirty="0"/>
              <a:t>A Trail of Success Stories</a:t>
            </a:r>
          </a:p>
          <a:p>
            <a:pPr algn="just"/>
            <a:endParaRPr lang="en-IN" sz="1600" dirty="0"/>
          </a:p>
          <a:p>
            <a:pPr algn="just"/>
            <a:r>
              <a:rPr lang="en-IN" sz="1600" dirty="0"/>
              <a:t>Among our proudest achievements is our partnership with esteemed clients such as the Rainbow Diagnostic </a:t>
            </a:r>
            <a:r>
              <a:rPr lang="en-IN" sz="1600" dirty="0" err="1"/>
              <a:t>Center</a:t>
            </a:r>
            <a:r>
              <a:rPr lang="en-IN" sz="1600" dirty="0"/>
              <a:t>, the largest diagnostic </a:t>
            </a:r>
            <a:r>
              <a:rPr lang="en-IN" sz="1600" dirty="0" err="1"/>
              <a:t>center</a:t>
            </a:r>
            <a:r>
              <a:rPr lang="en-IN" sz="1600" dirty="0"/>
              <a:t> in Central India. Our contributions have also extended to serving esteemed institutions like </a:t>
            </a:r>
            <a:r>
              <a:rPr lang="en-IN" sz="1600" dirty="0" err="1"/>
              <a:t>Zilla</a:t>
            </a:r>
            <a:r>
              <a:rPr lang="en-IN" sz="1600" dirty="0"/>
              <a:t> </a:t>
            </a:r>
            <a:r>
              <a:rPr lang="en-IN" sz="1600" dirty="0" err="1"/>
              <a:t>Parishad</a:t>
            </a:r>
            <a:r>
              <a:rPr lang="en-IN" sz="1600" dirty="0"/>
              <a:t> Nagpur and the </a:t>
            </a:r>
            <a:r>
              <a:rPr lang="en-IN" sz="1600" dirty="0" smtClean="0"/>
              <a:t>Honourable </a:t>
            </a:r>
            <a:r>
              <a:rPr lang="en-IN" sz="1600" dirty="0"/>
              <a:t>High Court Nagpur Bench. These partnerships underscore our ability to deliver top-notch IT solutions that address the unique needs of a diverse clientele.</a:t>
            </a:r>
          </a:p>
          <a:p>
            <a:pPr algn="just"/>
            <a:endParaRPr lang="en-IN" sz="1600" dirty="0" smtClean="0"/>
          </a:p>
          <a:p>
            <a:pPr algn="just"/>
            <a:r>
              <a:rPr lang="en-IN" sz="1600" dirty="0" smtClean="0"/>
              <a:t>As </a:t>
            </a:r>
            <a:r>
              <a:rPr lang="en-IN" sz="1600" dirty="0"/>
              <a:t>we embark on the IT-Mart24 venture, our journey continues to be defined by innovation, excellence, and a commitment to simplifying the IT landscape. Our track record speaks volumes, and our passion for technological advancement remains unwavering. </a:t>
            </a:r>
            <a:r>
              <a:rPr lang="en-US" sz="1600" dirty="0"/>
              <a:t>With Pratiksham </a:t>
            </a:r>
            <a:r>
              <a:rPr lang="en-US" sz="1600" dirty="0" err="1"/>
              <a:t>Softwares</a:t>
            </a:r>
            <a:r>
              <a:rPr lang="en-US" sz="1600" dirty="0"/>
              <a:t> Pvt. Ltd., we're not just embracing the future of IT solutions; we're actively shaping it, ensuring a landscape that is more innovative and promising than ever before</a:t>
            </a:r>
            <a:r>
              <a:rPr lang="en-IN" sz="1600" dirty="0" smtClean="0"/>
              <a:t>.</a:t>
            </a:r>
            <a:endParaRPr lang="en-IN" sz="1600" dirty="0"/>
          </a:p>
        </p:txBody>
      </p:sp>
      <p:sp>
        <p:nvSpPr>
          <p:cNvPr id="6" name="TextBox 5"/>
          <p:cNvSpPr txBox="1"/>
          <p:nvPr/>
        </p:nvSpPr>
        <p:spPr>
          <a:xfrm>
            <a:off x="11658600" y="143501"/>
            <a:ext cx="325925" cy="307777"/>
          </a:xfrm>
          <a:prstGeom prst="rect">
            <a:avLst/>
          </a:prstGeom>
          <a:noFill/>
        </p:spPr>
        <p:txBody>
          <a:bodyPr wrap="square" rtlCol="0">
            <a:spAutoFit/>
          </a:bodyPr>
          <a:lstStyle/>
          <a:p>
            <a:r>
              <a:rPr lang="en-US" sz="1400" dirty="0" smtClean="0"/>
              <a:t>2</a:t>
            </a:r>
            <a:endParaRPr lang="en-IN" sz="1400" dirty="0"/>
          </a:p>
        </p:txBody>
      </p:sp>
    </p:spTree>
    <p:extLst>
      <p:ext uri="{BB962C8B-B14F-4D97-AF65-F5344CB8AC3E}">
        <p14:creationId xmlns:p14="http://schemas.microsoft.com/office/powerpoint/2010/main" val="4940406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2094548" cy="369332"/>
          </a:xfrm>
          <a:prstGeom prst="rect">
            <a:avLst/>
          </a:prstGeom>
        </p:spPr>
        <p:txBody>
          <a:bodyPr wrap="none">
            <a:spAutoFit/>
          </a:bodyPr>
          <a:lstStyle/>
          <a:p>
            <a:r>
              <a:rPr lang="en-US" b="1" dirty="0" smtClean="0"/>
              <a:t>Problem</a:t>
            </a:r>
            <a:r>
              <a:rPr lang="en-US" b="1" dirty="0"/>
              <a:t> Statement</a:t>
            </a:r>
            <a:r>
              <a:rPr lang="en-US" b="1" dirty="0" smtClean="0"/>
              <a:t> </a:t>
            </a:r>
            <a:endParaRPr lang="en-IN" b="1" dirty="0"/>
          </a:p>
        </p:txBody>
      </p:sp>
      <p:sp>
        <p:nvSpPr>
          <p:cNvPr id="6" name="Rounded Rectangle 5"/>
          <p:cNvSpPr/>
          <p:nvPr/>
        </p:nvSpPr>
        <p:spPr>
          <a:xfrm>
            <a:off x="418176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1/4</a:t>
            </a:r>
            <a:endParaRPr lang="en-IN" b="1"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5615" y="3211285"/>
            <a:ext cx="865284" cy="3004457"/>
          </a:xfrm>
          <a:prstGeom prst="rect">
            <a:avLst/>
          </a:prstGeom>
        </p:spPr>
      </p:pic>
      <p:sp>
        <p:nvSpPr>
          <p:cNvPr id="5" name="TextBox 4"/>
          <p:cNvSpPr txBox="1"/>
          <p:nvPr/>
        </p:nvSpPr>
        <p:spPr>
          <a:xfrm>
            <a:off x="2481942" y="881743"/>
            <a:ext cx="8708571" cy="523220"/>
          </a:xfrm>
          <a:prstGeom prst="rect">
            <a:avLst/>
          </a:prstGeom>
          <a:noFill/>
        </p:spPr>
        <p:txBody>
          <a:bodyPr wrap="square" rtlCol="0">
            <a:spAutoFit/>
          </a:bodyPr>
          <a:lstStyle/>
          <a:p>
            <a:pPr algn="ctr"/>
            <a:r>
              <a:rPr lang="en-US" sz="2800" dirty="0" smtClean="0"/>
              <a:t>Lets discuss problem by </a:t>
            </a:r>
            <a:r>
              <a:rPr lang="en-IN" sz="2800" dirty="0" smtClean="0"/>
              <a:t>acknowledging a real life situation. </a:t>
            </a:r>
          </a:p>
        </p:txBody>
      </p:sp>
      <p:sp>
        <p:nvSpPr>
          <p:cNvPr id="7" name="Rectangular Callout 6"/>
          <p:cNvSpPr/>
          <p:nvPr/>
        </p:nvSpPr>
        <p:spPr>
          <a:xfrm>
            <a:off x="7298872" y="2405743"/>
            <a:ext cx="1006929" cy="664028"/>
          </a:xfrm>
          <a:prstGeom prst="wedgeRectCallout">
            <a:avLst>
              <a:gd name="adj1" fmla="val -61914"/>
              <a:gd name="adj2" fmla="val 75441"/>
            </a:avLst>
          </a:prstGeom>
          <a:solidFill>
            <a:schemeClr val="accent4">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Hello!</a:t>
            </a:r>
            <a:endParaRPr lang="en-IN" dirty="0">
              <a:solidFill>
                <a:schemeClr val="tx1"/>
              </a:solidFill>
            </a:endParaRPr>
          </a:p>
        </p:txBody>
      </p:sp>
      <p:sp>
        <p:nvSpPr>
          <p:cNvPr id="8" name="Rectangle 7"/>
          <p:cNvSpPr/>
          <p:nvPr/>
        </p:nvSpPr>
        <p:spPr>
          <a:xfrm>
            <a:off x="4294484" y="1880567"/>
            <a:ext cx="1846660" cy="523220"/>
          </a:xfrm>
          <a:prstGeom prst="rect">
            <a:avLst/>
          </a:prstGeom>
        </p:spPr>
        <p:txBody>
          <a:bodyPr wrap="none">
            <a:spAutoFit/>
          </a:bodyPr>
          <a:lstStyle/>
          <a:p>
            <a:pPr algn="ctr"/>
            <a:r>
              <a:rPr lang="en-IN" sz="2800" dirty="0"/>
              <a:t>Meet John!</a:t>
            </a:r>
          </a:p>
        </p:txBody>
      </p:sp>
      <p:graphicFrame>
        <p:nvGraphicFramePr>
          <p:cNvPr id="10" name="Table 9"/>
          <p:cNvGraphicFramePr>
            <a:graphicFrameLocks noGrp="1"/>
          </p:cNvGraphicFramePr>
          <p:nvPr>
            <p:extLst>
              <p:ext uri="{D42A27DB-BD31-4B8C-83A1-F6EECF244321}">
                <p14:modId xmlns:p14="http://schemas.microsoft.com/office/powerpoint/2010/main" val="1258014052"/>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hlinkClick r:id="rId4" action="ppaction://hlinksldjump"/>
                        </a:rPr>
                        <a:t>Introduction</a:t>
                      </a:r>
                      <a:endParaRPr lang="en-IN" sz="1600" dirty="0"/>
                    </a:p>
                  </a:txBody>
                  <a:tcPr>
                    <a:solidFill>
                      <a:schemeClr val="bg2">
                        <a:lumMod val="90000"/>
                      </a:schemeClr>
                    </a:solidFill>
                  </a:tcPr>
                </a:tc>
              </a:tr>
              <a:tr h="336777">
                <a:tc>
                  <a:txBody>
                    <a:bodyPr/>
                    <a:lstStyle/>
                    <a:p>
                      <a:pPr algn="l"/>
                      <a:r>
                        <a:rPr lang="en-US" sz="1600" dirty="0" smtClean="0">
                          <a:hlinkClick r:id="rId5" action="ppaction://hlinksldjump"/>
                        </a:rPr>
                        <a:t>Problem Statement</a:t>
                      </a:r>
                      <a:endParaRPr lang="en-IN" sz="1600" dirty="0"/>
                    </a:p>
                  </a:txBody>
                  <a:tcPr>
                    <a:solidFill>
                      <a:schemeClr val="accent4">
                        <a:lumMod val="60000"/>
                        <a:lumOff val="40000"/>
                      </a:schemeClr>
                    </a:solidFill>
                  </a:tcPr>
                </a:tc>
              </a:tr>
              <a:tr h="581705">
                <a:tc>
                  <a:txBody>
                    <a:bodyPr/>
                    <a:lstStyle/>
                    <a:p>
                      <a:pPr algn="l"/>
                      <a:r>
                        <a:rPr lang="en-IN" sz="1600" b="0" i="0" kern="1200" dirty="0" smtClean="0">
                          <a:solidFill>
                            <a:schemeClr val="dk1"/>
                          </a:solidFill>
                          <a:effectLst/>
                          <a:latin typeface="+mn-lt"/>
                          <a:ea typeface="+mn-ea"/>
                          <a:cs typeface="+mn-cs"/>
                          <a:hlinkClick r:id="rId6" action="ppaction://hlinksldjump"/>
                        </a:rPr>
                        <a:t>Solution and Unique Selling Proposition</a:t>
                      </a:r>
                      <a:endParaRPr lang="en-IN" sz="1600" dirty="0"/>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7" action="ppaction://hlinksldjump"/>
                        </a:rPr>
                        <a:t>Market Analysis</a:t>
                      </a:r>
                      <a:endParaRPr lang="en-IN" sz="1600" dirty="0"/>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8" action="ppaction://hlinksldjump"/>
                        </a:rPr>
                        <a:t>Business Model</a:t>
                      </a:r>
                      <a:endParaRPr lang="en-IN" sz="1600" dirty="0"/>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9" action="ppaction://hlinksldjump"/>
                        </a:rPr>
                        <a:t>Technology Stack</a:t>
                      </a:r>
                      <a:endParaRPr lang="en-IN" sz="1600" dirty="0"/>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10" action="ppaction://hlinksldjump"/>
                        </a:rPr>
                        <a:t>User Experience</a:t>
                      </a:r>
                      <a:endParaRPr lang="en-IN" sz="1600" dirty="0"/>
                    </a:p>
                  </a:txBody>
                  <a:tcPr>
                    <a:solidFill>
                      <a:schemeClr val="accent3">
                        <a:lumMod val="60000"/>
                        <a:lumOff val="40000"/>
                      </a:schemeClr>
                    </a:solidFill>
                  </a:tcPr>
                </a:tc>
              </a:tr>
              <a:tr h="581705">
                <a:tc>
                  <a:txBody>
                    <a:bodyPr/>
                    <a:lstStyle/>
                    <a:p>
                      <a:pPr algn="l"/>
                      <a:r>
                        <a:rPr lang="en-IN" sz="1600" b="0" i="0" kern="1200" dirty="0" smtClean="0">
                          <a:solidFill>
                            <a:schemeClr val="dk1"/>
                          </a:solidFill>
                          <a:effectLst/>
                          <a:latin typeface="+mn-lt"/>
                          <a:ea typeface="+mn-ea"/>
                          <a:cs typeface="+mn-cs"/>
                          <a:hlinkClick r:id="rId11" action="ppaction://hlinksldjump"/>
                        </a:rPr>
                        <a:t>Features and Functionalities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12" action="ppaction://hlinksldjump"/>
                        </a:rPr>
                        <a:t>Financial Projections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dk1"/>
                          </a:solidFill>
                          <a:effectLst/>
                          <a:latin typeface="+mn-lt"/>
                          <a:ea typeface="+mn-ea"/>
                          <a:cs typeface="+mn-cs"/>
                          <a:hlinkClick r:id="rId13" action="ppaction://hlinksldjump"/>
                        </a:rPr>
                        <a:t>Go-to-Market Strategy</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dk1"/>
                          </a:solidFill>
                          <a:effectLst/>
                          <a:latin typeface="+mn-lt"/>
                          <a:ea typeface="+mn-ea"/>
                          <a:cs typeface="+mn-cs"/>
                          <a:hlinkClick r:id="rId14" action="ppaction://hlinksldjump"/>
                        </a:rPr>
                        <a:t>Team and Partnerships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dk1"/>
                          </a:solidFill>
                          <a:effectLst/>
                          <a:latin typeface="+mn-lt"/>
                          <a:ea typeface="+mn-ea"/>
                          <a:cs typeface="+mn-cs"/>
                          <a:hlinkClick r:id="rId15" action="ppaction://hlinksldjump"/>
                        </a:rPr>
                        <a:t>Legal and Regulatory Considerations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16" action="ppaction://hlinksldjump"/>
                        </a:rPr>
                        <a:t>Risk Analysis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dk1"/>
                          </a:solidFill>
                          <a:effectLst/>
                          <a:latin typeface="+mn-lt"/>
                          <a:ea typeface="+mn-ea"/>
                          <a:cs typeface="+mn-cs"/>
                          <a:hlinkClick r:id="rId17" action="ppaction://hlinksldjump"/>
                        </a:rPr>
                        <a:t>Ask and Use of Funds</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dk1"/>
                          </a:solidFill>
                          <a:effectLst/>
                          <a:latin typeface="+mn-lt"/>
                          <a:ea typeface="+mn-ea"/>
                          <a:cs typeface="+mn-cs"/>
                          <a:hlinkClick r:id="rId18" action="ppaction://hlinksldjump"/>
                        </a:rPr>
                        <a:t>Conclusion</a:t>
                      </a:r>
                      <a:endParaRPr lang="en-IN" sz="1600" b="0" i="0" kern="1200" dirty="0" smtClean="0">
                        <a:solidFill>
                          <a:schemeClr val="dk1"/>
                        </a:solidFill>
                        <a:effectLst/>
                        <a:latin typeface="+mn-lt"/>
                        <a:ea typeface="+mn-ea"/>
                        <a:cs typeface="+mn-cs"/>
                      </a:endParaRPr>
                    </a:p>
                  </a:txBody>
                  <a:tcPr>
                    <a:solidFill>
                      <a:schemeClr val="accent3">
                        <a:lumMod val="60000"/>
                        <a:lumOff val="40000"/>
                      </a:schemeClr>
                    </a:solidFill>
                  </a:tcPr>
                </a:tc>
              </a:tr>
            </a:tbl>
          </a:graphicData>
        </a:graphic>
      </p:graphicFrame>
      <p:sp>
        <p:nvSpPr>
          <p:cNvPr id="11" name="TextBox 10"/>
          <p:cNvSpPr txBox="1"/>
          <p:nvPr/>
        </p:nvSpPr>
        <p:spPr>
          <a:xfrm>
            <a:off x="11658600" y="143501"/>
            <a:ext cx="325925" cy="307777"/>
          </a:xfrm>
          <a:prstGeom prst="rect">
            <a:avLst/>
          </a:prstGeom>
          <a:noFill/>
        </p:spPr>
        <p:txBody>
          <a:bodyPr wrap="square" rtlCol="0">
            <a:spAutoFit/>
          </a:bodyPr>
          <a:lstStyle/>
          <a:p>
            <a:r>
              <a:rPr lang="en-US" sz="1400" dirty="0" smtClean="0"/>
              <a:t>3</a:t>
            </a:r>
            <a:endParaRPr lang="en-IN" sz="1400" dirty="0"/>
          </a:p>
        </p:txBody>
      </p:sp>
    </p:spTree>
    <p:extLst>
      <p:ext uri="{BB962C8B-B14F-4D97-AF65-F5344CB8AC3E}">
        <p14:creationId xmlns:p14="http://schemas.microsoft.com/office/powerpoint/2010/main" val="33151322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2094548" cy="369332"/>
          </a:xfrm>
          <a:prstGeom prst="rect">
            <a:avLst/>
          </a:prstGeom>
        </p:spPr>
        <p:txBody>
          <a:bodyPr wrap="none">
            <a:spAutoFit/>
          </a:bodyPr>
          <a:lstStyle/>
          <a:p>
            <a:r>
              <a:rPr lang="en-US" b="1" dirty="0" smtClean="0"/>
              <a:t>Problem</a:t>
            </a:r>
            <a:r>
              <a:rPr lang="en-US" b="1" dirty="0"/>
              <a:t> Statement</a:t>
            </a:r>
            <a:r>
              <a:rPr lang="en-US" b="1" dirty="0" smtClean="0"/>
              <a:t> </a:t>
            </a:r>
            <a:endParaRPr lang="en-IN" b="1" dirty="0"/>
          </a:p>
        </p:txBody>
      </p:sp>
      <p:sp>
        <p:nvSpPr>
          <p:cNvPr id="6" name="Rounded Rectangle 5"/>
          <p:cNvSpPr/>
          <p:nvPr/>
        </p:nvSpPr>
        <p:spPr>
          <a:xfrm>
            <a:off x="418176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2/4</a:t>
            </a:r>
            <a:endParaRPr lang="en-IN" b="1" dirty="0">
              <a:solidFill>
                <a:schemeClr val="tx1"/>
              </a:solidFill>
            </a:endParaRPr>
          </a:p>
        </p:txBody>
      </p:sp>
      <p:sp>
        <p:nvSpPr>
          <p:cNvPr id="5" name="TextBox 4"/>
          <p:cNvSpPr txBox="1"/>
          <p:nvPr/>
        </p:nvSpPr>
        <p:spPr>
          <a:xfrm>
            <a:off x="2481943" y="881743"/>
            <a:ext cx="8512628" cy="954107"/>
          </a:xfrm>
          <a:prstGeom prst="rect">
            <a:avLst/>
          </a:prstGeom>
          <a:noFill/>
        </p:spPr>
        <p:txBody>
          <a:bodyPr wrap="square" rtlCol="0">
            <a:spAutoFit/>
          </a:bodyPr>
          <a:lstStyle/>
          <a:p>
            <a:pPr algn="ctr"/>
            <a:r>
              <a:rPr lang="en-US" sz="2800" dirty="0"/>
              <a:t>John has a fantastic, groundbreaking mobile app idea that he believes could change the world</a:t>
            </a:r>
            <a:endParaRPr lang="en-IN" sz="2800" dirty="0"/>
          </a:p>
        </p:txBody>
      </p:sp>
      <p:sp>
        <p:nvSpPr>
          <p:cNvPr id="7" name="Rectangular Callout 6"/>
          <p:cNvSpPr/>
          <p:nvPr/>
        </p:nvSpPr>
        <p:spPr>
          <a:xfrm>
            <a:off x="7244443" y="2249899"/>
            <a:ext cx="1344386" cy="664028"/>
          </a:xfrm>
          <a:prstGeom prst="wedgeRectCallout">
            <a:avLst>
              <a:gd name="adj1" fmla="val -61914"/>
              <a:gd name="adj2" fmla="val 75441"/>
            </a:avLst>
          </a:prstGeom>
          <a:solidFill>
            <a:schemeClr val="accent4">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Wonderful</a:t>
            </a:r>
            <a:endParaRPr lang="en-IN" dirty="0">
              <a:solidFill>
                <a:schemeClr val="tx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1" y="2304326"/>
            <a:ext cx="1209402" cy="3878758"/>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96728335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0" name="TextBox 9"/>
          <p:cNvSpPr txBox="1"/>
          <p:nvPr/>
        </p:nvSpPr>
        <p:spPr>
          <a:xfrm>
            <a:off x="11658600" y="143501"/>
            <a:ext cx="325925" cy="307777"/>
          </a:xfrm>
          <a:prstGeom prst="rect">
            <a:avLst/>
          </a:prstGeom>
          <a:noFill/>
        </p:spPr>
        <p:txBody>
          <a:bodyPr wrap="square" rtlCol="0">
            <a:spAutoFit/>
          </a:bodyPr>
          <a:lstStyle/>
          <a:p>
            <a:r>
              <a:rPr lang="en-US" sz="1400" dirty="0" smtClean="0"/>
              <a:t>4</a:t>
            </a:r>
            <a:endParaRPr lang="en-IN" sz="1400" dirty="0"/>
          </a:p>
        </p:txBody>
      </p:sp>
    </p:spTree>
    <p:extLst>
      <p:ext uri="{BB962C8B-B14F-4D97-AF65-F5344CB8AC3E}">
        <p14:creationId xmlns:p14="http://schemas.microsoft.com/office/powerpoint/2010/main" val="42605594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2094548" cy="369332"/>
          </a:xfrm>
          <a:prstGeom prst="rect">
            <a:avLst/>
          </a:prstGeom>
        </p:spPr>
        <p:txBody>
          <a:bodyPr wrap="none">
            <a:spAutoFit/>
          </a:bodyPr>
          <a:lstStyle/>
          <a:p>
            <a:r>
              <a:rPr lang="en-US" b="1" dirty="0" smtClean="0"/>
              <a:t>Problem</a:t>
            </a:r>
            <a:r>
              <a:rPr lang="en-US" b="1" dirty="0"/>
              <a:t> Statement</a:t>
            </a:r>
            <a:r>
              <a:rPr lang="en-US" b="1" dirty="0" smtClean="0"/>
              <a:t> </a:t>
            </a:r>
            <a:endParaRPr lang="en-IN" b="1" dirty="0"/>
          </a:p>
        </p:txBody>
      </p:sp>
      <p:sp>
        <p:nvSpPr>
          <p:cNvPr id="6" name="Rounded Rectangle 5"/>
          <p:cNvSpPr/>
          <p:nvPr/>
        </p:nvSpPr>
        <p:spPr>
          <a:xfrm>
            <a:off x="418176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3/4</a:t>
            </a:r>
            <a:endParaRPr lang="en-IN" b="1" dirty="0">
              <a:solidFill>
                <a:schemeClr val="tx1"/>
              </a:solidFill>
            </a:endParaRPr>
          </a:p>
        </p:txBody>
      </p:sp>
      <p:sp>
        <p:nvSpPr>
          <p:cNvPr id="5" name="TextBox 4"/>
          <p:cNvSpPr txBox="1"/>
          <p:nvPr/>
        </p:nvSpPr>
        <p:spPr>
          <a:xfrm>
            <a:off x="2481943" y="881743"/>
            <a:ext cx="8512628" cy="954107"/>
          </a:xfrm>
          <a:prstGeom prst="rect">
            <a:avLst/>
          </a:prstGeom>
          <a:noFill/>
        </p:spPr>
        <p:txBody>
          <a:bodyPr wrap="square" rtlCol="0">
            <a:spAutoFit/>
          </a:bodyPr>
          <a:lstStyle/>
          <a:p>
            <a:pPr algn="ctr"/>
            <a:r>
              <a:rPr lang="en-US" sz="2800" dirty="0"/>
              <a:t>But there's one small problem. John is not a tech-savvy </a:t>
            </a:r>
            <a:r>
              <a:rPr lang="en-US" sz="2800" dirty="0" smtClean="0"/>
              <a:t>person. </a:t>
            </a:r>
            <a:r>
              <a:rPr lang="en-US" sz="2800" dirty="0"/>
              <a:t>In fact, he's far from </a:t>
            </a:r>
            <a:r>
              <a:rPr lang="en-US" sz="2800" dirty="0" smtClean="0"/>
              <a:t>it.</a:t>
            </a:r>
            <a:endParaRPr lang="en-IN" sz="2800" dirty="0"/>
          </a:p>
        </p:txBody>
      </p:sp>
      <p:sp>
        <p:nvSpPr>
          <p:cNvPr id="7" name="Rectangular Callout 6"/>
          <p:cNvSpPr/>
          <p:nvPr/>
        </p:nvSpPr>
        <p:spPr>
          <a:xfrm>
            <a:off x="7244443" y="2249899"/>
            <a:ext cx="1344386" cy="664028"/>
          </a:xfrm>
          <a:prstGeom prst="wedgeRectCallout">
            <a:avLst>
              <a:gd name="adj1" fmla="val -55436"/>
              <a:gd name="adj2" fmla="val 100031"/>
            </a:avLst>
          </a:prstGeom>
          <a:solidFill>
            <a:schemeClr val="accent4">
              <a:lumMod val="20000"/>
              <a:lumOff val="80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Sad</a:t>
            </a:r>
            <a:endParaRPr lang="en-IN" dirty="0">
              <a:solidFill>
                <a:schemeClr val="tx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7771" y="3212045"/>
            <a:ext cx="1164528" cy="2971040"/>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180480838"/>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0" name="TextBox 9"/>
          <p:cNvSpPr txBox="1"/>
          <p:nvPr/>
        </p:nvSpPr>
        <p:spPr>
          <a:xfrm>
            <a:off x="11658600" y="143501"/>
            <a:ext cx="325925" cy="307777"/>
          </a:xfrm>
          <a:prstGeom prst="rect">
            <a:avLst/>
          </a:prstGeom>
          <a:noFill/>
        </p:spPr>
        <p:txBody>
          <a:bodyPr wrap="square" rtlCol="0">
            <a:spAutoFit/>
          </a:bodyPr>
          <a:lstStyle/>
          <a:p>
            <a:r>
              <a:rPr lang="en-US" sz="1400" dirty="0" smtClean="0"/>
              <a:t>5</a:t>
            </a:r>
            <a:endParaRPr lang="en-IN" sz="1400" dirty="0"/>
          </a:p>
        </p:txBody>
      </p:sp>
    </p:spTree>
    <p:extLst>
      <p:ext uri="{BB962C8B-B14F-4D97-AF65-F5344CB8AC3E}">
        <p14:creationId xmlns:p14="http://schemas.microsoft.com/office/powerpoint/2010/main" val="19729260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16" name="Rounded Rectangular Callout 15"/>
          <p:cNvSpPr/>
          <p:nvPr/>
        </p:nvSpPr>
        <p:spPr>
          <a:xfrm>
            <a:off x="2424978" y="609403"/>
            <a:ext cx="9135651" cy="2037159"/>
          </a:xfrm>
          <a:prstGeom prst="wedgeRoundRectCallout">
            <a:avLst>
              <a:gd name="adj1" fmla="val -35251"/>
              <a:gd name="adj2" fmla="val 80773"/>
              <a:gd name="adj3" fmla="val 16667"/>
            </a:avLst>
          </a:prstGeom>
          <a:solidFill>
            <a:schemeClr val="accent4">
              <a:lumMod val="20000"/>
              <a:lumOff val="8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2108989" y="98362"/>
            <a:ext cx="2094548" cy="369332"/>
          </a:xfrm>
          <a:prstGeom prst="rect">
            <a:avLst/>
          </a:prstGeom>
        </p:spPr>
        <p:txBody>
          <a:bodyPr wrap="none">
            <a:spAutoFit/>
          </a:bodyPr>
          <a:lstStyle/>
          <a:p>
            <a:r>
              <a:rPr lang="en-US" b="1" dirty="0" smtClean="0"/>
              <a:t>Problem</a:t>
            </a:r>
            <a:r>
              <a:rPr lang="en-US" b="1" dirty="0"/>
              <a:t> Statement</a:t>
            </a:r>
            <a:r>
              <a:rPr lang="en-US" b="1" dirty="0" smtClean="0"/>
              <a:t> </a:t>
            </a:r>
            <a:endParaRPr lang="en-IN" b="1" dirty="0"/>
          </a:p>
        </p:txBody>
      </p:sp>
      <p:sp>
        <p:nvSpPr>
          <p:cNvPr id="6" name="Rounded Rectangle 5"/>
          <p:cNvSpPr/>
          <p:nvPr/>
        </p:nvSpPr>
        <p:spPr>
          <a:xfrm>
            <a:off x="418176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4/4</a:t>
            </a:r>
            <a:endParaRPr lang="en-IN" b="1" dirty="0">
              <a:solidFill>
                <a:schemeClr val="tx1"/>
              </a:solidFill>
            </a:endParaRPr>
          </a:p>
        </p:txBody>
      </p:sp>
      <p:sp>
        <p:nvSpPr>
          <p:cNvPr id="5" name="TextBox 4"/>
          <p:cNvSpPr txBox="1"/>
          <p:nvPr/>
        </p:nvSpPr>
        <p:spPr>
          <a:xfrm>
            <a:off x="4039948" y="2906343"/>
            <a:ext cx="7673080" cy="3785652"/>
          </a:xfrm>
          <a:prstGeom prst="rect">
            <a:avLst/>
          </a:prstGeom>
          <a:noFill/>
        </p:spPr>
        <p:txBody>
          <a:bodyPr wrap="square" rtlCol="0">
            <a:spAutoFit/>
          </a:bodyPr>
          <a:lstStyle/>
          <a:p>
            <a:pPr algn="just"/>
            <a:r>
              <a:rPr lang="en-US" sz="2400" dirty="0"/>
              <a:t>John is not alone in this struggle. Many individuals and businesses have incredible ideas </a:t>
            </a:r>
            <a:r>
              <a:rPr lang="en-US" sz="2400" dirty="0" smtClean="0"/>
              <a:t>or wanted to build their own digital product but </a:t>
            </a:r>
            <a:r>
              <a:rPr lang="en-US" sz="2400" dirty="0"/>
              <a:t>lack the technical expertise to bring them to life. They often find themselves in a maze of confusion, depending on IT professionals to turn their dreams into reality. They encounter challenges like finding the right software, the perfect hosting solution, or AI tools that match their unique needs. They're overwhelmed by the vast digital tutorial options, wondering which one will truly help them succeed.</a:t>
            </a:r>
            <a:endParaRPr lang="en-IN" sz="24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4978" y="2646562"/>
            <a:ext cx="1462570" cy="3837386"/>
          </a:xfrm>
          <a:prstGeom prst="rect">
            <a:avLst/>
          </a:prstGeom>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91000" y="1160492"/>
            <a:ext cx="1141614" cy="1141614"/>
          </a:xfrm>
          <a:prstGeom prst="rect">
            <a:avLst/>
          </a:prstGeom>
        </p:spPr>
      </p:pic>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07794" y="1171378"/>
            <a:ext cx="1065150" cy="1065150"/>
          </a:xfrm>
          <a:prstGeom prst="rect">
            <a:avLst/>
          </a:prstGeom>
        </p:spPr>
      </p:pic>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48124" y="1182264"/>
            <a:ext cx="999529" cy="999529"/>
          </a:xfrm>
          <a:prstGeom prst="rect">
            <a:avLst/>
          </a:prstGeom>
        </p:spPr>
      </p:pic>
      <p:sp>
        <p:nvSpPr>
          <p:cNvPr id="17" name="Rectangle 16"/>
          <p:cNvSpPr/>
          <p:nvPr/>
        </p:nvSpPr>
        <p:spPr>
          <a:xfrm>
            <a:off x="2893075" y="660337"/>
            <a:ext cx="4260846" cy="369332"/>
          </a:xfrm>
          <a:prstGeom prst="rect">
            <a:avLst/>
          </a:prstGeom>
        </p:spPr>
        <p:txBody>
          <a:bodyPr wrap="none">
            <a:spAutoFit/>
          </a:bodyPr>
          <a:lstStyle/>
          <a:p>
            <a:r>
              <a:rPr lang="en-US" dirty="0" smtClean="0"/>
              <a:t>How do I choose best one in each of these?</a:t>
            </a:r>
            <a:endParaRPr lang="en-IN" dirty="0"/>
          </a:p>
        </p:txBody>
      </p:sp>
      <p:sp>
        <p:nvSpPr>
          <p:cNvPr id="19" name="Rectangle 18"/>
          <p:cNvSpPr/>
          <p:nvPr/>
        </p:nvSpPr>
        <p:spPr>
          <a:xfrm>
            <a:off x="3230036" y="2264792"/>
            <a:ext cx="1463542" cy="369332"/>
          </a:xfrm>
          <a:prstGeom prst="rect">
            <a:avLst/>
          </a:prstGeom>
        </p:spPr>
        <p:txBody>
          <a:bodyPr wrap="none">
            <a:spAutoFit/>
          </a:bodyPr>
          <a:lstStyle/>
          <a:p>
            <a:r>
              <a:rPr lang="en-US" dirty="0" smtClean="0"/>
              <a:t>Best Hosting?</a:t>
            </a:r>
            <a:endParaRPr lang="en-IN" dirty="0"/>
          </a:p>
        </p:txBody>
      </p:sp>
      <p:sp>
        <p:nvSpPr>
          <p:cNvPr id="20" name="Rectangle 19"/>
          <p:cNvSpPr/>
          <p:nvPr/>
        </p:nvSpPr>
        <p:spPr>
          <a:xfrm>
            <a:off x="5351267" y="2244548"/>
            <a:ext cx="1590372" cy="369332"/>
          </a:xfrm>
          <a:prstGeom prst="rect">
            <a:avLst/>
          </a:prstGeom>
        </p:spPr>
        <p:txBody>
          <a:bodyPr wrap="none">
            <a:spAutoFit/>
          </a:bodyPr>
          <a:lstStyle/>
          <a:p>
            <a:r>
              <a:rPr lang="en-US" dirty="0" smtClean="0"/>
              <a:t>Best Software?</a:t>
            </a:r>
            <a:endParaRPr lang="en-IN" dirty="0"/>
          </a:p>
        </p:txBody>
      </p:sp>
      <p:sp>
        <p:nvSpPr>
          <p:cNvPr id="21" name="Rectangle 20"/>
          <p:cNvSpPr/>
          <p:nvPr/>
        </p:nvSpPr>
        <p:spPr>
          <a:xfrm>
            <a:off x="7452702" y="2233341"/>
            <a:ext cx="1381468" cy="369332"/>
          </a:xfrm>
          <a:prstGeom prst="rect">
            <a:avLst/>
          </a:prstGeom>
        </p:spPr>
        <p:txBody>
          <a:bodyPr wrap="none">
            <a:spAutoFit/>
          </a:bodyPr>
          <a:lstStyle/>
          <a:p>
            <a:r>
              <a:rPr lang="en-US" dirty="0" smtClean="0"/>
              <a:t>Best AI Tool?</a:t>
            </a:r>
            <a:endParaRPr lang="en-IN" dirty="0"/>
          </a:p>
        </p:txBody>
      </p:sp>
      <p:sp>
        <p:nvSpPr>
          <p:cNvPr id="22" name="Rectangle 21"/>
          <p:cNvSpPr/>
          <p:nvPr/>
        </p:nvSpPr>
        <p:spPr>
          <a:xfrm>
            <a:off x="9158203" y="2214799"/>
            <a:ext cx="2110386" cy="369332"/>
          </a:xfrm>
          <a:prstGeom prst="rect">
            <a:avLst/>
          </a:prstGeom>
        </p:spPr>
        <p:txBody>
          <a:bodyPr wrap="none">
            <a:spAutoFit/>
          </a:bodyPr>
          <a:lstStyle/>
          <a:p>
            <a:r>
              <a:rPr lang="en-US" dirty="0" smtClean="0"/>
              <a:t>Best Digital Tutorial?</a:t>
            </a:r>
            <a:endParaRPr lang="en-IN" dirty="0"/>
          </a:p>
        </p:txBody>
      </p:sp>
      <p:pic>
        <p:nvPicPr>
          <p:cNvPr id="18" name="Picture 1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22833" y="1157374"/>
            <a:ext cx="779853" cy="1036563"/>
          </a:xfrm>
          <a:prstGeom prst="rect">
            <a:avLst/>
          </a:prstGeom>
        </p:spPr>
      </p:pic>
      <p:graphicFrame>
        <p:nvGraphicFramePr>
          <p:cNvPr id="23" name="Table 22"/>
          <p:cNvGraphicFramePr>
            <a:graphicFrameLocks noGrp="1"/>
          </p:cNvGraphicFramePr>
          <p:nvPr>
            <p:extLst>
              <p:ext uri="{D42A27DB-BD31-4B8C-83A1-F6EECF244321}">
                <p14:modId xmlns:p14="http://schemas.microsoft.com/office/powerpoint/2010/main" val="1675550011"/>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8"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9" action="ppaction://hlinksldjump"/>
                        </a:rPr>
                        <a:t>Problem Statement</a:t>
                      </a:r>
                      <a:endParaRPr lang="en-IN" sz="1600" dirty="0">
                        <a:solidFill>
                          <a:schemeClr val="tx1"/>
                        </a:solidFill>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0"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4"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7"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8"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9"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0"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21"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2"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24" name="TextBox 23"/>
          <p:cNvSpPr txBox="1"/>
          <p:nvPr/>
        </p:nvSpPr>
        <p:spPr>
          <a:xfrm>
            <a:off x="11658600" y="143501"/>
            <a:ext cx="325925" cy="307777"/>
          </a:xfrm>
          <a:prstGeom prst="rect">
            <a:avLst/>
          </a:prstGeom>
          <a:noFill/>
        </p:spPr>
        <p:txBody>
          <a:bodyPr wrap="square" rtlCol="0">
            <a:spAutoFit/>
          </a:bodyPr>
          <a:lstStyle/>
          <a:p>
            <a:r>
              <a:rPr lang="en-US" sz="1400" dirty="0" smtClean="0"/>
              <a:t>6</a:t>
            </a:r>
            <a:endParaRPr lang="en-IN" sz="1400" dirty="0"/>
          </a:p>
        </p:txBody>
      </p:sp>
    </p:spTree>
    <p:extLst>
      <p:ext uri="{BB962C8B-B14F-4D97-AF65-F5344CB8AC3E}">
        <p14:creationId xmlns:p14="http://schemas.microsoft.com/office/powerpoint/2010/main" val="18403029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3972947" cy="369332"/>
          </a:xfrm>
          <a:prstGeom prst="rect">
            <a:avLst/>
          </a:prstGeom>
        </p:spPr>
        <p:txBody>
          <a:bodyPr wrap="none">
            <a:spAutoFit/>
          </a:bodyPr>
          <a:lstStyle/>
          <a:p>
            <a:r>
              <a:rPr lang="en-IN" b="1" dirty="0">
                <a:solidFill>
                  <a:schemeClr val="dk1"/>
                </a:solidFill>
              </a:rPr>
              <a:t>Solution and Unique Selling Proposition</a:t>
            </a:r>
            <a:endParaRPr lang="en-IN" b="1" dirty="0"/>
          </a:p>
        </p:txBody>
      </p:sp>
      <p:sp>
        <p:nvSpPr>
          <p:cNvPr id="6" name="Rounded Rectangle 5"/>
          <p:cNvSpPr/>
          <p:nvPr/>
        </p:nvSpPr>
        <p:spPr>
          <a:xfrm>
            <a:off x="6064994"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1/3</a:t>
            </a:r>
            <a:endParaRPr lang="en-IN" b="1" dirty="0">
              <a:solidFill>
                <a:schemeClr val="tx1"/>
              </a:solidFill>
            </a:endParaRPr>
          </a:p>
        </p:txBody>
      </p:sp>
      <p:sp>
        <p:nvSpPr>
          <p:cNvPr id="2" name="Rectangle 1"/>
          <p:cNvSpPr/>
          <p:nvPr/>
        </p:nvSpPr>
        <p:spPr>
          <a:xfrm>
            <a:off x="2108989" y="752679"/>
            <a:ext cx="9699172" cy="1569660"/>
          </a:xfrm>
          <a:prstGeom prst="rect">
            <a:avLst/>
          </a:prstGeom>
        </p:spPr>
        <p:txBody>
          <a:bodyPr wrap="square">
            <a:spAutoFit/>
          </a:bodyPr>
          <a:lstStyle/>
          <a:p>
            <a:pPr algn="just"/>
            <a:r>
              <a:rPr lang="en-US" sz="2400" dirty="0"/>
              <a:t>IT-Mart24 is here to solve these challenges. We are your one-stop destination for all things IT. Whether you're John with a groundbreaking app idea or a small business looking to scale up, we've got you covered. Here's what you can expect</a:t>
            </a:r>
            <a:endParaRPr lang="en-IN" sz="2400" dirty="0"/>
          </a:p>
        </p:txBody>
      </p:sp>
      <p:sp>
        <p:nvSpPr>
          <p:cNvPr id="11" name="Rectangle 10"/>
          <p:cNvSpPr/>
          <p:nvPr/>
        </p:nvSpPr>
        <p:spPr>
          <a:xfrm>
            <a:off x="3526971" y="2438630"/>
            <a:ext cx="8281190" cy="3970318"/>
          </a:xfrm>
          <a:prstGeom prst="rect">
            <a:avLst/>
          </a:prstGeom>
        </p:spPr>
        <p:txBody>
          <a:bodyPr wrap="square">
            <a:spAutoFit/>
          </a:bodyPr>
          <a:lstStyle/>
          <a:p>
            <a:pPr algn="just"/>
            <a:r>
              <a:rPr lang="en-IN" b="1" dirty="0"/>
              <a:t>Simplified Selection:</a:t>
            </a:r>
            <a:r>
              <a:rPr lang="en-IN" dirty="0"/>
              <a:t> No more confusion. We simplify the complex process of selecting the right software, </a:t>
            </a:r>
            <a:r>
              <a:rPr lang="en-IN" dirty="0" smtClean="0"/>
              <a:t>server hosting</a:t>
            </a:r>
            <a:r>
              <a:rPr lang="en-IN" dirty="0"/>
              <a:t>, AI tools, or digital tutorials for your specific needs.</a:t>
            </a:r>
          </a:p>
          <a:p>
            <a:pPr algn="just"/>
            <a:endParaRPr lang="en-IN" dirty="0"/>
          </a:p>
          <a:p>
            <a:pPr algn="just"/>
            <a:r>
              <a:rPr lang="en-IN" b="1" dirty="0"/>
              <a:t>A Wealth of Options:</a:t>
            </a:r>
            <a:r>
              <a:rPr lang="en-IN" dirty="0"/>
              <a:t> Explore an extensive directory of software applications, hosting providers, AI tools, and digital tutorials across various categories and industries.</a:t>
            </a:r>
          </a:p>
          <a:p>
            <a:pPr algn="just"/>
            <a:endParaRPr lang="en-IN" dirty="0"/>
          </a:p>
          <a:p>
            <a:pPr algn="just"/>
            <a:r>
              <a:rPr lang="en-IN" b="1" dirty="0"/>
              <a:t>AI-Powered Recommendations:</a:t>
            </a:r>
            <a:r>
              <a:rPr lang="en-IN" dirty="0"/>
              <a:t> Our AI recommendation system is your personal guide, suggesting the best solutions tailored just for you.</a:t>
            </a:r>
          </a:p>
          <a:p>
            <a:pPr algn="just"/>
            <a:endParaRPr lang="en-IN" dirty="0"/>
          </a:p>
          <a:p>
            <a:pPr algn="just"/>
            <a:r>
              <a:rPr lang="en-IN" b="1" dirty="0"/>
              <a:t>User Reviews:</a:t>
            </a:r>
            <a:r>
              <a:rPr lang="en-IN" dirty="0"/>
              <a:t> Gain insights from the experiences of others with detailed user reviews. Make informed decisions based on real-life feedback.</a:t>
            </a:r>
          </a:p>
          <a:p>
            <a:pPr algn="just"/>
            <a:endParaRPr lang="en-IN" dirty="0"/>
          </a:p>
          <a:p>
            <a:pPr algn="just"/>
            <a:r>
              <a:rPr lang="en-IN" b="1" dirty="0"/>
              <a:t>User-Friendly Dashboard:</a:t>
            </a:r>
            <a:r>
              <a:rPr lang="en-IN" dirty="0"/>
              <a:t> Manage your software, hosting, AI tools, and tutorial subscriptions all in one place. Track prices, set alerts for discounts, and stay in control.</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8989" y="2650672"/>
            <a:ext cx="1208512" cy="3178629"/>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3759566838"/>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0" name="TextBox 9"/>
          <p:cNvSpPr txBox="1"/>
          <p:nvPr/>
        </p:nvSpPr>
        <p:spPr>
          <a:xfrm>
            <a:off x="11658600" y="143501"/>
            <a:ext cx="325925" cy="307777"/>
          </a:xfrm>
          <a:prstGeom prst="rect">
            <a:avLst/>
          </a:prstGeom>
          <a:noFill/>
        </p:spPr>
        <p:txBody>
          <a:bodyPr wrap="square" rtlCol="0">
            <a:spAutoFit/>
          </a:bodyPr>
          <a:lstStyle/>
          <a:p>
            <a:r>
              <a:rPr lang="en-US" sz="1400" dirty="0" smtClean="0"/>
              <a:t>7</a:t>
            </a:r>
            <a:endParaRPr lang="en-IN" sz="1400" dirty="0"/>
          </a:p>
        </p:txBody>
      </p:sp>
    </p:spTree>
    <p:extLst>
      <p:ext uri="{BB962C8B-B14F-4D97-AF65-F5344CB8AC3E}">
        <p14:creationId xmlns:p14="http://schemas.microsoft.com/office/powerpoint/2010/main" val="39942074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3972947" cy="369332"/>
          </a:xfrm>
          <a:prstGeom prst="rect">
            <a:avLst/>
          </a:prstGeom>
        </p:spPr>
        <p:txBody>
          <a:bodyPr wrap="none">
            <a:spAutoFit/>
          </a:bodyPr>
          <a:lstStyle/>
          <a:p>
            <a:r>
              <a:rPr lang="en-IN" b="1" dirty="0">
                <a:solidFill>
                  <a:schemeClr val="dk1"/>
                </a:solidFill>
              </a:rPr>
              <a:t>Solution and Unique Selling Proposition</a:t>
            </a:r>
            <a:endParaRPr lang="en-IN" b="1" dirty="0"/>
          </a:p>
        </p:txBody>
      </p:sp>
      <p:sp>
        <p:nvSpPr>
          <p:cNvPr id="6" name="Rounded Rectangle 5"/>
          <p:cNvSpPr/>
          <p:nvPr/>
        </p:nvSpPr>
        <p:spPr>
          <a:xfrm>
            <a:off x="6064994"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2/3</a:t>
            </a:r>
            <a:endParaRPr lang="en-IN" b="1" dirty="0">
              <a:solidFill>
                <a:schemeClr val="tx1"/>
              </a:solidFill>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4193" y="905486"/>
            <a:ext cx="1141614" cy="1141614"/>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64779" y="2471235"/>
            <a:ext cx="1140862" cy="1140862"/>
          </a:xfrm>
          <a:prstGeom prst="rect">
            <a:avLst/>
          </a:prstGeom>
        </p:spPr>
      </p:pic>
      <p:sp>
        <p:nvSpPr>
          <p:cNvPr id="2" name="Rectangle 1"/>
          <p:cNvSpPr/>
          <p:nvPr/>
        </p:nvSpPr>
        <p:spPr>
          <a:xfrm>
            <a:off x="3965418" y="929921"/>
            <a:ext cx="7595105" cy="5509200"/>
          </a:xfrm>
          <a:prstGeom prst="rect">
            <a:avLst/>
          </a:prstGeom>
        </p:spPr>
        <p:txBody>
          <a:bodyPr wrap="square">
            <a:spAutoFit/>
          </a:bodyPr>
          <a:lstStyle/>
          <a:p>
            <a:pPr algn="just"/>
            <a:r>
              <a:rPr lang="en-IN" sz="1600" b="1" dirty="0"/>
              <a:t>Discover </a:t>
            </a:r>
            <a:r>
              <a:rPr lang="en-IN" sz="1600" b="1" dirty="0" smtClean="0"/>
              <a:t>User </a:t>
            </a:r>
            <a:r>
              <a:rPr lang="en-IN" sz="1600" b="1" dirty="0"/>
              <a:t>Needs:</a:t>
            </a:r>
            <a:r>
              <a:rPr lang="en-IN" sz="1600" dirty="0"/>
              <a:t> </a:t>
            </a:r>
            <a:r>
              <a:rPr lang="en-IN" sz="1600" dirty="0" smtClean="0"/>
              <a:t>A </a:t>
            </a:r>
            <a:r>
              <a:rPr lang="en-IN" sz="1600" dirty="0"/>
              <a:t>simple questionnaire to help users define their specific requirements, whether it's for software, hosting, AI tools, or digital tutorials.</a:t>
            </a:r>
          </a:p>
          <a:p>
            <a:pPr algn="just"/>
            <a:endParaRPr lang="en-IN" sz="1600" dirty="0"/>
          </a:p>
          <a:p>
            <a:pPr algn="just"/>
            <a:r>
              <a:rPr lang="en-IN" sz="1600" b="1" dirty="0"/>
              <a:t>Personalized Recommendations:</a:t>
            </a:r>
            <a:r>
              <a:rPr lang="en-IN" sz="1600" dirty="0"/>
              <a:t> </a:t>
            </a:r>
            <a:r>
              <a:rPr lang="en-IN" sz="1600" dirty="0" smtClean="0"/>
              <a:t>An </a:t>
            </a:r>
            <a:r>
              <a:rPr lang="en-IN" sz="1600" dirty="0"/>
              <a:t>AI-powered recommendation system that tailors suggestions based on user input, making it applicable across all categories.</a:t>
            </a:r>
          </a:p>
          <a:p>
            <a:pPr algn="just"/>
            <a:endParaRPr lang="en-IN" sz="1600" dirty="0"/>
          </a:p>
          <a:p>
            <a:pPr algn="just"/>
            <a:r>
              <a:rPr lang="en-IN" sz="1600" b="1" dirty="0"/>
              <a:t>Comprehensive Information:</a:t>
            </a:r>
            <a:r>
              <a:rPr lang="en-IN" sz="1600" dirty="0"/>
              <a:t> </a:t>
            </a:r>
            <a:r>
              <a:rPr lang="en-IN" sz="1600" dirty="0" smtClean="0"/>
              <a:t>Detailed </a:t>
            </a:r>
            <a:r>
              <a:rPr lang="en-IN" sz="1600" dirty="0"/>
              <a:t>information about each product or service, covering features, pricing, and user reviews in a user-friendly format, including clear language and visual aids.</a:t>
            </a:r>
          </a:p>
          <a:p>
            <a:pPr algn="just"/>
            <a:endParaRPr lang="en-IN" sz="1600" dirty="0"/>
          </a:p>
          <a:p>
            <a:pPr algn="just"/>
            <a:r>
              <a:rPr lang="en-IN" sz="1600" b="1" dirty="0"/>
              <a:t>Comparison Tools</a:t>
            </a:r>
            <a:r>
              <a:rPr lang="en-IN" sz="1600" b="1" dirty="0" smtClean="0"/>
              <a:t>:</a:t>
            </a:r>
            <a:r>
              <a:rPr lang="en-IN" sz="1600" dirty="0" smtClean="0"/>
              <a:t> A </a:t>
            </a:r>
            <a:r>
              <a:rPr lang="en-IN" sz="1600" dirty="0"/>
              <a:t>side-by-side comparison feature that allows users to evaluate different options easily, with checkboxes for relevant features and pricing details.</a:t>
            </a:r>
          </a:p>
          <a:p>
            <a:pPr algn="just"/>
            <a:endParaRPr lang="en-IN" sz="1600" dirty="0"/>
          </a:p>
          <a:p>
            <a:pPr algn="just"/>
            <a:r>
              <a:rPr lang="en-IN" sz="1600" b="1" dirty="0"/>
              <a:t>Transparent Ratings and Reviews:</a:t>
            </a:r>
            <a:r>
              <a:rPr lang="en-IN" sz="1600" dirty="0"/>
              <a:t> </a:t>
            </a:r>
            <a:r>
              <a:rPr lang="en-IN" sz="1600" dirty="0" smtClean="0"/>
              <a:t>User </a:t>
            </a:r>
            <a:r>
              <a:rPr lang="en-IN" sz="1600" dirty="0"/>
              <a:t>reviews and ratings prominently, enabling users to make well-informed choices for software, hosting, AI tools, or digital tutorials.</a:t>
            </a:r>
          </a:p>
          <a:p>
            <a:pPr algn="just"/>
            <a:endParaRPr lang="en-IN" sz="1600" dirty="0"/>
          </a:p>
          <a:p>
            <a:pPr algn="just"/>
            <a:r>
              <a:rPr lang="en-IN" sz="1600" b="1" dirty="0"/>
              <a:t>Tailored Hosting Components:</a:t>
            </a:r>
            <a:r>
              <a:rPr lang="en-IN" sz="1600" dirty="0"/>
              <a:t> </a:t>
            </a:r>
            <a:r>
              <a:rPr lang="en-IN" sz="1600" dirty="0" smtClean="0"/>
              <a:t>Discover </a:t>
            </a:r>
            <a:r>
              <a:rPr lang="en-IN" sz="1600" dirty="0"/>
              <a:t>the exact server components and IT services required to meet their unique </a:t>
            </a:r>
            <a:r>
              <a:rPr lang="en-IN" sz="1600" dirty="0" smtClean="0"/>
              <a:t>needs for their digital product.</a:t>
            </a:r>
            <a:endParaRPr lang="en-IN" sz="1600" dirty="0"/>
          </a:p>
          <a:p>
            <a:pPr algn="just"/>
            <a:endParaRPr lang="en-IN" sz="1600" dirty="0"/>
          </a:p>
          <a:p>
            <a:pPr algn="just"/>
            <a:r>
              <a:rPr lang="en-IN" sz="1600" b="1" dirty="0"/>
              <a:t>Extensive Vendor Lists:</a:t>
            </a:r>
            <a:r>
              <a:rPr lang="en-IN" sz="1600" dirty="0"/>
              <a:t> Access a comprehensive list of vendors or providers perfectly aligned with </a:t>
            </a:r>
            <a:r>
              <a:rPr lang="en-IN" sz="1600" dirty="0" smtClean="0"/>
              <a:t>user requirements</a:t>
            </a:r>
            <a:r>
              <a:rPr lang="en-IN" sz="1600" dirty="0"/>
              <a:t>, whether it's for hosting, software, AI Tools, or digital tutorials</a:t>
            </a:r>
            <a:r>
              <a:rPr lang="en-IN" sz="1600" dirty="0" smtClean="0"/>
              <a:t>.</a:t>
            </a:r>
            <a:endParaRPr lang="en-IN" sz="1600" dirty="0"/>
          </a:p>
        </p:txBody>
      </p:sp>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06112" y="4036232"/>
            <a:ext cx="999529" cy="999529"/>
          </a:xfrm>
          <a:prstGeom prst="rect">
            <a:avLst/>
          </a:prstGeom>
        </p:spPr>
      </p:pic>
      <p:pic>
        <p:nvPicPr>
          <p:cNvPr id="13" name="Picture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27053" y="5459896"/>
            <a:ext cx="779853" cy="1036563"/>
          </a:xfrm>
          <a:prstGeom prst="rect">
            <a:avLst/>
          </a:prstGeom>
        </p:spPr>
      </p:pic>
      <p:graphicFrame>
        <p:nvGraphicFramePr>
          <p:cNvPr id="11" name="Table 10"/>
          <p:cNvGraphicFramePr>
            <a:graphicFrameLocks noGrp="1"/>
          </p:cNvGraphicFramePr>
          <p:nvPr>
            <p:extLst>
              <p:ext uri="{D42A27DB-BD31-4B8C-83A1-F6EECF244321}">
                <p14:modId xmlns:p14="http://schemas.microsoft.com/office/powerpoint/2010/main" val="500242557"/>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7"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8"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9" action="ppaction://hlinksldjump"/>
                        </a:rPr>
                        <a:t>Solution and Unique Selling Proposition</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5"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7"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8"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20"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1"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4" name="TextBox 13"/>
          <p:cNvSpPr txBox="1"/>
          <p:nvPr/>
        </p:nvSpPr>
        <p:spPr>
          <a:xfrm>
            <a:off x="11658600" y="143501"/>
            <a:ext cx="325925" cy="307777"/>
          </a:xfrm>
          <a:prstGeom prst="rect">
            <a:avLst/>
          </a:prstGeom>
          <a:noFill/>
        </p:spPr>
        <p:txBody>
          <a:bodyPr wrap="square" rtlCol="0">
            <a:spAutoFit/>
          </a:bodyPr>
          <a:lstStyle/>
          <a:p>
            <a:r>
              <a:rPr lang="en-US" sz="1400" dirty="0" smtClean="0"/>
              <a:t>8</a:t>
            </a:r>
            <a:endParaRPr lang="en-IN" sz="1400" dirty="0"/>
          </a:p>
        </p:txBody>
      </p:sp>
    </p:spTree>
    <p:extLst>
      <p:ext uri="{BB962C8B-B14F-4D97-AF65-F5344CB8AC3E}">
        <p14:creationId xmlns:p14="http://schemas.microsoft.com/office/powerpoint/2010/main" val="12321234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08989" y="98362"/>
            <a:ext cx="2711383" cy="369332"/>
          </a:xfrm>
          <a:prstGeom prst="rect">
            <a:avLst/>
          </a:prstGeom>
        </p:spPr>
        <p:txBody>
          <a:bodyPr wrap="none">
            <a:spAutoFit/>
          </a:bodyPr>
          <a:lstStyle/>
          <a:p>
            <a:r>
              <a:rPr lang="en-IN" b="1" dirty="0" smtClean="0">
                <a:solidFill>
                  <a:schemeClr val="dk1"/>
                </a:solidFill>
              </a:rPr>
              <a:t>Unique </a:t>
            </a:r>
            <a:r>
              <a:rPr lang="en-IN" b="1" dirty="0">
                <a:solidFill>
                  <a:schemeClr val="dk1"/>
                </a:solidFill>
              </a:rPr>
              <a:t>Selling Proposition</a:t>
            </a:r>
            <a:endParaRPr lang="en-IN" b="1" dirty="0"/>
          </a:p>
        </p:txBody>
      </p:sp>
      <p:sp>
        <p:nvSpPr>
          <p:cNvPr id="6" name="Rounded Rectangle 5"/>
          <p:cNvSpPr/>
          <p:nvPr/>
        </p:nvSpPr>
        <p:spPr>
          <a:xfrm>
            <a:off x="4779403"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3/3</a:t>
            </a:r>
            <a:endParaRPr lang="en-IN" b="1" dirty="0">
              <a:solidFill>
                <a:schemeClr val="tx1"/>
              </a:solidFill>
            </a:endParaRPr>
          </a:p>
        </p:txBody>
      </p:sp>
      <p:sp>
        <p:nvSpPr>
          <p:cNvPr id="5" name="Rectangle 4"/>
          <p:cNvSpPr/>
          <p:nvPr/>
        </p:nvSpPr>
        <p:spPr>
          <a:xfrm>
            <a:off x="2108988" y="4623911"/>
            <a:ext cx="7516220" cy="1938992"/>
          </a:xfrm>
          <a:prstGeom prst="rect">
            <a:avLst/>
          </a:prstGeom>
        </p:spPr>
        <p:txBody>
          <a:bodyPr wrap="square">
            <a:spAutoFit/>
          </a:bodyPr>
          <a:lstStyle/>
          <a:p>
            <a:pPr algn="just"/>
            <a:r>
              <a:rPr lang="en-IN" sz="1500" b="1" dirty="0" smtClean="0"/>
              <a:t>Data </a:t>
            </a:r>
            <a:r>
              <a:rPr lang="en-IN" sz="1500" b="1" dirty="0"/>
              <a:t>Security and Risk Mitigation:</a:t>
            </a:r>
            <a:r>
              <a:rPr lang="en-IN" sz="1500" dirty="0"/>
              <a:t> The dashboard also includes features for assessing data security concerns and mitigation strategies. Users can stay ahead of potential risks and address vulnerabilities promptly to protect their digital assets</a:t>
            </a:r>
            <a:r>
              <a:rPr lang="en-IN" sz="1500" dirty="0" smtClean="0"/>
              <a:t>.</a:t>
            </a:r>
          </a:p>
          <a:p>
            <a:pPr algn="just"/>
            <a:endParaRPr lang="en-US" sz="1500" dirty="0"/>
          </a:p>
          <a:p>
            <a:pPr algn="just"/>
            <a:r>
              <a:rPr lang="en-IN" sz="1500" dirty="0"/>
              <a:t>In essence, IT-Mart24's unique dashboard is designed to empower digital product owners and managers with real-time insights, predictive analytics, and solutions to ensure the health and performance of their assets. It's a service that aims to give users peace of mind, allowing them to manage and grow their digital products with confidence</a:t>
            </a:r>
            <a:r>
              <a:rPr lang="en-IN" sz="1500" dirty="0" smtClean="0"/>
              <a:t>.</a:t>
            </a:r>
            <a:endParaRPr lang="en-IN" sz="1500" dirty="0"/>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25208" y="4434125"/>
            <a:ext cx="1999442" cy="1924422"/>
          </a:xfrm>
          <a:prstGeom prst="rect">
            <a:avLst/>
          </a:prstGeom>
        </p:spPr>
      </p:pic>
      <p:sp>
        <p:nvSpPr>
          <p:cNvPr id="7" name="Rectangle 6"/>
          <p:cNvSpPr/>
          <p:nvPr/>
        </p:nvSpPr>
        <p:spPr>
          <a:xfrm>
            <a:off x="2108989" y="689926"/>
            <a:ext cx="9515661" cy="4016484"/>
          </a:xfrm>
          <a:prstGeom prst="rect">
            <a:avLst/>
          </a:prstGeom>
        </p:spPr>
        <p:txBody>
          <a:bodyPr wrap="square">
            <a:spAutoFit/>
          </a:bodyPr>
          <a:lstStyle/>
          <a:p>
            <a:pPr algn="just"/>
            <a:r>
              <a:rPr lang="en-US" sz="1500" dirty="0"/>
              <a:t>At IT-Mart24, we go beyond providing hosting, software, AI tools, and digital </a:t>
            </a:r>
            <a:r>
              <a:rPr lang="en-US" sz="1500" dirty="0" smtClean="0"/>
              <a:t>product. </a:t>
            </a:r>
            <a:r>
              <a:rPr lang="en-US" sz="1500" dirty="0"/>
              <a:t>We offer a cutting-edge dashboard that's a game-changer for individuals and businesses with live digital products. This dashboard empowers users with a range of powerful features designed to ensure the health and success of their digital assets</a:t>
            </a:r>
            <a:endParaRPr lang="en-IN" sz="1500" dirty="0"/>
          </a:p>
          <a:p>
            <a:pPr algn="just"/>
            <a:endParaRPr lang="en-IN" sz="1500" dirty="0"/>
          </a:p>
          <a:p>
            <a:pPr algn="just"/>
            <a:r>
              <a:rPr lang="en-IN" sz="1500" b="1" dirty="0"/>
              <a:t>All-in-One Overview:</a:t>
            </a:r>
            <a:r>
              <a:rPr lang="en-IN" sz="1500" dirty="0"/>
              <a:t> With IT-Mart24's dashboard, users can gain a comprehensive view of their digital product landscape. Whether it's a mobile app, an e-commerce site, a website, or any other digital offering, users can effortlessly monitor their entire portfolio in one centralized location.</a:t>
            </a:r>
          </a:p>
          <a:p>
            <a:pPr algn="just"/>
            <a:r>
              <a:rPr lang="en-IN" sz="1500" b="1" dirty="0"/>
              <a:t>Subscription Status:</a:t>
            </a:r>
            <a:r>
              <a:rPr lang="en-IN" sz="1500" dirty="0"/>
              <a:t> Users can easily track the status of all their IT product and IT service subscriptions. This includes services purchased through IT-Mart24 as well as those acquired externally. It's a one-stop platform for keeping tabs on what's active, expiring, or needs renewal.</a:t>
            </a:r>
          </a:p>
          <a:p>
            <a:pPr algn="just"/>
            <a:r>
              <a:rPr lang="en-IN" sz="1500" b="1" dirty="0"/>
              <a:t>Predictive Insights:</a:t>
            </a:r>
            <a:r>
              <a:rPr lang="en-IN" sz="1500" dirty="0"/>
              <a:t> IT-Mart24 offers a powerful predictive tool that examines the health of digital products. Users receive valuable insights that allow them to stay ahead of potential issues. This predictive analysis covers factors like increased traffic, resource requirements, data security vulnerabilities, </a:t>
            </a:r>
            <a:r>
              <a:rPr lang="en-IN" sz="1500" dirty="0" smtClean="0"/>
              <a:t>scaling opportunities, performance enhancements </a:t>
            </a:r>
            <a:r>
              <a:rPr lang="en-IN" sz="1500" dirty="0"/>
              <a:t>and more.</a:t>
            </a:r>
          </a:p>
          <a:p>
            <a:pPr algn="just"/>
            <a:r>
              <a:rPr lang="en-IN" sz="1500" b="1" dirty="0"/>
              <a:t>Proactive Solutions:</a:t>
            </a:r>
            <a:r>
              <a:rPr lang="en-IN" sz="1500" dirty="0"/>
              <a:t> Users can take proactive measures to safeguard their digital products from sudden crashes or unforeseen events. Our dashboard provides clear recommendations on which IT services to implement to ensure smooth operations and performance optimization.</a:t>
            </a:r>
          </a:p>
        </p:txBody>
      </p:sp>
      <p:graphicFrame>
        <p:nvGraphicFramePr>
          <p:cNvPr id="9" name="Table 8"/>
          <p:cNvGraphicFramePr>
            <a:graphicFrameLocks noGrp="1"/>
          </p:cNvGraphicFramePr>
          <p:nvPr>
            <p:extLst>
              <p:ext uri="{D42A27DB-BD31-4B8C-83A1-F6EECF244321}">
                <p14:modId xmlns:p14="http://schemas.microsoft.com/office/powerpoint/2010/main" val="182038387"/>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5"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6"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7" action="ppaction://hlinksldjump"/>
                        </a:rPr>
                        <a:t>Solution and Unique Selling Proposition</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2"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8"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0" name="TextBox 9"/>
          <p:cNvSpPr txBox="1"/>
          <p:nvPr/>
        </p:nvSpPr>
        <p:spPr>
          <a:xfrm>
            <a:off x="11658600" y="143501"/>
            <a:ext cx="325925" cy="307777"/>
          </a:xfrm>
          <a:prstGeom prst="rect">
            <a:avLst/>
          </a:prstGeom>
          <a:noFill/>
        </p:spPr>
        <p:txBody>
          <a:bodyPr wrap="square" rtlCol="0">
            <a:spAutoFit/>
          </a:bodyPr>
          <a:lstStyle/>
          <a:p>
            <a:r>
              <a:rPr lang="en-US" sz="1400" dirty="0" smtClean="0"/>
              <a:t>9</a:t>
            </a:r>
            <a:endParaRPr lang="en-IN" sz="1400" dirty="0"/>
          </a:p>
        </p:txBody>
      </p:sp>
    </p:spTree>
    <p:extLst>
      <p:ext uri="{BB962C8B-B14F-4D97-AF65-F5344CB8AC3E}">
        <p14:creationId xmlns:p14="http://schemas.microsoft.com/office/powerpoint/2010/main" val="17573690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08989" y="98362"/>
            <a:ext cx="1712585" cy="369332"/>
          </a:xfrm>
          <a:prstGeom prst="rect">
            <a:avLst/>
          </a:prstGeom>
        </p:spPr>
        <p:txBody>
          <a:bodyPr wrap="none">
            <a:spAutoFit/>
          </a:bodyPr>
          <a:lstStyle/>
          <a:p>
            <a:r>
              <a:rPr lang="en-IN" b="1" dirty="0" smtClean="0">
                <a:solidFill>
                  <a:schemeClr val="dk1"/>
                </a:solidFill>
              </a:rPr>
              <a:t>Market Analysis</a:t>
            </a:r>
            <a:endParaRPr lang="en-IN" b="1" dirty="0"/>
          </a:p>
        </p:txBody>
      </p:sp>
      <p:sp>
        <p:nvSpPr>
          <p:cNvPr id="6" name="Rounded Rectangle 5"/>
          <p:cNvSpPr/>
          <p:nvPr/>
        </p:nvSpPr>
        <p:spPr>
          <a:xfrm>
            <a:off x="3826903"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1/1</a:t>
            </a:r>
            <a:endParaRPr lang="en-IN" b="1" dirty="0">
              <a:solidFill>
                <a:schemeClr val="tx1"/>
              </a:solidFill>
            </a:endParaRPr>
          </a:p>
        </p:txBody>
      </p:sp>
      <p:graphicFrame>
        <p:nvGraphicFramePr>
          <p:cNvPr id="11" name="Chart 10"/>
          <p:cNvGraphicFramePr/>
          <p:nvPr>
            <p:extLst>
              <p:ext uri="{D42A27DB-BD31-4B8C-83A1-F6EECF244321}">
                <p14:modId xmlns:p14="http://schemas.microsoft.com/office/powerpoint/2010/main" val="3851714521"/>
              </p:ext>
            </p:extLst>
          </p:nvPr>
        </p:nvGraphicFramePr>
        <p:xfrm>
          <a:off x="3390901" y="3958167"/>
          <a:ext cx="4104475" cy="278553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946406202"/>
              </p:ext>
            </p:extLst>
          </p:nvPr>
        </p:nvGraphicFramePr>
        <p:xfrm>
          <a:off x="2251864" y="5047357"/>
          <a:ext cx="2171700" cy="883920"/>
        </p:xfrm>
        <a:graphic>
          <a:graphicData uri="http://schemas.openxmlformats.org/drawingml/2006/table">
            <a:tbl>
              <a:tblPr>
                <a:tableStyleId>{5C22544A-7EE6-4342-B048-85BDC9FD1C3A}</a:tableStyleId>
              </a:tblPr>
              <a:tblGrid>
                <a:gridCol w="1162050"/>
                <a:gridCol w="1009650"/>
              </a:tblGrid>
              <a:tr h="182880">
                <a:tc>
                  <a:txBody>
                    <a:bodyPr/>
                    <a:lstStyle/>
                    <a:p>
                      <a:pPr algn="l" fontAlgn="b"/>
                      <a:r>
                        <a:rPr lang="en-IN" sz="1400" u="none" strike="noStrike" dirty="0" smtClean="0">
                          <a:effectLst/>
                        </a:rPr>
                        <a:t>Hosting</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5B9BD5"/>
                    </a:solidFill>
                  </a:tcPr>
                </a:tc>
                <a:tc>
                  <a:txBody>
                    <a:bodyPr/>
                    <a:lstStyle/>
                    <a:p>
                      <a:pPr algn="r" fontAlgn="b"/>
                      <a:r>
                        <a:rPr lang="en-IN" sz="1400" u="none" strike="noStrike" dirty="0">
                          <a:effectLst/>
                        </a:rPr>
                        <a:t>94.64</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5B9BD5"/>
                    </a:solidFill>
                  </a:tcPr>
                </a:tc>
              </a:tr>
              <a:tr h="182880">
                <a:tc>
                  <a:txBody>
                    <a:bodyPr/>
                    <a:lstStyle/>
                    <a:p>
                      <a:pPr algn="l" fontAlgn="b"/>
                      <a:r>
                        <a:rPr lang="en-IN" sz="1400" u="none" strike="noStrike" dirty="0">
                          <a:effectLst/>
                        </a:rPr>
                        <a:t>Software</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ED7D31"/>
                    </a:solidFill>
                  </a:tcPr>
                </a:tc>
                <a:tc>
                  <a:txBody>
                    <a:bodyPr/>
                    <a:lstStyle/>
                    <a:p>
                      <a:pPr algn="r" fontAlgn="b"/>
                      <a:r>
                        <a:rPr lang="en-IN" sz="1400" u="none" strike="noStrike" dirty="0">
                          <a:effectLst/>
                        </a:rPr>
                        <a:t>589.6</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ED7D31"/>
                    </a:solidFill>
                  </a:tcPr>
                </a:tc>
              </a:tr>
              <a:tr h="182880">
                <a:tc>
                  <a:txBody>
                    <a:bodyPr/>
                    <a:lstStyle/>
                    <a:p>
                      <a:pPr algn="l" fontAlgn="b"/>
                      <a:r>
                        <a:rPr lang="en-IN" sz="1400" u="none" strike="noStrike" dirty="0">
                          <a:effectLst/>
                        </a:rPr>
                        <a:t>A.I. </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A5A5A5"/>
                    </a:solidFill>
                  </a:tcPr>
                </a:tc>
                <a:tc>
                  <a:txBody>
                    <a:bodyPr/>
                    <a:lstStyle/>
                    <a:p>
                      <a:pPr algn="r" fontAlgn="b"/>
                      <a:r>
                        <a:rPr lang="en-IN" sz="1400" u="none" strike="noStrike" dirty="0">
                          <a:effectLst/>
                        </a:rPr>
                        <a:t>454.12</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A5A5A5"/>
                    </a:solidFill>
                  </a:tcPr>
                </a:tc>
              </a:tr>
              <a:tr h="182880">
                <a:tc>
                  <a:txBody>
                    <a:bodyPr/>
                    <a:lstStyle/>
                    <a:p>
                      <a:pPr algn="l" fontAlgn="b"/>
                      <a:r>
                        <a:rPr lang="en-IN" sz="1400" u="none" strike="noStrike" dirty="0">
                          <a:effectLst/>
                        </a:rPr>
                        <a:t>Digital Tutorial</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FFC000"/>
                    </a:solidFill>
                  </a:tcPr>
                </a:tc>
                <a:tc>
                  <a:txBody>
                    <a:bodyPr/>
                    <a:lstStyle/>
                    <a:p>
                      <a:pPr algn="r" fontAlgn="b"/>
                      <a:r>
                        <a:rPr lang="en-IN" sz="1400" u="none" strike="noStrike" dirty="0">
                          <a:effectLst/>
                        </a:rPr>
                        <a:t>232.47</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FFC000"/>
                    </a:solidFill>
                  </a:tcPr>
                </a:tc>
              </a:tr>
            </a:tbl>
          </a:graphicData>
        </a:graphic>
      </p:graphicFrame>
      <p:sp>
        <p:nvSpPr>
          <p:cNvPr id="13" name="Rectangle 12"/>
          <p:cNvSpPr/>
          <p:nvPr/>
        </p:nvSpPr>
        <p:spPr>
          <a:xfrm>
            <a:off x="4601290" y="1444297"/>
            <a:ext cx="1053494" cy="276999"/>
          </a:xfrm>
          <a:prstGeom prst="rect">
            <a:avLst/>
          </a:prstGeom>
        </p:spPr>
        <p:txBody>
          <a:bodyPr wrap="none">
            <a:spAutoFit/>
          </a:bodyPr>
          <a:lstStyle/>
          <a:p>
            <a:pPr algn="r" fontAlgn="b"/>
            <a:r>
              <a:rPr lang="en-US" sz="1200" dirty="0"/>
              <a:t>in billion USD </a:t>
            </a:r>
            <a:endParaRPr lang="en-IN" sz="1200" dirty="0">
              <a:solidFill>
                <a:srgbClr val="000000"/>
              </a:solidFill>
              <a:latin typeface="Calibri" panose="020F0502020204030204" pitchFamily="34" charset="0"/>
            </a:endParaRPr>
          </a:p>
        </p:txBody>
      </p:sp>
      <p:graphicFrame>
        <p:nvGraphicFramePr>
          <p:cNvPr id="17" name="Chart 16"/>
          <p:cNvGraphicFramePr/>
          <p:nvPr>
            <p:extLst>
              <p:ext uri="{D42A27DB-BD31-4B8C-83A1-F6EECF244321}">
                <p14:modId xmlns:p14="http://schemas.microsoft.com/office/powerpoint/2010/main" val="1365623865"/>
              </p:ext>
            </p:extLst>
          </p:nvPr>
        </p:nvGraphicFramePr>
        <p:xfrm>
          <a:off x="5135444" y="141709"/>
          <a:ext cx="5430037" cy="3938203"/>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594805624"/>
              </p:ext>
            </p:extLst>
          </p:nvPr>
        </p:nvGraphicFramePr>
        <p:xfrm>
          <a:off x="3036297" y="1730350"/>
          <a:ext cx="2625894" cy="1005840"/>
        </p:xfrm>
        <a:graphic>
          <a:graphicData uri="http://schemas.openxmlformats.org/drawingml/2006/table">
            <a:tbl>
              <a:tblPr>
                <a:tableStyleId>{5C22544A-7EE6-4342-B048-85BDC9FD1C3A}</a:tableStyleId>
              </a:tblPr>
              <a:tblGrid>
                <a:gridCol w="1405084"/>
                <a:gridCol w="1220810"/>
              </a:tblGrid>
              <a:tr h="182880">
                <a:tc>
                  <a:txBody>
                    <a:bodyPr/>
                    <a:lstStyle/>
                    <a:p>
                      <a:pPr algn="l" fontAlgn="b"/>
                      <a:r>
                        <a:rPr lang="en-IN" sz="1600" u="none" strike="noStrike" dirty="0" smtClean="0">
                          <a:effectLst/>
                        </a:rPr>
                        <a:t>Hosting</a:t>
                      </a:r>
                      <a:endParaRPr lang="en-IN" sz="1600" b="0" i="0" u="none" strike="noStrike" dirty="0">
                        <a:solidFill>
                          <a:srgbClr val="000000"/>
                        </a:solidFill>
                        <a:effectLst/>
                        <a:latin typeface="Calibri" panose="020F0502020204030204" pitchFamily="34" charset="0"/>
                      </a:endParaRPr>
                    </a:p>
                  </a:txBody>
                  <a:tcPr marL="7620" marR="7620" marT="7620" marB="0" anchor="b">
                    <a:solidFill>
                      <a:srgbClr val="5B9BD5"/>
                    </a:solidFill>
                  </a:tcPr>
                </a:tc>
                <a:tc>
                  <a:txBody>
                    <a:bodyPr/>
                    <a:lstStyle/>
                    <a:p>
                      <a:pPr algn="r" fontAlgn="b"/>
                      <a:r>
                        <a:rPr lang="en-IN" sz="1600" b="0" i="0" u="none" strike="noStrike" dirty="0">
                          <a:solidFill>
                            <a:srgbClr val="000000"/>
                          </a:solidFill>
                          <a:effectLst/>
                          <a:latin typeface="Calibri" panose="020F0502020204030204" pitchFamily="34" charset="0"/>
                        </a:rPr>
                        <a:t>108.54</a:t>
                      </a:r>
                    </a:p>
                  </a:txBody>
                  <a:tcPr marL="7620" marR="7620" marT="7620" marB="0" anchor="b">
                    <a:solidFill>
                      <a:srgbClr val="5B9BD5"/>
                    </a:solidFill>
                  </a:tcPr>
                </a:tc>
              </a:tr>
              <a:tr h="182880">
                <a:tc>
                  <a:txBody>
                    <a:bodyPr/>
                    <a:lstStyle/>
                    <a:p>
                      <a:pPr algn="l" fontAlgn="b"/>
                      <a:r>
                        <a:rPr lang="en-IN" sz="1600" u="none" strike="noStrike" dirty="0">
                          <a:effectLst/>
                        </a:rPr>
                        <a:t>Software</a:t>
                      </a:r>
                      <a:endParaRPr lang="en-IN" sz="1600" b="0" i="0" u="none" strike="noStrike" dirty="0">
                        <a:solidFill>
                          <a:srgbClr val="000000"/>
                        </a:solidFill>
                        <a:effectLst/>
                        <a:latin typeface="Calibri" panose="020F0502020204030204" pitchFamily="34" charset="0"/>
                      </a:endParaRPr>
                    </a:p>
                  </a:txBody>
                  <a:tcPr marL="7620" marR="7620" marT="7620" marB="0" anchor="b">
                    <a:solidFill>
                      <a:srgbClr val="ED7D31"/>
                    </a:solidFill>
                  </a:tcPr>
                </a:tc>
                <a:tc>
                  <a:txBody>
                    <a:bodyPr/>
                    <a:lstStyle/>
                    <a:p>
                      <a:pPr algn="r" fontAlgn="b"/>
                      <a:r>
                        <a:rPr lang="en-IN" sz="1600" b="0" i="0" u="none" strike="noStrike" dirty="0">
                          <a:solidFill>
                            <a:srgbClr val="000000"/>
                          </a:solidFill>
                          <a:effectLst/>
                          <a:latin typeface="Calibri" panose="020F0502020204030204" pitchFamily="34" charset="0"/>
                        </a:rPr>
                        <a:t>658.82</a:t>
                      </a:r>
                    </a:p>
                  </a:txBody>
                  <a:tcPr marL="7620" marR="7620" marT="7620" marB="0" anchor="b">
                    <a:solidFill>
                      <a:srgbClr val="ED7D31"/>
                    </a:solidFill>
                  </a:tcPr>
                </a:tc>
              </a:tr>
              <a:tr h="182880">
                <a:tc>
                  <a:txBody>
                    <a:bodyPr/>
                    <a:lstStyle/>
                    <a:p>
                      <a:pPr algn="l" fontAlgn="b"/>
                      <a:r>
                        <a:rPr lang="en-IN" sz="1600" u="none" strike="noStrike" dirty="0">
                          <a:effectLst/>
                        </a:rPr>
                        <a:t>A.I. </a:t>
                      </a:r>
                      <a:endParaRPr lang="en-IN" sz="1600" b="0" i="0" u="none" strike="noStrike" dirty="0">
                        <a:solidFill>
                          <a:srgbClr val="000000"/>
                        </a:solidFill>
                        <a:effectLst/>
                        <a:latin typeface="Calibri" panose="020F0502020204030204" pitchFamily="34" charset="0"/>
                      </a:endParaRPr>
                    </a:p>
                  </a:txBody>
                  <a:tcPr marL="7620" marR="7620" marT="7620" marB="0" anchor="b">
                    <a:solidFill>
                      <a:srgbClr val="A5A5A5"/>
                    </a:solidFill>
                  </a:tcPr>
                </a:tc>
                <a:tc>
                  <a:txBody>
                    <a:bodyPr/>
                    <a:lstStyle/>
                    <a:p>
                      <a:pPr algn="r" fontAlgn="b"/>
                      <a:r>
                        <a:rPr lang="en-IN" sz="1600" b="0" i="0" u="none" strike="noStrike" dirty="0">
                          <a:solidFill>
                            <a:srgbClr val="000000"/>
                          </a:solidFill>
                          <a:effectLst/>
                          <a:latin typeface="Calibri" panose="020F0502020204030204" pitchFamily="34" charset="0"/>
                        </a:rPr>
                        <a:t>538.13</a:t>
                      </a:r>
                    </a:p>
                  </a:txBody>
                  <a:tcPr marL="7620" marR="7620" marT="7620" marB="0" anchor="b">
                    <a:solidFill>
                      <a:srgbClr val="A5A5A5"/>
                    </a:solidFill>
                  </a:tcPr>
                </a:tc>
              </a:tr>
              <a:tr h="182880">
                <a:tc>
                  <a:txBody>
                    <a:bodyPr/>
                    <a:lstStyle/>
                    <a:p>
                      <a:pPr algn="l" fontAlgn="b"/>
                      <a:r>
                        <a:rPr lang="en-IN" sz="1600" u="none" strike="noStrike" dirty="0">
                          <a:effectLst/>
                        </a:rPr>
                        <a:t>Digital Tutorial</a:t>
                      </a:r>
                      <a:endParaRPr lang="en-IN" sz="1600" b="0" i="0" u="none" strike="noStrike" dirty="0">
                        <a:solidFill>
                          <a:srgbClr val="000000"/>
                        </a:solidFill>
                        <a:effectLst/>
                        <a:latin typeface="Calibri" panose="020F0502020204030204" pitchFamily="34" charset="0"/>
                      </a:endParaRPr>
                    </a:p>
                  </a:txBody>
                  <a:tcPr marL="7620" marR="7620" marT="7620" marB="0" anchor="b">
                    <a:solidFill>
                      <a:srgbClr val="FFC000"/>
                    </a:solidFill>
                  </a:tcPr>
                </a:tc>
                <a:tc>
                  <a:txBody>
                    <a:bodyPr/>
                    <a:lstStyle/>
                    <a:p>
                      <a:pPr algn="r" fontAlgn="b"/>
                      <a:r>
                        <a:rPr lang="en-IN" sz="1600" b="0" i="0" u="none" strike="noStrike" dirty="0">
                          <a:solidFill>
                            <a:srgbClr val="000000"/>
                          </a:solidFill>
                          <a:effectLst/>
                          <a:latin typeface="Calibri" panose="020F0502020204030204" pitchFamily="34" charset="0"/>
                        </a:rPr>
                        <a:t>263.34</a:t>
                      </a:r>
                    </a:p>
                  </a:txBody>
                  <a:tcPr marL="7620" marR="7620" marT="7620" marB="0" anchor="b">
                    <a:solidFill>
                      <a:srgbClr val="FFC000"/>
                    </a:solidFill>
                  </a:tcPr>
                </a:tc>
              </a:tr>
            </a:tbl>
          </a:graphicData>
        </a:graphic>
      </p:graphicFrame>
      <p:graphicFrame>
        <p:nvGraphicFramePr>
          <p:cNvPr id="20" name="Chart 19"/>
          <p:cNvGraphicFramePr/>
          <p:nvPr>
            <p:extLst>
              <p:ext uri="{D42A27DB-BD31-4B8C-83A1-F6EECF244321}">
                <p14:modId xmlns:p14="http://schemas.microsoft.com/office/powerpoint/2010/main" val="2633595182"/>
              </p:ext>
            </p:extLst>
          </p:nvPr>
        </p:nvGraphicFramePr>
        <p:xfrm>
          <a:off x="8408131" y="3918830"/>
          <a:ext cx="4104475" cy="2785533"/>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1712574388"/>
              </p:ext>
            </p:extLst>
          </p:nvPr>
        </p:nvGraphicFramePr>
        <p:xfrm>
          <a:off x="6900162" y="5026846"/>
          <a:ext cx="2171700" cy="883920"/>
        </p:xfrm>
        <a:graphic>
          <a:graphicData uri="http://schemas.openxmlformats.org/drawingml/2006/table">
            <a:tbl>
              <a:tblPr>
                <a:tableStyleId>{5C22544A-7EE6-4342-B048-85BDC9FD1C3A}</a:tableStyleId>
              </a:tblPr>
              <a:tblGrid>
                <a:gridCol w="1162050"/>
                <a:gridCol w="1009650"/>
              </a:tblGrid>
              <a:tr h="182880">
                <a:tc>
                  <a:txBody>
                    <a:bodyPr/>
                    <a:lstStyle/>
                    <a:p>
                      <a:pPr algn="l" fontAlgn="b"/>
                      <a:r>
                        <a:rPr lang="en-IN" sz="1400" u="none" strike="noStrike" dirty="0" smtClean="0">
                          <a:effectLst/>
                        </a:rPr>
                        <a:t>Hosting</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5B9BD5"/>
                    </a:solidFill>
                  </a:tcPr>
                </a:tc>
                <a:tc>
                  <a:txBody>
                    <a:bodyPr/>
                    <a:lstStyle/>
                    <a:p>
                      <a:pPr algn="r" fontAlgn="b"/>
                      <a:r>
                        <a:rPr lang="en-IN" sz="1400" b="0" i="0" u="none" strike="noStrike" dirty="0">
                          <a:solidFill>
                            <a:srgbClr val="000000"/>
                          </a:solidFill>
                          <a:effectLst/>
                          <a:latin typeface="Calibri" panose="020F0502020204030204" pitchFamily="34" charset="0"/>
                        </a:rPr>
                        <a:t>395.84</a:t>
                      </a:r>
                    </a:p>
                  </a:txBody>
                  <a:tcPr marL="7620" marR="7620" marT="7620" marB="0" anchor="b">
                    <a:solidFill>
                      <a:srgbClr val="5B9BD5"/>
                    </a:solidFill>
                  </a:tcPr>
                </a:tc>
              </a:tr>
              <a:tr h="182880">
                <a:tc>
                  <a:txBody>
                    <a:bodyPr/>
                    <a:lstStyle/>
                    <a:p>
                      <a:pPr algn="l" fontAlgn="b"/>
                      <a:r>
                        <a:rPr lang="en-IN" sz="1400" u="none" strike="noStrike" dirty="0">
                          <a:effectLst/>
                        </a:rPr>
                        <a:t>Software</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ED7D31"/>
                    </a:solidFill>
                  </a:tcPr>
                </a:tc>
                <a:tc>
                  <a:txBody>
                    <a:bodyPr/>
                    <a:lstStyle/>
                    <a:p>
                      <a:pPr algn="r" fontAlgn="b"/>
                      <a:r>
                        <a:rPr lang="en-IN" sz="1400" b="0" i="0" u="none" strike="noStrike" dirty="0">
                          <a:solidFill>
                            <a:srgbClr val="000000"/>
                          </a:solidFill>
                          <a:effectLst/>
                          <a:latin typeface="Calibri" panose="020F0502020204030204" pitchFamily="34" charset="0"/>
                        </a:rPr>
                        <a:t>1432.94</a:t>
                      </a:r>
                    </a:p>
                  </a:txBody>
                  <a:tcPr marL="7620" marR="7620" marT="7620" marB="0" anchor="b">
                    <a:solidFill>
                      <a:srgbClr val="ED7D31"/>
                    </a:solidFill>
                  </a:tcPr>
                </a:tc>
              </a:tr>
              <a:tr h="182880">
                <a:tc>
                  <a:txBody>
                    <a:bodyPr/>
                    <a:lstStyle/>
                    <a:p>
                      <a:pPr algn="l" fontAlgn="b"/>
                      <a:r>
                        <a:rPr lang="en-IN" sz="1400" u="none" strike="noStrike" dirty="0">
                          <a:effectLst/>
                        </a:rPr>
                        <a:t>A.I. </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A5A5A5"/>
                    </a:solidFill>
                  </a:tcPr>
                </a:tc>
                <a:tc>
                  <a:txBody>
                    <a:bodyPr/>
                    <a:lstStyle/>
                    <a:p>
                      <a:pPr algn="r" fontAlgn="b"/>
                      <a:r>
                        <a:rPr lang="en-IN" sz="1400" b="0" i="0" u="none" strike="noStrike" dirty="0">
                          <a:solidFill>
                            <a:srgbClr val="000000"/>
                          </a:solidFill>
                          <a:effectLst/>
                          <a:latin typeface="Calibri" panose="020F0502020204030204" pitchFamily="34" charset="0"/>
                        </a:rPr>
                        <a:t>1807.84</a:t>
                      </a:r>
                    </a:p>
                  </a:txBody>
                  <a:tcPr marL="7620" marR="7620" marT="7620" marB="0" anchor="b">
                    <a:solidFill>
                      <a:srgbClr val="A5A5A5"/>
                    </a:solidFill>
                  </a:tcPr>
                </a:tc>
              </a:tr>
              <a:tr h="182880">
                <a:tc>
                  <a:txBody>
                    <a:bodyPr/>
                    <a:lstStyle/>
                    <a:p>
                      <a:pPr algn="l" fontAlgn="b"/>
                      <a:r>
                        <a:rPr lang="en-IN" sz="1400" u="none" strike="noStrike" dirty="0">
                          <a:effectLst/>
                        </a:rPr>
                        <a:t>Digital Tutorial</a:t>
                      </a:r>
                      <a:endParaRPr lang="en-IN" sz="1400" b="0" i="0" u="none" strike="noStrike" dirty="0">
                        <a:solidFill>
                          <a:srgbClr val="000000"/>
                        </a:solidFill>
                        <a:effectLst/>
                        <a:latin typeface="Calibri" panose="020F0502020204030204" pitchFamily="34" charset="0"/>
                      </a:endParaRPr>
                    </a:p>
                  </a:txBody>
                  <a:tcPr marL="7620" marR="7620" marT="7620" marB="0" anchor="b">
                    <a:solidFill>
                      <a:srgbClr val="FFC000"/>
                    </a:solidFill>
                  </a:tcPr>
                </a:tc>
                <a:tc>
                  <a:txBody>
                    <a:bodyPr/>
                    <a:lstStyle/>
                    <a:p>
                      <a:pPr algn="r" fontAlgn="b"/>
                      <a:r>
                        <a:rPr lang="en-IN" sz="1400" b="0" i="0" u="none" strike="noStrike" dirty="0">
                          <a:solidFill>
                            <a:srgbClr val="000000"/>
                          </a:solidFill>
                          <a:effectLst/>
                          <a:latin typeface="Calibri" panose="020F0502020204030204" pitchFamily="34" charset="0"/>
                        </a:rPr>
                        <a:t>491.35</a:t>
                      </a:r>
                    </a:p>
                  </a:txBody>
                  <a:tcPr marL="7620" marR="7620" marT="7620" marB="0" anchor="b">
                    <a:solidFill>
                      <a:srgbClr val="FFC000"/>
                    </a:solidFill>
                  </a:tcPr>
                </a:tc>
              </a:tr>
            </a:tbl>
          </a:graphicData>
        </a:graphic>
      </p:graphicFrame>
      <p:sp>
        <p:nvSpPr>
          <p:cNvPr id="14" name="Rectangle 13"/>
          <p:cNvSpPr/>
          <p:nvPr/>
        </p:nvSpPr>
        <p:spPr>
          <a:xfrm>
            <a:off x="3437702" y="4749847"/>
            <a:ext cx="1053494" cy="276999"/>
          </a:xfrm>
          <a:prstGeom prst="rect">
            <a:avLst/>
          </a:prstGeom>
        </p:spPr>
        <p:txBody>
          <a:bodyPr wrap="none">
            <a:spAutoFit/>
          </a:bodyPr>
          <a:lstStyle/>
          <a:p>
            <a:pPr algn="r" fontAlgn="b"/>
            <a:r>
              <a:rPr lang="en-US" sz="1200" dirty="0"/>
              <a:t>in billion USD </a:t>
            </a:r>
            <a:endParaRPr lang="en-IN" sz="1200" dirty="0">
              <a:solidFill>
                <a:srgbClr val="000000"/>
              </a:solidFill>
              <a:latin typeface="Calibri" panose="020F0502020204030204" pitchFamily="34" charset="0"/>
            </a:endParaRPr>
          </a:p>
        </p:txBody>
      </p:sp>
      <p:sp>
        <p:nvSpPr>
          <p:cNvPr id="16" name="Rectangle 15"/>
          <p:cNvSpPr/>
          <p:nvPr/>
        </p:nvSpPr>
        <p:spPr>
          <a:xfrm>
            <a:off x="8073359" y="4749846"/>
            <a:ext cx="1053494" cy="276999"/>
          </a:xfrm>
          <a:prstGeom prst="rect">
            <a:avLst/>
          </a:prstGeom>
        </p:spPr>
        <p:txBody>
          <a:bodyPr wrap="none">
            <a:spAutoFit/>
          </a:bodyPr>
          <a:lstStyle/>
          <a:p>
            <a:pPr algn="r" fontAlgn="b"/>
            <a:r>
              <a:rPr lang="en-US" sz="1200" dirty="0"/>
              <a:t>in billion USD </a:t>
            </a:r>
            <a:endParaRPr lang="en-IN" sz="1200" dirty="0">
              <a:solidFill>
                <a:srgbClr val="000000"/>
              </a:solidFill>
              <a:latin typeface="Calibri" panose="020F0502020204030204" pitchFamily="34" charset="0"/>
            </a:endParaRPr>
          </a:p>
        </p:txBody>
      </p:sp>
      <p:graphicFrame>
        <p:nvGraphicFramePr>
          <p:cNvPr id="15" name="Table 14"/>
          <p:cNvGraphicFramePr>
            <a:graphicFrameLocks noGrp="1"/>
          </p:cNvGraphicFramePr>
          <p:nvPr>
            <p:extLst>
              <p:ext uri="{D42A27DB-BD31-4B8C-83A1-F6EECF244321}">
                <p14:modId xmlns:p14="http://schemas.microsoft.com/office/powerpoint/2010/main" val="3410471043"/>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7"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8"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9"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Market Analysis</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5"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7"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8"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20"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1"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8" name="TextBox 17"/>
          <p:cNvSpPr txBox="1"/>
          <p:nvPr/>
        </p:nvSpPr>
        <p:spPr>
          <a:xfrm>
            <a:off x="11658600" y="143501"/>
            <a:ext cx="391562" cy="307777"/>
          </a:xfrm>
          <a:prstGeom prst="rect">
            <a:avLst/>
          </a:prstGeom>
          <a:noFill/>
        </p:spPr>
        <p:txBody>
          <a:bodyPr wrap="square" rtlCol="0">
            <a:spAutoFit/>
          </a:bodyPr>
          <a:lstStyle/>
          <a:p>
            <a:r>
              <a:rPr lang="en-US" sz="1400" dirty="0" smtClean="0"/>
              <a:t>10</a:t>
            </a:r>
            <a:endParaRPr lang="en-IN" sz="1400" dirty="0"/>
          </a:p>
        </p:txBody>
      </p:sp>
    </p:spTree>
    <p:extLst>
      <p:ext uri="{BB962C8B-B14F-4D97-AF65-F5344CB8AC3E}">
        <p14:creationId xmlns:p14="http://schemas.microsoft.com/office/powerpoint/2010/main" val="26925692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08989" y="98362"/>
            <a:ext cx="1680268" cy="369332"/>
          </a:xfrm>
          <a:prstGeom prst="rect">
            <a:avLst/>
          </a:prstGeom>
        </p:spPr>
        <p:txBody>
          <a:bodyPr wrap="none">
            <a:spAutoFit/>
          </a:bodyPr>
          <a:lstStyle/>
          <a:p>
            <a:r>
              <a:rPr lang="en-IN" b="1" dirty="0" smtClean="0">
                <a:solidFill>
                  <a:schemeClr val="dk1"/>
                </a:solidFill>
              </a:rPr>
              <a:t>Business Model</a:t>
            </a:r>
            <a:endParaRPr lang="en-IN" b="1" dirty="0"/>
          </a:p>
        </p:txBody>
      </p:sp>
      <p:sp>
        <p:nvSpPr>
          <p:cNvPr id="6" name="Rounded Rectangle 5"/>
          <p:cNvSpPr/>
          <p:nvPr/>
        </p:nvSpPr>
        <p:spPr>
          <a:xfrm>
            <a:off x="3826903"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1/3</a:t>
            </a:r>
            <a:endParaRPr lang="en-IN" b="1" dirty="0">
              <a:solidFill>
                <a:schemeClr val="tx1"/>
              </a:solidFill>
            </a:endParaRPr>
          </a:p>
        </p:txBody>
      </p:sp>
      <p:grpSp>
        <p:nvGrpSpPr>
          <p:cNvPr id="7" name="Group 6"/>
          <p:cNvGrpSpPr/>
          <p:nvPr/>
        </p:nvGrpSpPr>
        <p:grpSpPr>
          <a:xfrm>
            <a:off x="4696922" y="1222392"/>
            <a:ext cx="4552331" cy="4489525"/>
            <a:chOff x="4696922" y="1222392"/>
            <a:chExt cx="4552331" cy="4489525"/>
          </a:xfrm>
        </p:grpSpPr>
        <p:sp>
          <p:nvSpPr>
            <p:cNvPr id="8" name="Freeform 7"/>
            <p:cNvSpPr/>
            <p:nvPr/>
          </p:nvSpPr>
          <p:spPr>
            <a:xfrm>
              <a:off x="6602263" y="1222392"/>
              <a:ext cx="741649" cy="480994"/>
            </a:xfrm>
            <a:custGeom>
              <a:avLst/>
              <a:gdLst>
                <a:gd name="connsiteX0" fmla="*/ 0 w 741649"/>
                <a:gd name="connsiteY0" fmla="*/ 80167 h 480994"/>
                <a:gd name="connsiteX1" fmla="*/ 80167 w 741649"/>
                <a:gd name="connsiteY1" fmla="*/ 0 h 480994"/>
                <a:gd name="connsiteX2" fmla="*/ 661482 w 741649"/>
                <a:gd name="connsiteY2" fmla="*/ 0 h 480994"/>
                <a:gd name="connsiteX3" fmla="*/ 741649 w 741649"/>
                <a:gd name="connsiteY3" fmla="*/ 80167 h 480994"/>
                <a:gd name="connsiteX4" fmla="*/ 741649 w 741649"/>
                <a:gd name="connsiteY4" fmla="*/ 400827 h 480994"/>
                <a:gd name="connsiteX5" fmla="*/ 661482 w 741649"/>
                <a:gd name="connsiteY5" fmla="*/ 480994 h 480994"/>
                <a:gd name="connsiteX6" fmla="*/ 80167 w 741649"/>
                <a:gd name="connsiteY6" fmla="*/ 480994 h 480994"/>
                <a:gd name="connsiteX7" fmla="*/ 0 w 741649"/>
                <a:gd name="connsiteY7" fmla="*/ 400827 h 480994"/>
                <a:gd name="connsiteX8" fmla="*/ 0 w 741649"/>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1649" h="480994">
                  <a:moveTo>
                    <a:pt x="0" y="80167"/>
                  </a:moveTo>
                  <a:cubicBezTo>
                    <a:pt x="0" y="35892"/>
                    <a:pt x="35892" y="0"/>
                    <a:pt x="80167" y="0"/>
                  </a:cubicBezTo>
                  <a:lnTo>
                    <a:pt x="661482" y="0"/>
                  </a:lnTo>
                  <a:cubicBezTo>
                    <a:pt x="705757" y="0"/>
                    <a:pt x="741649" y="35892"/>
                    <a:pt x="741649" y="80167"/>
                  </a:cubicBezTo>
                  <a:lnTo>
                    <a:pt x="741649" y="400827"/>
                  </a:lnTo>
                  <a:cubicBezTo>
                    <a:pt x="741649" y="445102"/>
                    <a:pt x="705757" y="480994"/>
                    <a:pt x="661482"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dirty="0"/>
            </a:p>
          </p:txBody>
        </p:sp>
        <p:sp>
          <p:nvSpPr>
            <p:cNvPr id="9" name="Freeform 8"/>
            <p:cNvSpPr/>
            <p:nvPr/>
          </p:nvSpPr>
          <p:spPr>
            <a:xfrm>
              <a:off x="4968822" y="1462889"/>
              <a:ext cx="4008531" cy="4008531"/>
            </a:xfrm>
            <a:custGeom>
              <a:avLst/>
              <a:gdLst/>
              <a:ahLst/>
              <a:cxnLst/>
              <a:rect l="0" t="0" r="0" b="0"/>
              <a:pathLst>
                <a:path>
                  <a:moveTo>
                    <a:pt x="2464646" y="53591"/>
                  </a:moveTo>
                  <a:arcTo wR="2004265" hR="2004265" stAng="16996767" swAng="472828"/>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10" name="Freeform 9"/>
            <p:cNvSpPr/>
            <p:nvPr/>
          </p:nvSpPr>
          <p:spPr>
            <a:xfrm>
              <a:off x="7781170" y="1605173"/>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5870" tIns="95870" rIns="95870" bIns="95870" numCol="1" spcCol="1270" anchor="ctr" anchorCtr="0">
              <a:noAutofit/>
            </a:bodyPr>
            <a:lstStyle/>
            <a:p>
              <a:pPr lvl="0" algn="ctr" defTabSz="844550">
                <a:lnSpc>
                  <a:spcPct val="90000"/>
                </a:lnSpc>
                <a:spcBef>
                  <a:spcPct val="0"/>
                </a:spcBef>
                <a:spcAft>
                  <a:spcPct val="35000"/>
                </a:spcAft>
              </a:pPr>
              <a:endParaRPr lang="en-IN" sz="1900" kern="1200" dirty="0"/>
            </a:p>
          </p:txBody>
        </p:sp>
        <p:sp>
          <p:nvSpPr>
            <p:cNvPr id="11" name="Freeform 10"/>
            <p:cNvSpPr/>
            <p:nvPr/>
          </p:nvSpPr>
          <p:spPr>
            <a:xfrm>
              <a:off x="4968822" y="1462889"/>
              <a:ext cx="4008531" cy="4008531"/>
            </a:xfrm>
            <a:custGeom>
              <a:avLst/>
              <a:gdLst/>
              <a:ahLst/>
              <a:cxnLst/>
              <a:rect l="0" t="0" r="0" b="0"/>
              <a:pathLst>
                <a:path>
                  <a:moveTo>
                    <a:pt x="3541005" y="717599"/>
                  </a:moveTo>
                  <a:arcTo wR="2004265" hR="2004265" stAng="19203694" swAng="655153"/>
                </a:path>
              </a:pathLst>
            </a:custGeom>
            <a:noFill/>
            <a:ln>
              <a:tailEnd type="arrow"/>
            </a:ln>
          </p:spPr>
          <p:style>
            <a:lnRef idx="1">
              <a:schemeClr val="accent3">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12" name="Freeform 11"/>
            <p:cNvSpPr/>
            <p:nvPr/>
          </p:nvSpPr>
          <p:spPr>
            <a:xfrm>
              <a:off x="8509262" y="2607305"/>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5870" tIns="95870" rIns="95870" bIns="95870" numCol="1" spcCol="1270" anchor="ctr" anchorCtr="0">
              <a:noAutofit/>
            </a:bodyPr>
            <a:lstStyle/>
            <a:p>
              <a:pPr lvl="0" algn="ctr" defTabSz="844550">
                <a:lnSpc>
                  <a:spcPct val="90000"/>
                </a:lnSpc>
                <a:spcBef>
                  <a:spcPct val="0"/>
                </a:spcBef>
                <a:spcAft>
                  <a:spcPct val="35000"/>
                </a:spcAft>
              </a:pPr>
              <a:endParaRPr lang="en-IN" sz="1900" kern="1200" dirty="0"/>
            </a:p>
          </p:txBody>
        </p:sp>
        <p:sp>
          <p:nvSpPr>
            <p:cNvPr id="13" name="Freeform 12"/>
            <p:cNvSpPr/>
            <p:nvPr/>
          </p:nvSpPr>
          <p:spPr>
            <a:xfrm>
              <a:off x="4968822" y="1462889"/>
              <a:ext cx="4008531" cy="4008531"/>
            </a:xfrm>
            <a:custGeom>
              <a:avLst/>
              <a:gdLst/>
              <a:ahLst/>
              <a:cxnLst/>
              <a:rect l="0" t="0" r="0" b="0"/>
              <a:pathLst>
                <a:path>
                  <a:moveTo>
                    <a:pt x="3995394" y="1775161"/>
                  </a:moveTo>
                  <a:arcTo wR="2004265" hR="2004265" stAng="21206176" swAng="787648"/>
                </a:path>
              </a:pathLst>
            </a:custGeom>
            <a:noFill/>
            <a:ln>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sp>
        <p:sp>
          <p:nvSpPr>
            <p:cNvPr id="14" name="Freeform 13"/>
            <p:cNvSpPr/>
            <p:nvPr/>
          </p:nvSpPr>
          <p:spPr>
            <a:xfrm>
              <a:off x="8509262" y="3846010"/>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95870" tIns="95870" rIns="95870" bIns="95870" numCol="1" spcCol="1270" anchor="ctr" anchorCtr="0">
              <a:noAutofit/>
            </a:bodyPr>
            <a:lstStyle/>
            <a:p>
              <a:pPr lvl="0" algn="ctr" defTabSz="844550">
                <a:lnSpc>
                  <a:spcPct val="90000"/>
                </a:lnSpc>
                <a:spcBef>
                  <a:spcPct val="0"/>
                </a:spcBef>
                <a:spcAft>
                  <a:spcPct val="35000"/>
                </a:spcAft>
              </a:pPr>
              <a:endParaRPr lang="en-IN" sz="1900" kern="1200"/>
            </a:p>
          </p:txBody>
        </p:sp>
        <p:sp>
          <p:nvSpPr>
            <p:cNvPr id="16" name="Freeform 15"/>
            <p:cNvSpPr/>
            <p:nvPr/>
          </p:nvSpPr>
          <p:spPr>
            <a:xfrm>
              <a:off x="4968822" y="1462889"/>
              <a:ext cx="4008531" cy="4008531"/>
            </a:xfrm>
            <a:custGeom>
              <a:avLst/>
              <a:gdLst/>
              <a:ahLst/>
              <a:cxnLst/>
              <a:rect l="0" t="0" r="0" b="0"/>
              <a:pathLst>
                <a:path>
                  <a:moveTo>
                    <a:pt x="3756910" y="2976540"/>
                  </a:moveTo>
                  <a:arcTo wR="2004265" hR="2004265" stAng="1741153" swAng="655153"/>
                </a:path>
              </a:pathLst>
            </a:custGeom>
            <a:noFill/>
            <a:ln>
              <a:tailEnd type="arrow"/>
            </a:ln>
          </p:spPr>
          <p:style>
            <a:lnRef idx="1">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17" name="Freeform 16"/>
            <p:cNvSpPr/>
            <p:nvPr/>
          </p:nvSpPr>
          <p:spPr>
            <a:xfrm>
              <a:off x="7781170" y="4848143"/>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95870" tIns="95870" rIns="95870" bIns="95870" numCol="1" spcCol="1270" anchor="ctr" anchorCtr="0">
              <a:noAutofit/>
            </a:bodyPr>
            <a:lstStyle/>
            <a:p>
              <a:pPr lvl="0" algn="ctr" defTabSz="844550">
                <a:lnSpc>
                  <a:spcPct val="90000"/>
                </a:lnSpc>
                <a:spcBef>
                  <a:spcPct val="0"/>
                </a:spcBef>
                <a:spcAft>
                  <a:spcPct val="35000"/>
                </a:spcAft>
              </a:pPr>
              <a:endParaRPr lang="en-IN" sz="1900" kern="1200" dirty="0"/>
            </a:p>
          </p:txBody>
        </p:sp>
        <p:sp>
          <p:nvSpPr>
            <p:cNvPr id="18" name="Freeform 17"/>
            <p:cNvSpPr/>
            <p:nvPr/>
          </p:nvSpPr>
          <p:spPr>
            <a:xfrm>
              <a:off x="4968822" y="1462889"/>
              <a:ext cx="4008531" cy="4008531"/>
            </a:xfrm>
            <a:custGeom>
              <a:avLst/>
              <a:gdLst/>
              <a:ahLst/>
              <a:cxnLst/>
              <a:rect l="0" t="0" r="0" b="0"/>
              <a:pathLst>
                <a:path>
                  <a:moveTo>
                    <a:pt x="2727593" y="3873457"/>
                  </a:moveTo>
                  <a:arcTo wR="2004265" hR="2004265" stAng="4130693" swAng="473699"/>
                </a:path>
              </a:pathLst>
            </a:custGeom>
            <a:noFill/>
            <a:ln>
              <a:tailEnd type="arrow"/>
            </a:ln>
          </p:spPr>
          <p:style>
            <a:lnRef idx="1">
              <a:schemeClr val="accent6">
                <a:hueOff val="0"/>
                <a:satOff val="0"/>
                <a:lumOff val="0"/>
                <a:alphaOff val="0"/>
              </a:schemeClr>
            </a:lnRef>
            <a:fillRef idx="0">
              <a:scrgbClr r="0" g="0" b="0"/>
            </a:fillRef>
            <a:effectRef idx="0">
              <a:schemeClr val="accent6">
                <a:hueOff val="0"/>
                <a:satOff val="0"/>
                <a:lumOff val="0"/>
                <a:alphaOff val="0"/>
              </a:schemeClr>
            </a:effectRef>
            <a:fontRef idx="minor">
              <a:schemeClr val="tx1">
                <a:hueOff val="0"/>
                <a:satOff val="0"/>
                <a:lumOff val="0"/>
                <a:alphaOff val="0"/>
              </a:schemeClr>
            </a:fontRef>
          </p:style>
        </p:sp>
        <p:sp>
          <p:nvSpPr>
            <p:cNvPr id="19" name="Freeform 18"/>
            <p:cNvSpPr/>
            <p:nvPr/>
          </p:nvSpPr>
          <p:spPr>
            <a:xfrm>
              <a:off x="6603092" y="5230923"/>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a:p>
          </p:txBody>
        </p:sp>
        <p:sp>
          <p:nvSpPr>
            <p:cNvPr id="20" name="Freeform 19"/>
            <p:cNvSpPr/>
            <p:nvPr/>
          </p:nvSpPr>
          <p:spPr>
            <a:xfrm>
              <a:off x="4968822" y="1462889"/>
              <a:ext cx="4008531" cy="4008531"/>
            </a:xfrm>
            <a:custGeom>
              <a:avLst/>
              <a:gdLst/>
              <a:ahLst/>
              <a:cxnLst/>
              <a:rect l="0" t="0" r="0" b="0"/>
              <a:pathLst>
                <a:path>
                  <a:moveTo>
                    <a:pt x="1544542" y="3955095"/>
                  </a:moveTo>
                  <a:arcTo wR="2004265" hR="2004265" stAng="6195608" swAng="473699"/>
                </a:path>
              </a:pathLst>
            </a:custGeom>
            <a:noFill/>
            <a:ln>
              <a:tailEnd type="arrow"/>
            </a:ln>
          </p:spPr>
          <p:style>
            <a:lnRef idx="1">
              <a:schemeClr val="accent2">
                <a:hueOff val="0"/>
                <a:satOff val="0"/>
                <a:lumOff val="0"/>
                <a:alphaOff val="0"/>
              </a:schemeClr>
            </a:lnRef>
            <a:fillRef idx="0">
              <a:scrgbClr r="0" g="0" b="0"/>
            </a:fillRef>
            <a:effectRef idx="0">
              <a:schemeClr val="accent2">
                <a:hueOff val="0"/>
                <a:satOff val="0"/>
                <a:lumOff val="0"/>
                <a:alphaOff val="0"/>
              </a:schemeClr>
            </a:effectRef>
            <a:fontRef idx="minor">
              <a:schemeClr val="tx1">
                <a:hueOff val="0"/>
                <a:satOff val="0"/>
                <a:lumOff val="0"/>
                <a:alphaOff val="0"/>
              </a:schemeClr>
            </a:fontRef>
          </p:style>
        </p:sp>
        <p:sp>
          <p:nvSpPr>
            <p:cNvPr id="21" name="Freeform 20"/>
            <p:cNvSpPr/>
            <p:nvPr/>
          </p:nvSpPr>
          <p:spPr>
            <a:xfrm>
              <a:off x="5425014" y="4848143"/>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a:p>
          </p:txBody>
        </p:sp>
        <p:sp>
          <p:nvSpPr>
            <p:cNvPr id="22" name="Freeform 21"/>
            <p:cNvSpPr/>
            <p:nvPr/>
          </p:nvSpPr>
          <p:spPr>
            <a:xfrm>
              <a:off x="4968822" y="1462889"/>
              <a:ext cx="4008531" cy="4008531"/>
            </a:xfrm>
            <a:custGeom>
              <a:avLst/>
              <a:gdLst/>
              <a:ahLst/>
              <a:cxnLst/>
              <a:rect l="0" t="0" r="0" b="0"/>
              <a:pathLst>
                <a:path>
                  <a:moveTo>
                    <a:pt x="467525" y="3290932"/>
                  </a:moveTo>
                  <a:arcTo wR="2004265" hR="2004265" stAng="8403694" swAng="655153"/>
                </a:path>
              </a:pathLst>
            </a:custGeom>
            <a:noFill/>
            <a:ln>
              <a:tailEnd type="arrow"/>
            </a:ln>
          </p:spPr>
          <p:style>
            <a:lnRef idx="1">
              <a:schemeClr val="accent3">
                <a:hueOff val="0"/>
                <a:satOff val="0"/>
                <a:lumOff val="0"/>
                <a:alphaOff val="0"/>
              </a:schemeClr>
            </a:lnRef>
            <a:fillRef idx="0">
              <a:scrgbClr r="0" g="0" b="0"/>
            </a:fillRef>
            <a:effectRef idx="0">
              <a:schemeClr val="accent3">
                <a:hueOff val="0"/>
                <a:satOff val="0"/>
                <a:lumOff val="0"/>
                <a:alphaOff val="0"/>
              </a:schemeClr>
            </a:effectRef>
            <a:fontRef idx="minor">
              <a:schemeClr val="tx1">
                <a:hueOff val="0"/>
                <a:satOff val="0"/>
                <a:lumOff val="0"/>
                <a:alphaOff val="0"/>
              </a:schemeClr>
            </a:fontRef>
          </p:style>
        </p:sp>
        <p:sp>
          <p:nvSpPr>
            <p:cNvPr id="23" name="Freeform 22"/>
            <p:cNvSpPr/>
            <p:nvPr/>
          </p:nvSpPr>
          <p:spPr>
            <a:xfrm>
              <a:off x="4696922" y="3846010"/>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a:p>
          </p:txBody>
        </p:sp>
        <p:sp>
          <p:nvSpPr>
            <p:cNvPr id="24" name="Freeform 23"/>
            <p:cNvSpPr/>
            <p:nvPr/>
          </p:nvSpPr>
          <p:spPr>
            <a:xfrm>
              <a:off x="4968822" y="1462889"/>
              <a:ext cx="4008531" cy="4008531"/>
            </a:xfrm>
            <a:custGeom>
              <a:avLst/>
              <a:gdLst/>
              <a:ahLst/>
              <a:cxnLst/>
              <a:rect l="0" t="0" r="0" b="0"/>
              <a:pathLst>
                <a:path>
                  <a:moveTo>
                    <a:pt x="13137" y="2233369"/>
                  </a:moveTo>
                  <a:arcTo wR="2004265" hR="2004265" stAng="10406176" swAng="787648"/>
                </a:path>
              </a:pathLst>
            </a:custGeom>
            <a:noFill/>
            <a:ln>
              <a:tailEnd type="arrow"/>
            </a:ln>
          </p:spPr>
          <p:style>
            <a:lnRef idx="1">
              <a:schemeClr val="accent4">
                <a:hueOff val="0"/>
                <a:satOff val="0"/>
                <a:lumOff val="0"/>
                <a:alphaOff val="0"/>
              </a:schemeClr>
            </a:lnRef>
            <a:fillRef idx="0">
              <a:scrgbClr r="0" g="0" b="0"/>
            </a:fillRef>
            <a:effectRef idx="0">
              <a:schemeClr val="accent4">
                <a:hueOff val="0"/>
                <a:satOff val="0"/>
                <a:lumOff val="0"/>
                <a:alphaOff val="0"/>
              </a:schemeClr>
            </a:effectRef>
            <a:fontRef idx="minor">
              <a:schemeClr val="tx1">
                <a:hueOff val="0"/>
                <a:satOff val="0"/>
                <a:lumOff val="0"/>
                <a:alphaOff val="0"/>
              </a:schemeClr>
            </a:fontRef>
          </p:style>
        </p:sp>
        <p:sp>
          <p:nvSpPr>
            <p:cNvPr id="25" name="Freeform 24"/>
            <p:cNvSpPr/>
            <p:nvPr/>
          </p:nvSpPr>
          <p:spPr>
            <a:xfrm>
              <a:off x="4696922" y="2607305"/>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a:p>
          </p:txBody>
        </p:sp>
        <p:sp>
          <p:nvSpPr>
            <p:cNvPr id="26" name="Freeform 25"/>
            <p:cNvSpPr/>
            <p:nvPr/>
          </p:nvSpPr>
          <p:spPr>
            <a:xfrm>
              <a:off x="4968822" y="1462889"/>
              <a:ext cx="4008531" cy="4008531"/>
            </a:xfrm>
            <a:custGeom>
              <a:avLst/>
              <a:gdLst/>
              <a:ahLst/>
              <a:cxnLst/>
              <a:rect l="0" t="0" r="0" b="0"/>
              <a:pathLst>
                <a:path>
                  <a:moveTo>
                    <a:pt x="251621" y="1031990"/>
                  </a:moveTo>
                  <a:arcTo wR="2004265" hR="2004265" stAng="12541153" swAng="655153"/>
                </a:path>
              </a:pathLst>
            </a:custGeom>
            <a:noFill/>
            <a:ln>
              <a:tailEnd type="arrow"/>
            </a:ln>
          </p:spPr>
          <p:style>
            <a:lnRef idx="1">
              <a:schemeClr val="accent5">
                <a:hueOff val="0"/>
                <a:satOff val="0"/>
                <a:lumOff val="0"/>
                <a:alphaOff val="0"/>
              </a:schemeClr>
            </a:lnRef>
            <a:fillRef idx="0">
              <a:scrgbClr r="0" g="0" b="0"/>
            </a:fillRef>
            <a:effectRef idx="0">
              <a:schemeClr val="accent5">
                <a:hueOff val="0"/>
                <a:satOff val="0"/>
                <a:lumOff val="0"/>
                <a:alphaOff val="0"/>
              </a:schemeClr>
            </a:effectRef>
            <a:fontRef idx="minor">
              <a:schemeClr val="tx1">
                <a:hueOff val="0"/>
                <a:satOff val="0"/>
                <a:lumOff val="0"/>
                <a:alphaOff val="0"/>
              </a:schemeClr>
            </a:fontRef>
          </p:style>
        </p:sp>
        <p:sp>
          <p:nvSpPr>
            <p:cNvPr id="27" name="Freeform 26"/>
            <p:cNvSpPr/>
            <p:nvPr/>
          </p:nvSpPr>
          <p:spPr>
            <a:xfrm>
              <a:off x="5425014" y="1605173"/>
              <a:ext cx="739991" cy="480994"/>
            </a:xfrm>
            <a:custGeom>
              <a:avLst/>
              <a:gdLst>
                <a:gd name="connsiteX0" fmla="*/ 0 w 739991"/>
                <a:gd name="connsiteY0" fmla="*/ 80167 h 480994"/>
                <a:gd name="connsiteX1" fmla="*/ 80167 w 739991"/>
                <a:gd name="connsiteY1" fmla="*/ 0 h 480994"/>
                <a:gd name="connsiteX2" fmla="*/ 659824 w 739991"/>
                <a:gd name="connsiteY2" fmla="*/ 0 h 480994"/>
                <a:gd name="connsiteX3" fmla="*/ 739991 w 739991"/>
                <a:gd name="connsiteY3" fmla="*/ 80167 h 480994"/>
                <a:gd name="connsiteX4" fmla="*/ 739991 w 739991"/>
                <a:gd name="connsiteY4" fmla="*/ 400827 h 480994"/>
                <a:gd name="connsiteX5" fmla="*/ 659824 w 739991"/>
                <a:gd name="connsiteY5" fmla="*/ 480994 h 480994"/>
                <a:gd name="connsiteX6" fmla="*/ 80167 w 739991"/>
                <a:gd name="connsiteY6" fmla="*/ 480994 h 480994"/>
                <a:gd name="connsiteX7" fmla="*/ 0 w 739991"/>
                <a:gd name="connsiteY7" fmla="*/ 400827 h 480994"/>
                <a:gd name="connsiteX8" fmla="*/ 0 w 739991"/>
                <a:gd name="connsiteY8" fmla="*/ 80167 h 480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991" h="480994">
                  <a:moveTo>
                    <a:pt x="0" y="80167"/>
                  </a:moveTo>
                  <a:cubicBezTo>
                    <a:pt x="0" y="35892"/>
                    <a:pt x="35892" y="0"/>
                    <a:pt x="80167" y="0"/>
                  </a:cubicBezTo>
                  <a:lnTo>
                    <a:pt x="659824" y="0"/>
                  </a:lnTo>
                  <a:cubicBezTo>
                    <a:pt x="704099" y="0"/>
                    <a:pt x="739991" y="35892"/>
                    <a:pt x="739991" y="80167"/>
                  </a:cubicBezTo>
                  <a:lnTo>
                    <a:pt x="739991" y="400827"/>
                  </a:lnTo>
                  <a:cubicBezTo>
                    <a:pt x="739991" y="445102"/>
                    <a:pt x="704099" y="480994"/>
                    <a:pt x="659824" y="480994"/>
                  </a:cubicBezTo>
                  <a:lnTo>
                    <a:pt x="80167" y="480994"/>
                  </a:lnTo>
                  <a:cubicBezTo>
                    <a:pt x="35892" y="480994"/>
                    <a:pt x="0" y="445102"/>
                    <a:pt x="0" y="400827"/>
                  </a:cubicBezTo>
                  <a:lnTo>
                    <a:pt x="0" y="80167"/>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99680" tIns="99680" rIns="99680" bIns="99680" numCol="1" spcCol="1270" anchor="ctr" anchorCtr="0">
              <a:noAutofit/>
            </a:bodyPr>
            <a:lstStyle/>
            <a:p>
              <a:pPr lvl="0" algn="ctr" defTabSz="889000">
                <a:lnSpc>
                  <a:spcPct val="90000"/>
                </a:lnSpc>
                <a:spcBef>
                  <a:spcPct val="0"/>
                </a:spcBef>
                <a:spcAft>
                  <a:spcPct val="35000"/>
                </a:spcAft>
              </a:pPr>
              <a:endParaRPr lang="en-IN" sz="2000" kern="1200"/>
            </a:p>
          </p:txBody>
        </p:sp>
        <p:sp>
          <p:nvSpPr>
            <p:cNvPr id="49" name="Freeform 48"/>
            <p:cNvSpPr/>
            <p:nvPr/>
          </p:nvSpPr>
          <p:spPr>
            <a:xfrm>
              <a:off x="4968822" y="1462889"/>
              <a:ext cx="4008531" cy="4008531"/>
            </a:xfrm>
            <a:custGeom>
              <a:avLst/>
              <a:gdLst/>
              <a:ahLst/>
              <a:cxnLst/>
              <a:rect l="0" t="0" r="0" b="0"/>
              <a:pathLst>
                <a:path>
                  <a:moveTo>
                    <a:pt x="1280781" y="135134"/>
                  </a:moveTo>
                  <a:arcTo wR="2004265" hR="2004265" stAng="14930405" swAng="472828"/>
                </a:path>
              </a:pathLst>
            </a:custGeom>
            <a:noFill/>
            <a:ln>
              <a:tailEnd type="arrow"/>
            </a:ln>
          </p:spPr>
          <p:style>
            <a:lnRef idx="1">
              <a:schemeClr val="accent6">
                <a:hueOff val="0"/>
                <a:satOff val="0"/>
                <a:lumOff val="0"/>
                <a:alphaOff val="0"/>
              </a:schemeClr>
            </a:lnRef>
            <a:fillRef idx="0">
              <a:scrgbClr r="0" g="0" b="0"/>
            </a:fillRef>
            <a:effectRef idx="0">
              <a:schemeClr val="accent6">
                <a:hueOff val="0"/>
                <a:satOff val="0"/>
                <a:lumOff val="0"/>
                <a:alphaOff val="0"/>
              </a:schemeClr>
            </a:effectRef>
            <a:fontRef idx="minor">
              <a:schemeClr val="tx1">
                <a:hueOff val="0"/>
                <a:satOff val="0"/>
                <a:lumOff val="0"/>
                <a:alphaOff val="0"/>
              </a:schemeClr>
            </a:fontRef>
          </p:style>
        </p:sp>
      </p:grpSp>
      <p:sp>
        <p:nvSpPr>
          <p:cNvPr id="28" name="Rectangle 27"/>
          <p:cNvSpPr/>
          <p:nvPr/>
        </p:nvSpPr>
        <p:spPr>
          <a:xfrm>
            <a:off x="5354956" y="94531"/>
            <a:ext cx="1690463" cy="338554"/>
          </a:xfrm>
          <a:prstGeom prst="rect">
            <a:avLst/>
          </a:prstGeom>
        </p:spPr>
        <p:txBody>
          <a:bodyPr wrap="none">
            <a:spAutoFit/>
          </a:bodyPr>
          <a:lstStyle/>
          <a:p>
            <a:r>
              <a:rPr lang="en-IN" sz="1600" b="1" dirty="0"/>
              <a:t>Value Proposition</a:t>
            </a:r>
            <a:endParaRPr lang="en-IN" sz="1600" dirty="0"/>
          </a:p>
        </p:txBody>
      </p:sp>
      <p:sp>
        <p:nvSpPr>
          <p:cNvPr id="29" name="Rectangle 28"/>
          <p:cNvSpPr/>
          <p:nvPr/>
        </p:nvSpPr>
        <p:spPr>
          <a:xfrm>
            <a:off x="8746353" y="1071505"/>
            <a:ext cx="1880836" cy="338554"/>
          </a:xfrm>
          <a:prstGeom prst="rect">
            <a:avLst/>
          </a:prstGeom>
        </p:spPr>
        <p:txBody>
          <a:bodyPr wrap="none">
            <a:spAutoFit/>
          </a:bodyPr>
          <a:lstStyle/>
          <a:p>
            <a:r>
              <a:rPr lang="en-IN" sz="1600" b="1" dirty="0" smtClean="0"/>
              <a:t>Customer Segments</a:t>
            </a:r>
            <a:endParaRPr lang="en-IN" sz="1600" dirty="0"/>
          </a:p>
        </p:txBody>
      </p:sp>
      <p:sp>
        <p:nvSpPr>
          <p:cNvPr id="30" name="Rectangle 29"/>
          <p:cNvSpPr/>
          <p:nvPr/>
        </p:nvSpPr>
        <p:spPr>
          <a:xfrm>
            <a:off x="9531042" y="2293720"/>
            <a:ext cx="1659172" cy="338554"/>
          </a:xfrm>
          <a:prstGeom prst="rect">
            <a:avLst/>
          </a:prstGeom>
        </p:spPr>
        <p:txBody>
          <a:bodyPr wrap="none">
            <a:spAutoFit/>
          </a:bodyPr>
          <a:lstStyle/>
          <a:p>
            <a:r>
              <a:rPr lang="en-US" sz="1600" b="1" dirty="0"/>
              <a:t>Revenue Streams</a:t>
            </a:r>
            <a:endParaRPr lang="en-IN" sz="1600" dirty="0"/>
          </a:p>
        </p:txBody>
      </p:sp>
      <p:sp>
        <p:nvSpPr>
          <p:cNvPr id="31" name="Rectangle 30"/>
          <p:cNvSpPr/>
          <p:nvPr/>
        </p:nvSpPr>
        <p:spPr>
          <a:xfrm>
            <a:off x="9531042" y="3554683"/>
            <a:ext cx="1321965" cy="338554"/>
          </a:xfrm>
          <a:prstGeom prst="rect">
            <a:avLst/>
          </a:prstGeom>
        </p:spPr>
        <p:txBody>
          <a:bodyPr wrap="none">
            <a:spAutoFit/>
          </a:bodyPr>
          <a:lstStyle/>
          <a:p>
            <a:r>
              <a:rPr lang="en-US" sz="1600" b="1" dirty="0"/>
              <a:t>Key Activities</a:t>
            </a:r>
            <a:endParaRPr lang="en-IN" sz="1600" dirty="0"/>
          </a:p>
        </p:txBody>
      </p:sp>
      <p:sp>
        <p:nvSpPr>
          <p:cNvPr id="32" name="Rectangle 31"/>
          <p:cNvSpPr/>
          <p:nvPr/>
        </p:nvSpPr>
        <p:spPr>
          <a:xfrm>
            <a:off x="8759100" y="4993111"/>
            <a:ext cx="1397819" cy="338554"/>
          </a:xfrm>
          <a:prstGeom prst="rect">
            <a:avLst/>
          </a:prstGeom>
        </p:spPr>
        <p:txBody>
          <a:bodyPr wrap="none">
            <a:spAutoFit/>
          </a:bodyPr>
          <a:lstStyle/>
          <a:p>
            <a:r>
              <a:rPr lang="en-IN" sz="1600" b="1" dirty="0"/>
              <a:t>Key Resources</a:t>
            </a:r>
            <a:endParaRPr lang="en-IN" sz="1600" dirty="0"/>
          </a:p>
        </p:txBody>
      </p:sp>
      <p:sp>
        <p:nvSpPr>
          <p:cNvPr id="33" name="Rectangle 32"/>
          <p:cNvSpPr/>
          <p:nvPr/>
        </p:nvSpPr>
        <p:spPr>
          <a:xfrm>
            <a:off x="6242044" y="5752150"/>
            <a:ext cx="1395126" cy="338554"/>
          </a:xfrm>
          <a:prstGeom prst="rect">
            <a:avLst/>
          </a:prstGeom>
        </p:spPr>
        <p:txBody>
          <a:bodyPr wrap="none">
            <a:spAutoFit/>
          </a:bodyPr>
          <a:lstStyle/>
          <a:p>
            <a:r>
              <a:rPr lang="en-US" sz="1600" b="1" dirty="0"/>
              <a:t>Cost Structure</a:t>
            </a:r>
            <a:endParaRPr lang="en-IN" sz="1600" dirty="0"/>
          </a:p>
        </p:txBody>
      </p:sp>
      <p:sp>
        <p:nvSpPr>
          <p:cNvPr id="34" name="Rectangle 33"/>
          <p:cNvSpPr/>
          <p:nvPr/>
        </p:nvSpPr>
        <p:spPr>
          <a:xfrm>
            <a:off x="3468763" y="5129391"/>
            <a:ext cx="960519" cy="338554"/>
          </a:xfrm>
          <a:prstGeom prst="rect">
            <a:avLst/>
          </a:prstGeom>
        </p:spPr>
        <p:txBody>
          <a:bodyPr wrap="none">
            <a:spAutoFit/>
          </a:bodyPr>
          <a:lstStyle/>
          <a:p>
            <a:r>
              <a:rPr lang="en-US" sz="1600" b="1" dirty="0"/>
              <a:t>Channels</a:t>
            </a:r>
            <a:endParaRPr lang="en-IN" sz="1600" dirty="0"/>
          </a:p>
        </p:txBody>
      </p:sp>
      <p:sp>
        <p:nvSpPr>
          <p:cNvPr id="35" name="Rectangle 34"/>
          <p:cNvSpPr/>
          <p:nvPr/>
        </p:nvSpPr>
        <p:spPr>
          <a:xfrm>
            <a:off x="2180678" y="3643049"/>
            <a:ext cx="2190984" cy="338554"/>
          </a:xfrm>
          <a:prstGeom prst="rect">
            <a:avLst/>
          </a:prstGeom>
        </p:spPr>
        <p:txBody>
          <a:bodyPr wrap="none">
            <a:spAutoFit/>
          </a:bodyPr>
          <a:lstStyle/>
          <a:p>
            <a:r>
              <a:rPr lang="en-US" sz="1600" b="1" dirty="0"/>
              <a:t>Customer Relationships</a:t>
            </a:r>
            <a:endParaRPr lang="en-IN" sz="1600" dirty="0"/>
          </a:p>
        </p:txBody>
      </p:sp>
      <p:sp>
        <p:nvSpPr>
          <p:cNvPr id="37" name="Rectangle 36"/>
          <p:cNvSpPr/>
          <p:nvPr/>
        </p:nvSpPr>
        <p:spPr>
          <a:xfrm>
            <a:off x="2186256" y="2293720"/>
            <a:ext cx="1606145" cy="338554"/>
          </a:xfrm>
          <a:prstGeom prst="rect">
            <a:avLst/>
          </a:prstGeom>
        </p:spPr>
        <p:txBody>
          <a:bodyPr wrap="none">
            <a:spAutoFit/>
          </a:bodyPr>
          <a:lstStyle/>
          <a:p>
            <a:r>
              <a:rPr lang="en-US" sz="1600" b="1" dirty="0"/>
              <a:t>Key Partnerships</a:t>
            </a:r>
            <a:endParaRPr lang="en-IN" sz="1600" dirty="0"/>
          </a:p>
        </p:txBody>
      </p:sp>
      <p:sp>
        <p:nvSpPr>
          <p:cNvPr id="38" name="Rectangle 37"/>
          <p:cNvSpPr/>
          <p:nvPr/>
        </p:nvSpPr>
        <p:spPr>
          <a:xfrm>
            <a:off x="2205270" y="1037672"/>
            <a:ext cx="1416734" cy="338554"/>
          </a:xfrm>
          <a:prstGeom prst="rect">
            <a:avLst/>
          </a:prstGeom>
        </p:spPr>
        <p:txBody>
          <a:bodyPr wrap="none">
            <a:spAutoFit/>
          </a:bodyPr>
          <a:lstStyle/>
          <a:p>
            <a:r>
              <a:rPr lang="en-US" sz="1600" b="1" dirty="0"/>
              <a:t>Market Trends</a:t>
            </a:r>
            <a:endParaRPr lang="en-IN" sz="1600" dirty="0"/>
          </a:p>
        </p:txBody>
      </p:sp>
      <p:sp>
        <p:nvSpPr>
          <p:cNvPr id="39" name="Rectangle 38"/>
          <p:cNvSpPr/>
          <p:nvPr/>
        </p:nvSpPr>
        <p:spPr>
          <a:xfrm>
            <a:off x="5361543" y="344164"/>
            <a:ext cx="3671981" cy="830997"/>
          </a:xfrm>
          <a:prstGeom prst="rect">
            <a:avLst/>
          </a:prstGeom>
        </p:spPr>
        <p:txBody>
          <a:bodyPr wrap="square">
            <a:spAutoFit/>
          </a:bodyPr>
          <a:lstStyle/>
          <a:p>
            <a:pPr>
              <a:buFont typeface="Arial" panose="020B0604020202020204" pitchFamily="34" charset="0"/>
              <a:buChar char="•"/>
            </a:pPr>
            <a:r>
              <a:rPr lang="en-IN" sz="1200" dirty="0">
                <a:solidFill>
                  <a:srgbClr val="374151"/>
                </a:solidFill>
              </a:rPr>
              <a:t>Simplifying digital product selection.</a:t>
            </a:r>
          </a:p>
          <a:p>
            <a:pPr>
              <a:buFont typeface="Arial" panose="020B0604020202020204" pitchFamily="34" charset="0"/>
              <a:buChar char="•"/>
            </a:pPr>
            <a:r>
              <a:rPr lang="en-IN" sz="1200" dirty="0">
                <a:solidFill>
                  <a:srgbClr val="374151"/>
                </a:solidFill>
              </a:rPr>
              <a:t>Personalized AI recommendations.</a:t>
            </a:r>
          </a:p>
          <a:p>
            <a:pPr>
              <a:buFont typeface="Arial" panose="020B0604020202020204" pitchFamily="34" charset="0"/>
              <a:buChar char="•"/>
            </a:pPr>
            <a:r>
              <a:rPr lang="en-IN" sz="1200" dirty="0">
                <a:solidFill>
                  <a:srgbClr val="374151"/>
                </a:solidFill>
              </a:rPr>
              <a:t>Extensive software, hosting, AI, and e-learning listings.</a:t>
            </a:r>
          </a:p>
          <a:p>
            <a:pPr>
              <a:buFont typeface="Arial" panose="020B0604020202020204" pitchFamily="34" charset="0"/>
              <a:buChar char="•"/>
            </a:pPr>
            <a:r>
              <a:rPr lang="en-IN" sz="1200" dirty="0">
                <a:solidFill>
                  <a:srgbClr val="374151"/>
                </a:solidFill>
              </a:rPr>
              <a:t>User-friendly, informative platform.</a:t>
            </a:r>
            <a:endParaRPr lang="en-IN" sz="1200" b="0" i="0" dirty="0">
              <a:solidFill>
                <a:srgbClr val="374151"/>
              </a:solidFill>
              <a:effectLst/>
            </a:endParaRPr>
          </a:p>
        </p:txBody>
      </p:sp>
      <p:sp>
        <p:nvSpPr>
          <p:cNvPr id="40" name="Rectangle 39"/>
          <p:cNvSpPr/>
          <p:nvPr/>
        </p:nvSpPr>
        <p:spPr>
          <a:xfrm>
            <a:off x="8759100" y="1309515"/>
            <a:ext cx="2465560"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Small to large businesses.</a:t>
            </a:r>
          </a:p>
          <a:p>
            <a:pPr>
              <a:buFont typeface="Arial" panose="020B0604020202020204" pitchFamily="34" charset="0"/>
              <a:buChar char="•"/>
            </a:pPr>
            <a:r>
              <a:rPr lang="en-US" sz="1200" dirty="0">
                <a:solidFill>
                  <a:srgbClr val="374151"/>
                </a:solidFill>
              </a:rPr>
              <a:t>Digital entrepreneurs and startups.</a:t>
            </a:r>
          </a:p>
          <a:p>
            <a:pPr>
              <a:buFont typeface="Arial" panose="020B0604020202020204" pitchFamily="34" charset="0"/>
              <a:buChar char="•"/>
            </a:pPr>
            <a:r>
              <a:rPr lang="en-US" sz="1200" dirty="0">
                <a:solidFill>
                  <a:srgbClr val="374151"/>
                </a:solidFill>
              </a:rPr>
              <a:t>Enterprises and individuals.</a:t>
            </a:r>
          </a:p>
          <a:p>
            <a:pPr>
              <a:buFont typeface="Arial" panose="020B0604020202020204" pitchFamily="34" charset="0"/>
              <a:buChar char="•"/>
            </a:pPr>
            <a:r>
              <a:rPr lang="en-US" sz="1200" dirty="0">
                <a:solidFill>
                  <a:srgbClr val="374151"/>
                </a:solidFill>
              </a:rPr>
              <a:t>Tech-savvy and non-tech users.</a:t>
            </a:r>
            <a:endParaRPr lang="en-US" sz="1200" b="0" i="0" dirty="0">
              <a:solidFill>
                <a:srgbClr val="374151"/>
              </a:solidFill>
              <a:effectLst/>
            </a:endParaRPr>
          </a:p>
        </p:txBody>
      </p:sp>
      <p:sp>
        <p:nvSpPr>
          <p:cNvPr id="41" name="Rectangle 40"/>
          <p:cNvSpPr/>
          <p:nvPr/>
        </p:nvSpPr>
        <p:spPr>
          <a:xfrm>
            <a:off x="9515653" y="2540736"/>
            <a:ext cx="2676347"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Affiliate partnerships with vendors.</a:t>
            </a:r>
          </a:p>
          <a:p>
            <a:pPr>
              <a:buFont typeface="Arial" panose="020B0604020202020204" pitchFamily="34" charset="0"/>
              <a:buChar char="•"/>
            </a:pPr>
            <a:r>
              <a:rPr lang="en-US" sz="1200" dirty="0">
                <a:solidFill>
                  <a:srgbClr val="374151"/>
                </a:solidFill>
              </a:rPr>
              <a:t>Advertisements and premium listings.</a:t>
            </a:r>
          </a:p>
          <a:p>
            <a:pPr>
              <a:buFont typeface="Arial" panose="020B0604020202020204" pitchFamily="34" charset="0"/>
              <a:buChar char="•"/>
            </a:pPr>
            <a:r>
              <a:rPr lang="en-US" sz="1200" dirty="0">
                <a:solidFill>
                  <a:srgbClr val="374151"/>
                </a:solidFill>
              </a:rPr>
              <a:t>Subscription-based premium features.</a:t>
            </a:r>
          </a:p>
          <a:p>
            <a:pPr>
              <a:buFont typeface="Arial" panose="020B0604020202020204" pitchFamily="34" charset="0"/>
              <a:buChar char="•"/>
            </a:pPr>
            <a:r>
              <a:rPr lang="en-US" sz="1200" dirty="0">
                <a:solidFill>
                  <a:srgbClr val="374151"/>
                </a:solidFill>
              </a:rPr>
              <a:t>Pay-per-click advertising.</a:t>
            </a:r>
            <a:endParaRPr lang="en-US" sz="1200" b="0" i="0" dirty="0">
              <a:solidFill>
                <a:srgbClr val="374151"/>
              </a:solidFill>
              <a:effectLst/>
            </a:endParaRPr>
          </a:p>
        </p:txBody>
      </p:sp>
      <p:sp>
        <p:nvSpPr>
          <p:cNvPr id="42" name="Rectangle 41"/>
          <p:cNvSpPr/>
          <p:nvPr/>
        </p:nvSpPr>
        <p:spPr>
          <a:xfrm>
            <a:off x="9521380" y="3815061"/>
            <a:ext cx="2555943" cy="1015663"/>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AI algorithm development.</a:t>
            </a:r>
          </a:p>
          <a:p>
            <a:pPr>
              <a:buFont typeface="Arial" panose="020B0604020202020204" pitchFamily="34" charset="0"/>
              <a:buChar char="•"/>
            </a:pPr>
            <a:r>
              <a:rPr lang="en-US" sz="1200" dirty="0">
                <a:solidFill>
                  <a:srgbClr val="374151"/>
                </a:solidFill>
              </a:rPr>
              <a:t>Vendor partnerships and listings.</a:t>
            </a:r>
          </a:p>
          <a:p>
            <a:pPr>
              <a:buFont typeface="Arial" panose="020B0604020202020204" pitchFamily="34" charset="0"/>
              <a:buChar char="•"/>
            </a:pPr>
            <a:r>
              <a:rPr lang="en-US" sz="1200" dirty="0">
                <a:solidFill>
                  <a:srgbClr val="374151"/>
                </a:solidFill>
              </a:rPr>
              <a:t>User interface and experience enhancement.</a:t>
            </a:r>
          </a:p>
          <a:p>
            <a:pPr>
              <a:buFont typeface="Arial" panose="020B0604020202020204" pitchFamily="34" charset="0"/>
              <a:buChar char="•"/>
            </a:pPr>
            <a:r>
              <a:rPr lang="en-US" sz="1200" dirty="0">
                <a:solidFill>
                  <a:srgbClr val="374151"/>
                </a:solidFill>
              </a:rPr>
              <a:t>Marketing and user acquisition.</a:t>
            </a:r>
            <a:endParaRPr lang="en-US" sz="1200" b="0" i="0" dirty="0">
              <a:solidFill>
                <a:srgbClr val="374151"/>
              </a:solidFill>
              <a:effectLst/>
            </a:endParaRPr>
          </a:p>
        </p:txBody>
      </p:sp>
      <p:sp>
        <p:nvSpPr>
          <p:cNvPr id="43" name="Rectangle 42"/>
          <p:cNvSpPr/>
          <p:nvPr/>
        </p:nvSpPr>
        <p:spPr>
          <a:xfrm>
            <a:off x="8746353" y="5220684"/>
            <a:ext cx="2106654"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AI algorithms and data.</a:t>
            </a:r>
          </a:p>
          <a:p>
            <a:pPr>
              <a:buFont typeface="Arial" panose="020B0604020202020204" pitchFamily="34" charset="0"/>
              <a:buChar char="•"/>
            </a:pPr>
            <a:r>
              <a:rPr lang="en-US" sz="1200" dirty="0">
                <a:solidFill>
                  <a:srgbClr val="374151"/>
                </a:solidFill>
              </a:rPr>
              <a:t>Vendor and product database.</a:t>
            </a:r>
          </a:p>
          <a:p>
            <a:pPr>
              <a:buFont typeface="Arial" panose="020B0604020202020204" pitchFamily="34" charset="0"/>
              <a:buChar char="•"/>
            </a:pPr>
            <a:r>
              <a:rPr lang="en-US" sz="1200" dirty="0">
                <a:solidFill>
                  <a:srgbClr val="374151"/>
                </a:solidFill>
              </a:rPr>
              <a:t>User-friendly platform.</a:t>
            </a:r>
          </a:p>
          <a:p>
            <a:pPr>
              <a:buFont typeface="Arial" panose="020B0604020202020204" pitchFamily="34" charset="0"/>
              <a:buChar char="•"/>
            </a:pPr>
            <a:r>
              <a:rPr lang="en-US" sz="1200" dirty="0">
                <a:solidFill>
                  <a:srgbClr val="374151"/>
                </a:solidFill>
              </a:rPr>
              <a:t>Marketing strategies.</a:t>
            </a:r>
            <a:endParaRPr lang="en-US" sz="1200" b="0" i="0" dirty="0">
              <a:solidFill>
                <a:srgbClr val="374151"/>
              </a:solidFill>
              <a:effectLst/>
            </a:endParaRPr>
          </a:p>
        </p:txBody>
      </p:sp>
      <p:sp>
        <p:nvSpPr>
          <p:cNvPr id="44" name="Rectangle 43"/>
          <p:cNvSpPr/>
          <p:nvPr/>
        </p:nvSpPr>
        <p:spPr>
          <a:xfrm>
            <a:off x="6251097" y="5975923"/>
            <a:ext cx="2420293"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Development and AI maintenance.</a:t>
            </a:r>
          </a:p>
          <a:p>
            <a:pPr>
              <a:buFont typeface="Arial" panose="020B0604020202020204" pitchFamily="34" charset="0"/>
              <a:buChar char="•"/>
            </a:pPr>
            <a:r>
              <a:rPr lang="en-US" sz="1200" dirty="0">
                <a:solidFill>
                  <a:srgbClr val="374151"/>
                </a:solidFill>
              </a:rPr>
              <a:t>Marketing and user acquisition.</a:t>
            </a:r>
          </a:p>
          <a:p>
            <a:pPr>
              <a:buFont typeface="Arial" panose="020B0604020202020204" pitchFamily="34" charset="0"/>
              <a:buChar char="•"/>
            </a:pPr>
            <a:r>
              <a:rPr lang="en-US" sz="1200" dirty="0">
                <a:solidFill>
                  <a:srgbClr val="374151"/>
                </a:solidFill>
              </a:rPr>
              <a:t>Staffing and operational costs.</a:t>
            </a:r>
          </a:p>
          <a:p>
            <a:pPr>
              <a:buFont typeface="Arial" panose="020B0604020202020204" pitchFamily="34" charset="0"/>
              <a:buChar char="•"/>
            </a:pPr>
            <a:r>
              <a:rPr lang="en-US" sz="1200" dirty="0">
                <a:solidFill>
                  <a:srgbClr val="374151"/>
                </a:solidFill>
              </a:rPr>
              <a:t>Hosting and IT infrastructure.</a:t>
            </a:r>
            <a:endParaRPr lang="en-US" sz="1200" b="0" i="0" dirty="0">
              <a:solidFill>
                <a:srgbClr val="374151"/>
              </a:solidFill>
              <a:effectLst/>
            </a:endParaRPr>
          </a:p>
        </p:txBody>
      </p:sp>
      <p:sp>
        <p:nvSpPr>
          <p:cNvPr id="45" name="Rectangle 44"/>
          <p:cNvSpPr/>
          <p:nvPr/>
        </p:nvSpPr>
        <p:spPr>
          <a:xfrm>
            <a:off x="3451736" y="5407258"/>
            <a:ext cx="2429676"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Online platform (web and mobile).</a:t>
            </a:r>
          </a:p>
          <a:p>
            <a:pPr>
              <a:buFont typeface="Arial" panose="020B0604020202020204" pitchFamily="34" charset="0"/>
              <a:buChar char="•"/>
            </a:pPr>
            <a:r>
              <a:rPr lang="en-US" sz="1200" dirty="0">
                <a:solidFill>
                  <a:srgbClr val="374151"/>
                </a:solidFill>
              </a:rPr>
              <a:t>Social media and SEO marketing.</a:t>
            </a:r>
          </a:p>
          <a:p>
            <a:pPr>
              <a:buFont typeface="Arial" panose="020B0604020202020204" pitchFamily="34" charset="0"/>
              <a:buChar char="•"/>
            </a:pPr>
            <a:r>
              <a:rPr lang="en-US" sz="1200" dirty="0">
                <a:solidFill>
                  <a:srgbClr val="374151"/>
                </a:solidFill>
              </a:rPr>
              <a:t>Partnerships and collaborations.</a:t>
            </a:r>
          </a:p>
          <a:p>
            <a:pPr>
              <a:buFont typeface="Arial" panose="020B0604020202020204" pitchFamily="34" charset="0"/>
              <a:buChar char="•"/>
            </a:pPr>
            <a:r>
              <a:rPr lang="en-US" sz="1200" dirty="0">
                <a:solidFill>
                  <a:srgbClr val="374151"/>
                </a:solidFill>
              </a:rPr>
              <a:t>User referrals and word-of-mouth.</a:t>
            </a:r>
            <a:endParaRPr lang="en-US" sz="1200" b="0" i="0" dirty="0">
              <a:solidFill>
                <a:srgbClr val="374151"/>
              </a:solidFill>
              <a:effectLst/>
            </a:endParaRPr>
          </a:p>
        </p:txBody>
      </p:sp>
      <p:sp>
        <p:nvSpPr>
          <p:cNvPr id="46" name="Rectangle 45"/>
          <p:cNvSpPr/>
          <p:nvPr/>
        </p:nvSpPr>
        <p:spPr>
          <a:xfrm>
            <a:off x="2188152" y="3912806"/>
            <a:ext cx="2311651"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Self-service platform.</a:t>
            </a:r>
          </a:p>
          <a:p>
            <a:pPr>
              <a:buFont typeface="Arial" panose="020B0604020202020204" pitchFamily="34" charset="0"/>
              <a:buChar char="•"/>
            </a:pPr>
            <a:r>
              <a:rPr lang="en-US" sz="1200" dirty="0">
                <a:solidFill>
                  <a:srgbClr val="374151"/>
                </a:solidFill>
              </a:rPr>
              <a:t>AI-driven recommendations.</a:t>
            </a:r>
          </a:p>
          <a:p>
            <a:pPr>
              <a:buFont typeface="Arial" panose="020B0604020202020204" pitchFamily="34" charset="0"/>
              <a:buChar char="•"/>
            </a:pPr>
            <a:r>
              <a:rPr lang="en-US" sz="1200" dirty="0">
                <a:solidFill>
                  <a:srgbClr val="374151"/>
                </a:solidFill>
              </a:rPr>
              <a:t>User support and assistance.</a:t>
            </a:r>
          </a:p>
          <a:p>
            <a:pPr>
              <a:buFont typeface="Arial" panose="020B0604020202020204" pitchFamily="34" charset="0"/>
              <a:buChar char="•"/>
            </a:pPr>
            <a:r>
              <a:rPr lang="en-US" sz="1200" dirty="0">
                <a:solidFill>
                  <a:srgbClr val="374151"/>
                </a:solidFill>
              </a:rPr>
              <a:t>User feedback and community.</a:t>
            </a:r>
            <a:endParaRPr lang="en-US" sz="1200" b="0" i="0" dirty="0">
              <a:solidFill>
                <a:srgbClr val="374151"/>
              </a:solidFill>
              <a:effectLst/>
            </a:endParaRPr>
          </a:p>
        </p:txBody>
      </p:sp>
      <p:sp>
        <p:nvSpPr>
          <p:cNvPr id="47" name="Rectangle 46"/>
          <p:cNvSpPr/>
          <p:nvPr/>
        </p:nvSpPr>
        <p:spPr>
          <a:xfrm>
            <a:off x="2188152" y="2598003"/>
            <a:ext cx="2620370"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Vendor partnerships.</a:t>
            </a:r>
          </a:p>
          <a:p>
            <a:pPr>
              <a:buFont typeface="Arial" panose="020B0604020202020204" pitchFamily="34" charset="0"/>
              <a:buChar char="•"/>
            </a:pPr>
            <a:r>
              <a:rPr lang="en-US" sz="1200" dirty="0">
                <a:solidFill>
                  <a:srgbClr val="374151"/>
                </a:solidFill>
              </a:rPr>
              <a:t>Affiliate marketing collaborations.</a:t>
            </a:r>
          </a:p>
          <a:p>
            <a:pPr>
              <a:buFont typeface="Arial" panose="020B0604020202020204" pitchFamily="34" charset="0"/>
              <a:buChar char="•"/>
            </a:pPr>
            <a:r>
              <a:rPr lang="en-US" sz="1200" dirty="0">
                <a:solidFill>
                  <a:srgbClr val="374151"/>
                </a:solidFill>
              </a:rPr>
              <a:t>Marketing and advertising alliances.</a:t>
            </a:r>
          </a:p>
          <a:p>
            <a:pPr>
              <a:buFont typeface="Arial" panose="020B0604020202020204" pitchFamily="34" charset="0"/>
              <a:buChar char="•"/>
            </a:pPr>
            <a:r>
              <a:rPr lang="en-US" sz="1200" dirty="0">
                <a:solidFill>
                  <a:srgbClr val="374151"/>
                </a:solidFill>
              </a:rPr>
              <a:t>User feedback and community.</a:t>
            </a:r>
            <a:endParaRPr lang="en-US" sz="1200" b="0" i="0" dirty="0">
              <a:solidFill>
                <a:srgbClr val="374151"/>
              </a:solidFill>
              <a:effectLst/>
            </a:endParaRPr>
          </a:p>
        </p:txBody>
      </p:sp>
      <p:sp>
        <p:nvSpPr>
          <p:cNvPr id="48" name="Rectangle 47"/>
          <p:cNvSpPr/>
          <p:nvPr/>
        </p:nvSpPr>
        <p:spPr>
          <a:xfrm>
            <a:off x="2197436" y="1269692"/>
            <a:ext cx="3262265" cy="830997"/>
          </a:xfrm>
          <a:prstGeom prst="rect">
            <a:avLst/>
          </a:prstGeom>
        </p:spPr>
        <p:txBody>
          <a:bodyPr wrap="square">
            <a:spAutoFit/>
          </a:bodyPr>
          <a:lstStyle/>
          <a:p>
            <a:pPr>
              <a:buFont typeface="Arial" panose="020B0604020202020204" pitchFamily="34" charset="0"/>
              <a:buChar char="•"/>
            </a:pPr>
            <a:r>
              <a:rPr lang="en-US" sz="1200" dirty="0">
                <a:solidFill>
                  <a:srgbClr val="374151"/>
                </a:solidFill>
              </a:rPr>
              <a:t>Expanding reliance on digital solutions.</a:t>
            </a:r>
          </a:p>
          <a:p>
            <a:pPr>
              <a:buFont typeface="Arial" panose="020B0604020202020204" pitchFamily="34" charset="0"/>
              <a:buChar char="•"/>
            </a:pPr>
            <a:r>
              <a:rPr lang="en-US" sz="1200" dirty="0">
                <a:solidFill>
                  <a:srgbClr val="374151"/>
                </a:solidFill>
              </a:rPr>
              <a:t>AI-driven decision-making.</a:t>
            </a:r>
          </a:p>
          <a:p>
            <a:pPr>
              <a:buFont typeface="Arial" panose="020B0604020202020204" pitchFamily="34" charset="0"/>
              <a:buChar char="•"/>
            </a:pPr>
            <a:r>
              <a:rPr lang="en-US" sz="1200" dirty="0">
                <a:solidFill>
                  <a:srgbClr val="374151"/>
                </a:solidFill>
              </a:rPr>
              <a:t>Growth in e-learning and software adoption.</a:t>
            </a:r>
          </a:p>
          <a:p>
            <a:pPr>
              <a:buFont typeface="Arial" panose="020B0604020202020204" pitchFamily="34" charset="0"/>
              <a:buChar char="•"/>
            </a:pPr>
            <a:r>
              <a:rPr lang="en-US" sz="1200" dirty="0">
                <a:solidFill>
                  <a:srgbClr val="374151"/>
                </a:solidFill>
              </a:rPr>
              <a:t>User-friendly, informative platforms in demand.</a:t>
            </a:r>
            <a:endParaRPr lang="en-US" sz="1200" b="0" i="0" dirty="0">
              <a:solidFill>
                <a:srgbClr val="374151"/>
              </a:solidFill>
              <a:effectLst/>
            </a:endParaRP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2028" y="1255429"/>
            <a:ext cx="409140" cy="409140"/>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16284" y="3887553"/>
            <a:ext cx="474415" cy="397908"/>
          </a:xfrm>
          <a:prstGeom prst="rect">
            <a:avLst/>
          </a:prstGeom>
        </p:spPr>
      </p:pic>
      <p:pic>
        <p:nvPicPr>
          <p:cNvPr id="50" name="Picture 4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59718" y="2661650"/>
            <a:ext cx="477935" cy="387934"/>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695930" y="3884184"/>
            <a:ext cx="389176" cy="389176"/>
          </a:xfrm>
          <a:prstGeom prst="rect">
            <a:avLst/>
          </a:prstGeom>
        </p:spPr>
      </p:pic>
      <p:pic>
        <p:nvPicPr>
          <p:cNvPr id="52" name="Picture 5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976019" y="4900147"/>
            <a:ext cx="384325" cy="384325"/>
          </a:xfrm>
          <a:prstGeom prst="rect">
            <a:avLst/>
          </a:prstGeom>
        </p:spPr>
      </p:pic>
      <p:pic>
        <p:nvPicPr>
          <p:cNvPr id="55" name="Picture 5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750604" y="5263534"/>
            <a:ext cx="466202" cy="408455"/>
          </a:xfrm>
          <a:prstGeom prst="rect">
            <a:avLst/>
          </a:prstGeom>
        </p:spPr>
      </p:pic>
      <p:pic>
        <p:nvPicPr>
          <p:cNvPr id="56" name="Picture 5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20911" y="4894659"/>
            <a:ext cx="390153" cy="387961"/>
          </a:xfrm>
          <a:prstGeom prst="rect">
            <a:avLst/>
          </a:prstGeom>
        </p:spPr>
      </p:pic>
      <p:pic>
        <p:nvPicPr>
          <p:cNvPr id="58" name="Picture 57"/>
          <p:cNvPicPr>
            <a:picLocks noChangeAspect="1"/>
          </p:cNvPicPr>
          <p:nvPr/>
        </p:nvPicPr>
        <p:blipFill>
          <a:blip r:embed="rId11"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4837641" y="2684941"/>
            <a:ext cx="487207" cy="393374"/>
          </a:xfrm>
          <a:prstGeom prst="rect">
            <a:avLst/>
          </a:prstGeom>
        </p:spPr>
      </p:pic>
      <p:pic>
        <p:nvPicPr>
          <p:cNvPr id="15" name="Picture 1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426621" y="1640081"/>
            <a:ext cx="773612" cy="435157"/>
          </a:xfrm>
          <a:prstGeom prst="rect">
            <a:avLst/>
          </a:prstGeom>
        </p:spPr>
      </p:pic>
      <p:pic>
        <p:nvPicPr>
          <p:cNvPr id="53" name="Picture 52"/>
          <p:cNvPicPr>
            <a:picLocks noChangeAspect="1"/>
          </p:cNvPicPr>
          <p:nvPr/>
        </p:nvPicPr>
        <p:blipFill>
          <a:blip r:embed="rId13" cstate="print">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7931870" y="1626733"/>
            <a:ext cx="446294" cy="437873"/>
          </a:xfrm>
          <a:prstGeom prst="rect">
            <a:avLst/>
          </a:prstGeom>
        </p:spPr>
      </p:pic>
      <p:sp>
        <p:nvSpPr>
          <p:cNvPr id="57" name="Rectangle 56"/>
          <p:cNvSpPr/>
          <p:nvPr/>
        </p:nvSpPr>
        <p:spPr>
          <a:xfrm>
            <a:off x="6099473" y="3239747"/>
            <a:ext cx="1854995" cy="400110"/>
          </a:xfrm>
          <a:prstGeom prst="rect">
            <a:avLst/>
          </a:prstGeom>
        </p:spPr>
        <p:txBody>
          <a:bodyPr wrap="none">
            <a:spAutoFit/>
          </a:bodyPr>
          <a:lstStyle/>
          <a:p>
            <a:r>
              <a:rPr lang="en-IN" sz="2000" b="1" dirty="0" smtClean="0">
                <a:solidFill>
                  <a:schemeClr val="dk1"/>
                </a:solidFill>
              </a:rPr>
              <a:t>Business Model</a:t>
            </a:r>
            <a:endParaRPr lang="en-IN" sz="2000" b="1" dirty="0"/>
          </a:p>
        </p:txBody>
      </p:sp>
      <p:sp>
        <p:nvSpPr>
          <p:cNvPr id="54" name="Curved Down Arrow 53"/>
          <p:cNvSpPr/>
          <p:nvPr/>
        </p:nvSpPr>
        <p:spPr>
          <a:xfrm>
            <a:off x="5825953" y="2192928"/>
            <a:ext cx="2413539" cy="1020403"/>
          </a:xfrm>
          <a:prstGeom prst="curvedDownArrow">
            <a:avLst>
              <a:gd name="adj1" fmla="val 18909"/>
              <a:gd name="adj2" fmla="val 35966"/>
              <a:gd name="adj3" fmla="val 25000"/>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9" name="Curved Down Arrow 58"/>
          <p:cNvSpPr/>
          <p:nvPr/>
        </p:nvSpPr>
        <p:spPr>
          <a:xfrm rot="10800000">
            <a:off x="5760441" y="3611869"/>
            <a:ext cx="2413539" cy="1020403"/>
          </a:xfrm>
          <a:prstGeom prst="curvedDownArrow">
            <a:avLst>
              <a:gd name="adj1" fmla="val 18909"/>
              <a:gd name="adj2" fmla="val 35966"/>
              <a:gd name="adj3" fmla="val 25000"/>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60" name="Table 59"/>
          <p:cNvGraphicFramePr>
            <a:graphicFrameLocks noGrp="1"/>
          </p:cNvGraphicFramePr>
          <p:nvPr>
            <p:extLst>
              <p:ext uri="{D42A27DB-BD31-4B8C-83A1-F6EECF244321}">
                <p14:modId xmlns:p14="http://schemas.microsoft.com/office/powerpoint/2010/main" val="1897273089"/>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1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1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Business Model</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2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61" name="TextBox 60"/>
          <p:cNvSpPr txBox="1"/>
          <p:nvPr/>
        </p:nvSpPr>
        <p:spPr>
          <a:xfrm>
            <a:off x="11658600" y="143501"/>
            <a:ext cx="418723" cy="307777"/>
          </a:xfrm>
          <a:prstGeom prst="rect">
            <a:avLst/>
          </a:prstGeom>
          <a:noFill/>
        </p:spPr>
        <p:txBody>
          <a:bodyPr wrap="square" rtlCol="0">
            <a:spAutoFit/>
          </a:bodyPr>
          <a:lstStyle/>
          <a:p>
            <a:r>
              <a:rPr lang="en-US" sz="1400" dirty="0" smtClean="0"/>
              <a:t>11</a:t>
            </a:r>
            <a:endParaRPr lang="en-IN" sz="1400" dirty="0"/>
          </a:p>
        </p:txBody>
      </p:sp>
    </p:spTree>
    <p:extLst>
      <p:ext uri="{BB962C8B-B14F-4D97-AF65-F5344CB8AC3E}">
        <p14:creationId xmlns:p14="http://schemas.microsoft.com/office/powerpoint/2010/main" val="1147961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08989" y="98362"/>
            <a:ext cx="2890150" cy="369332"/>
          </a:xfrm>
          <a:prstGeom prst="rect">
            <a:avLst/>
          </a:prstGeom>
        </p:spPr>
        <p:txBody>
          <a:bodyPr wrap="none">
            <a:spAutoFit/>
          </a:bodyPr>
          <a:lstStyle/>
          <a:p>
            <a:r>
              <a:rPr lang="en-IN" b="1" dirty="0" smtClean="0">
                <a:solidFill>
                  <a:schemeClr val="dk1"/>
                </a:solidFill>
              </a:rPr>
              <a:t>Business Model </a:t>
            </a:r>
            <a:r>
              <a:rPr lang="en-IN" b="1" dirty="0">
                <a:solidFill>
                  <a:schemeClr val="dk1"/>
                </a:solidFill>
              </a:rPr>
              <a:t>- Elaborated</a:t>
            </a:r>
            <a:endParaRPr lang="en-IN" b="1" dirty="0"/>
          </a:p>
        </p:txBody>
      </p:sp>
      <p:sp>
        <p:nvSpPr>
          <p:cNvPr id="6" name="Rounded Rectangle 5"/>
          <p:cNvSpPr/>
          <p:nvPr/>
        </p:nvSpPr>
        <p:spPr>
          <a:xfrm>
            <a:off x="4969899"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2/3</a:t>
            </a:r>
            <a:endParaRPr lang="en-IN" b="1" dirty="0">
              <a:solidFill>
                <a:schemeClr val="tx1"/>
              </a:solidFill>
            </a:endParaRPr>
          </a:p>
        </p:txBody>
      </p:sp>
      <p:sp>
        <p:nvSpPr>
          <p:cNvPr id="2" name="Rectangle 1"/>
          <p:cNvSpPr/>
          <p:nvPr/>
        </p:nvSpPr>
        <p:spPr>
          <a:xfrm>
            <a:off x="2108990" y="569194"/>
            <a:ext cx="9886852" cy="6124754"/>
          </a:xfrm>
          <a:prstGeom prst="rect">
            <a:avLst/>
          </a:prstGeom>
        </p:spPr>
        <p:txBody>
          <a:bodyPr wrap="square">
            <a:spAutoFit/>
          </a:bodyPr>
          <a:lstStyle/>
          <a:p>
            <a:pPr marL="285750" indent="-285750" algn="just">
              <a:buFont typeface="Arial" panose="020B0604020202020204" pitchFamily="34" charset="0"/>
              <a:buChar char="•"/>
            </a:pPr>
            <a:r>
              <a:rPr lang="en-IN" sz="1400" b="1" dirty="0"/>
              <a:t>Value Proposition:</a:t>
            </a:r>
          </a:p>
          <a:p>
            <a:pPr marL="742950" lvl="1" indent="-285750" algn="just">
              <a:buFont typeface="Arial" panose="020B0604020202020204" pitchFamily="34" charset="0"/>
              <a:buChar char="•"/>
            </a:pPr>
            <a:r>
              <a:rPr lang="en-IN" sz="1400" b="1" dirty="0" smtClean="0"/>
              <a:t>Simplify </a:t>
            </a:r>
            <a:r>
              <a:rPr lang="en-IN" sz="1400" b="1" dirty="0"/>
              <a:t>Digital Choices:</a:t>
            </a:r>
            <a:r>
              <a:rPr lang="en-IN" sz="1400" dirty="0"/>
              <a:t> IT-Mart24 simplifies the process of selecting digital products and services for businesses and individuals, making it user-friendly and accessible to non-tech users.</a:t>
            </a:r>
          </a:p>
          <a:p>
            <a:pPr marL="742950" lvl="1" indent="-285750" algn="just">
              <a:buFont typeface="Arial" panose="020B0604020202020204" pitchFamily="34" charset="0"/>
              <a:buChar char="•"/>
            </a:pPr>
            <a:r>
              <a:rPr lang="en-IN" sz="1400" b="1" dirty="0"/>
              <a:t>Personalized AI Recommendations:</a:t>
            </a:r>
            <a:r>
              <a:rPr lang="en-IN" sz="1400" dirty="0"/>
              <a:t> Our AI-driven recommendation system offers personalized suggestions, ensuring users find the perfect solutions for their needs.</a:t>
            </a:r>
          </a:p>
          <a:p>
            <a:pPr marL="742950" lvl="1" indent="-285750" algn="just">
              <a:buFont typeface="Arial" panose="020B0604020202020204" pitchFamily="34" charset="0"/>
              <a:buChar char="•"/>
            </a:pPr>
            <a:r>
              <a:rPr lang="en-IN" sz="1400" b="1" dirty="0"/>
              <a:t>Comprehensive Listings:</a:t>
            </a:r>
            <a:r>
              <a:rPr lang="en-IN" sz="1400" dirty="0"/>
              <a:t> We offer extensive listings of software, hosting providers, AI tools, and digital tutorials across various industries.</a:t>
            </a:r>
          </a:p>
          <a:p>
            <a:pPr marL="742950" lvl="1" indent="-285750" algn="just">
              <a:buFont typeface="Arial" panose="020B0604020202020204" pitchFamily="34" charset="0"/>
              <a:buChar char="•"/>
            </a:pPr>
            <a:r>
              <a:rPr lang="en-IN" sz="1400" b="1" dirty="0"/>
              <a:t>User-Friendly Platform:</a:t>
            </a:r>
            <a:r>
              <a:rPr lang="en-IN" sz="1400" dirty="0"/>
              <a:t> Our platform is designed for easy navigation and understanding, enhancing the user </a:t>
            </a:r>
            <a:r>
              <a:rPr lang="en-IN" sz="1400" dirty="0" smtClean="0"/>
              <a:t>experience.</a:t>
            </a:r>
          </a:p>
          <a:p>
            <a:pPr marL="285750" indent="-285750" algn="just">
              <a:buFont typeface="Arial" panose="020B0604020202020204" pitchFamily="34" charset="0"/>
              <a:buChar char="•"/>
            </a:pPr>
            <a:r>
              <a:rPr lang="en-IN" sz="1400" b="1" dirty="0" smtClean="0"/>
              <a:t>Customer Segments:</a:t>
            </a:r>
          </a:p>
          <a:p>
            <a:pPr marL="742950" lvl="1" indent="-285750" algn="just">
              <a:buFont typeface="Arial" panose="020B0604020202020204" pitchFamily="34" charset="0"/>
              <a:buChar char="•"/>
            </a:pPr>
            <a:r>
              <a:rPr lang="en-IN" sz="1400" b="1" dirty="0" smtClean="0"/>
              <a:t>Businesses</a:t>
            </a:r>
            <a:r>
              <a:rPr lang="en-IN" sz="1400" b="1" dirty="0"/>
              <a:t>:</a:t>
            </a:r>
            <a:r>
              <a:rPr lang="en-IN" sz="1400" dirty="0"/>
              <a:t> Seeking software solutions, hosting, and AI </a:t>
            </a:r>
            <a:r>
              <a:rPr lang="en-IN" sz="1400" dirty="0" smtClean="0"/>
              <a:t>tools.</a:t>
            </a:r>
          </a:p>
          <a:p>
            <a:pPr marL="742950" lvl="1" indent="-285750" algn="just">
              <a:buFont typeface="Arial" panose="020B0604020202020204" pitchFamily="34" charset="0"/>
              <a:buChar char="•"/>
            </a:pPr>
            <a:r>
              <a:rPr lang="en-IN" sz="1400" b="1" dirty="0" smtClean="0"/>
              <a:t>Digital </a:t>
            </a:r>
            <a:r>
              <a:rPr lang="en-IN" sz="1400" b="1" dirty="0"/>
              <a:t>Entrepreneurs:</a:t>
            </a:r>
            <a:r>
              <a:rPr lang="en-IN" sz="1400" dirty="0"/>
              <a:t> In need of a one-stop platform for their tech </a:t>
            </a:r>
            <a:r>
              <a:rPr lang="en-IN" sz="1400" dirty="0" smtClean="0"/>
              <a:t>needs.</a:t>
            </a:r>
          </a:p>
          <a:p>
            <a:pPr marL="742950" lvl="1" indent="-285750" algn="just">
              <a:buFont typeface="Arial" panose="020B0604020202020204" pitchFamily="34" charset="0"/>
              <a:buChar char="•"/>
            </a:pPr>
            <a:r>
              <a:rPr lang="en-IN" sz="1400" b="1" dirty="0" smtClean="0"/>
              <a:t>Enterprises</a:t>
            </a:r>
            <a:r>
              <a:rPr lang="en-IN" sz="1400" b="1" dirty="0"/>
              <a:t>:</a:t>
            </a:r>
            <a:r>
              <a:rPr lang="en-IN" sz="1400" dirty="0"/>
              <a:t> Requiring scalable hosting and AI </a:t>
            </a:r>
            <a:r>
              <a:rPr lang="en-IN" sz="1400" dirty="0" smtClean="0"/>
              <a:t>solutions.</a:t>
            </a:r>
          </a:p>
          <a:p>
            <a:pPr marL="742950" lvl="1" indent="-285750" algn="just">
              <a:buFont typeface="Arial" panose="020B0604020202020204" pitchFamily="34" charset="0"/>
              <a:buChar char="•"/>
            </a:pPr>
            <a:r>
              <a:rPr lang="en-IN" sz="1400" b="1" dirty="0" smtClean="0"/>
              <a:t>Individuals </a:t>
            </a:r>
            <a:r>
              <a:rPr lang="en-IN" sz="1400" b="1" dirty="0"/>
              <a:t>and Professionals:</a:t>
            </a:r>
            <a:r>
              <a:rPr lang="en-IN" sz="1400" dirty="0"/>
              <a:t> Seeking digital tutorials and software.</a:t>
            </a:r>
          </a:p>
          <a:p>
            <a:pPr marL="285750" indent="-285750" algn="just">
              <a:buFont typeface="Arial" panose="020B0604020202020204" pitchFamily="34" charset="0"/>
              <a:buChar char="•"/>
            </a:pPr>
            <a:r>
              <a:rPr lang="en-US" sz="1400" b="1" dirty="0"/>
              <a:t>Revenue Streams</a:t>
            </a:r>
            <a:r>
              <a:rPr lang="en-US" sz="1400" b="1" dirty="0" smtClean="0"/>
              <a:t>:</a:t>
            </a:r>
            <a:endParaRPr lang="en-US" sz="1400" b="1" dirty="0"/>
          </a:p>
          <a:p>
            <a:pPr marL="742950" lvl="1" indent="-285750" algn="just">
              <a:buFont typeface="Arial" panose="020B0604020202020204" pitchFamily="34" charset="0"/>
              <a:buChar char="•"/>
            </a:pPr>
            <a:r>
              <a:rPr lang="en-US" sz="1400" b="1" dirty="0"/>
              <a:t>Affiliate Partnerships:</a:t>
            </a:r>
            <a:r>
              <a:rPr lang="en-US" sz="1400" dirty="0"/>
              <a:t> Earnings from vendors through affiliate programs.</a:t>
            </a:r>
          </a:p>
          <a:p>
            <a:pPr marL="742950" lvl="1" indent="-285750" algn="just">
              <a:buFont typeface="Arial" panose="020B0604020202020204" pitchFamily="34" charset="0"/>
              <a:buChar char="•"/>
            </a:pPr>
            <a:r>
              <a:rPr lang="en-US" sz="1400" b="1" dirty="0"/>
              <a:t>Advertisements:</a:t>
            </a:r>
            <a:r>
              <a:rPr lang="en-US" sz="1400" dirty="0"/>
              <a:t> Generating revenue through targeted ads.</a:t>
            </a:r>
          </a:p>
          <a:p>
            <a:pPr marL="742950" lvl="1" indent="-285750" algn="just">
              <a:buFont typeface="Arial" panose="020B0604020202020204" pitchFamily="34" charset="0"/>
              <a:buChar char="•"/>
            </a:pPr>
            <a:r>
              <a:rPr lang="en-US" sz="1400" b="1" dirty="0"/>
              <a:t>Subscription Model:</a:t>
            </a:r>
            <a:r>
              <a:rPr lang="en-US" sz="1400" dirty="0"/>
              <a:t> Offering premium features through a subscription plan.</a:t>
            </a:r>
          </a:p>
          <a:p>
            <a:pPr marL="742950" lvl="1" indent="-285750" algn="just">
              <a:buFont typeface="Arial" panose="020B0604020202020204" pitchFamily="34" charset="0"/>
              <a:buChar char="•"/>
            </a:pPr>
            <a:r>
              <a:rPr lang="en-US" sz="1400" b="1" dirty="0"/>
              <a:t>Pay-Per-Click (PPC) Advertising:</a:t>
            </a:r>
            <a:r>
              <a:rPr lang="en-US" sz="1400" dirty="0"/>
              <a:t> Earnings from PPC ads</a:t>
            </a:r>
            <a:r>
              <a:rPr lang="en-US" sz="1400" dirty="0" smtClean="0"/>
              <a:t>.</a:t>
            </a:r>
          </a:p>
          <a:p>
            <a:pPr marL="285750" indent="-285750" algn="just">
              <a:buFont typeface="Arial" panose="020B0604020202020204" pitchFamily="34" charset="0"/>
              <a:buChar char="•"/>
            </a:pPr>
            <a:r>
              <a:rPr lang="en-US" sz="1400" b="1" dirty="0"/>
              <a:t>Key </a:t>
            </a:r>
            <a:r>
              <a:rPr lang="en-US" sz="1400" b="1" dirty="0" smtClean="0"/>
              <a:t>Activities:</a:t>
            </a:r>
          </a:p>
          <a:p>
            <a:pPr marL="742950" lvl="1" indent="-285750" algn="just">
              <a:buFont typeface="Arial" panose="020B0604020202020204" pitchFamily="34" charset="0"/>
              <a:buChar char="•"/>
            </a:pPr>
            <a:r>
              <a:rPr lang="en-US" sz="1400" b="1" dirty="0" smtClean="0"/>
              <a:t>AI </a:t>
            </a:r>
            <a:r>
              <a:rPr lang="en-US" sz="1400" b="1" dirty="0"/>
              <a:t>Algorithm Development:</a:t>
            </a:r>
            <a:r>
              <a:rPr lang="en-US" sz="1400" dirty="0"/>
              <a:t> Continuous development and improvement of our recommendation system.</a:t>
            </a:r>
          </a:p>
          <a:p>
            <a:pPr marL="742950" lvl="1" indent="-285750" algn="just">
              <a:buFont typeface="Arial" panose="020B0604020202020204" pitchFamily="34" charset="0"/>
              <a:buChar char="•"/>
            </a:pPr>
            <a:r>
              <a:rPr lang="en-US" sz="1400" b="1" dirty="0"/>
              <a:t>Vendor Partnerships:</a:t>
            </a:r>
            <a:r>
              <a:rPr lang="en-US" sz="1400" dirty="0"/>
              <a:t> Establishing and maintaining relationships with vendors.</a:t>
            </a:r>
          </a:p>
          <a:p>
            <a:pPr marL="742950" lvl="1" indent="-285750" algn="just">
              <a:buFont typeface="Arial" panose="020B0604020202020204" pitchFamily="34" charset="0"/>
              <a:buChar char="•"/>
            </a:pPr>
            <a:r>
              <a:rPr lang="en-US" sz="1400" b="1" dirty="0"/>
              <a:t>User Interface Enhancement:</a:t>
            </a:r>
            <a:r>
              <a:rPr lang="en-US" sz="1400" dirty="0"/>
              <a:t> Ensuring a seamless user experience.</a:t>
            </a:r>
          </a:p>
          <a:p>
            <a:pPr marL="742950" lvl="1" indent="-285750" algn="just">
              <a:buFont typeface="Arial" panose="020B0604020202020204" pitchFamily="34" charset="0"/>
              <a:buChar char="•"/>
            </a:pPr>
            <a:r>
              <a:rPr lang="en-US" sz="1400" b="1" dirty="0"/>
              <a:t>Strategic Marketing:</a:t>
            </a:r>
            <a:r>
              <a:rPr lang="en-US" sz="1400" dirty="0"/>
              <a:t> Attracting and retaining users through marketing and user acquisition efforts</a:t>
            </a:r>
            <a:r>
              <a:rPr lang="en-US" sz="1400" dirty="0" smtClean="0"/>
              <a:t>.</a:t>
            </a:r>
          </a:p>
          <a:p>
            <a:pPr marL="285750" indent="-285750" algn="just">
              <a:buFont typeface="Arial" panose="020B0604020202020204" pitchFamily="34" charset="0"/>
              <a:buChar char="•"/>
            </a:pPr>
            <a:r>
              <a:rPr lang="en-IN" sz="1400" b="1" dirty="0"/>
              <a:t>Key Resources</a:t>
            </a:r>
            <a:r>
              <a:rPr lang="en-IN" sz="1400" b="1" dirty="0" smtClean="0"/>
              <a:t>:</a:t>
            </a:r>
            <a:endParaRPr lang="en-IN" sz="1400" b="1" dirty="0"/>
          </a:p>
          <a:p>
            <a:pPr marL="742950" lvl="1" indent="-285750" algn="just">
              <a:buFont typeface="Arial" panose="020B0604020202020204" pitchFamily="34" charset="0"/>
              <a:buChar char="•"/>
            </a:pPr>
            <a:r>
              <a:rPr lang="en-IN" sz="1400" b="1" dirty="0"/>
              <a:t>AI Algorithms:</a:t>
            </a:r>
            <a:r>
              <a:rPr lang="en-IN" sz="1400" dirty="0"/>
              <a:t> The core of our recommendation system.</a:t>
            </a:r>
          </a:p>
          <a:p>
            <a:pPr marL="742950" lvl="1" indent="-285750" algn="just">
              <a:buFont typeface="Arial" panose="020B0604020202020204" pitchFamily="34" charset="0"/>
              <a:buChar char="•"/>
            </a:pPr>
            <a:r>
              <a:rPr lang="en-IN" sz="1400" b="1" dirty="0"/>
              <a:t>Comprehensive Database:</a:t>
            </a:r>
            <a:r>
              <a:rPr lang="en-IN" sz="1400" dirty="0"/>
              <a:t> Extensive vendor and product listings.</a:t>
            </a:r>
          </a:p>
          <a:p>
            <a:pPr marL="742950" lvl="1" indent="-285750" algn="just">
              <a:buFont typeface="Arial" panose="020B0604020202020204" pitchFamily="34" charset="0"/>
              <a:buChar char="•"/>
            </a:pPr>
            <a:r>
              <a:rPr lang="en-IN" sz="1400" b="1" dirty="0"/>
              <a:t>User-Friendly Platform:</a:t>
            </a:r>
            <a:r>
              <a:rPr lang="en-IN" sz="1400" dirty="0"/>
              <a:t> Designed for simplicity.</a:t>
            </a:r>
          </a:p>
          <a:p>
            <a:pPr marL="742950" lvl="1" indent="-285750" algn="just">
              <a:buFont typeface="Arial" panose="020B0604020202020204" pitchFamily="34" charset="0"/>
              <a:buChar char="•"/>
            </a:pPr>
            <a:r>
              <a:rPr lang="en-IN" sz="1400" b="1" dirty="0"/>
              <a:t>Marketing Strategies:</a:t>
            </a:r>
            <a:r>
              <a:rPr lang="en-IN" sz="1400" dirty="0"/>
              <a:t> Effective promotional efforts</a:t>
            </a:r>
            <a:r>
              <a:rPr lang="en-IN" sz="1400" dirty="0" smtClean="0"/>
              <a:t>.</a:t>
            </a:r>
          </a:p>
        </p:txBody>
      </p:sp>
      <p:graphicFrame>
        <p:nvGraphicFramePr>
          <p:cNvPr id="7" name="Table 6"/>
          <p:cNvGraphicFramePr>
            <a:graphicFrameLocks noGrp="1"/>
          </p:cNvGraphicFramePr>
          <p:nvPr>
            <p:extLst>
              <p:ext uri="{D42A27DB-BD31-4B8C-83A1-F6EECF244321}">
                <p14:modId xmlns:p14="http://schemas.microsoft.com/office/powerpoint/2010/main" val="374300271"/>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8" name="TextBox 7"/>
          <p:cNvSpPr txBox="1"/>
          <p:nvPr/>
        </p:nvSpPr>
        <p:spPr>
          <a:xfrm>
            <a:off x="11658600" y="143501"/>
            <a:ext cx="409669" cy="307777"/>
          </a:xfrm>
          <a:prstGeom prst="rect">
            <a:avLst/>
          </a:prstGeom>
          <a:noFill/>
        </p:spPr>
        <p:txBody>
          <a:bodyPr wrap="square" rtlCol="0">
            <a:spAutoFit/>
          </a:bodyPr>
          <a:lstStyle/>
          <a:p>
            <a:r>
              <a:rPr lang="en-US" sz="1400" dirty="0" smtClean="0"/>
              <a:t>12</a:t>
            </a:r>
            <a:endParaRPr lang="en-IN" sz="1400" dirty="0"/>
          </a:p>
        </p:txBody>
      </p:sp>
    </p:spTree>
    <p:extLst>
      <p:ext uri="{BB962C8B-B14F-4D97-AF65-F5344CB8AC3E}">
        <p14:creationId xmlns:p14="http://schemas.microsoft.com/office/powerpoint/2010/main" val="16229136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6" name="Rounded Rectangle 5"/>
          <p:cNvSpPr/>
          <p:nvPr/>
        </p:nvSpPr>
        <p:spPr>
          <a:xfrm>
            <a:off x="4937247"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3/3</a:t>
            </a:r>
            <a:endParaRPr lang="en-IN" b="1" dirty="0">
              <a:solidFill>
                <a:schemeClr val="tx1"/>
              </a:solidFill>
            </a:endParaRPr>
          </a:p>
        </p:txBody>
      </p:sp>
      <p:sp>
        <p:nvSpPr>
          <p:cNvPr id="2" name="Rectangle 1"/>
          <p:cNvSpPr/>
          <p:nvPr/>
        </p:nvSpPr>
        <p:spPr>
          <a:xfrm>
            <a:off x="2108989" y="794240"/>
            <a:ext cx="9886852" cy="5693866"/>
          </a:xfrm>
          <a:prstGeom prst="rect">
            <a:avLst/>
          </a:prstGeom>
        </p:spPr>
        <p:txBody>
          <a:bodyPr wrap="square">
            <a:spAutoFit/>
          </a:bodyPr>
          <a:lstStyle/>
          <a:p>
            <a:pPr marL="285750" indent="-285750" algn="just">
              <a:buFont typeface="Arial" panose="020B0604020202020204" pitchFamily="34" charset="0"/>
              <a:buChar char="•"/>
            </a:pPr>
            <a:r>
              <a:rPr lang="en-US" sz="1400" b="1" dirty="0"/>
              <a:t>Cost Structure</a:t>
            </a:r>
            <a:r>
              <a:rPr lang="en-US" sz="1400" b="1" dirty="0" smtClean="0"/>
              <a:t>:</a:t>
            </a:r>
            <a:endParaRPr lang="en-US" sz="1400" b="1" dirty="0"/>
          </a:p>
          <a:p>
            <a:pPr marL="742950" lvl="1" indent="-285750" algn="just">
              <a:buFont typeface="Arial" panose="020B0604020202020204" pitchFamily="34" charset="0"/>
              <a:buChar char="•"/>
            </a:pPr>
            <a:r>
              <a:rPr lang="en-US" sz="1400" b="1" dirty="0"/>
              <a:t>Development and AI Maintenance:</a:t>
            </a:r>
            <a:r>
              <a:rPr lang="en-US" sz="1400" dirty="0"/>
              <a:t> Investments in improving our AI algorithms.</a:t>
            </a:r>
          </a:p>
          <a:p>
            <a:pPr marL="742950" lvl="1" indent="-285750" algn="just">
              <a:buFont typeface="Arial" panose="020B0604020202020204" pitchFamily="34" charset="0"/>
              <a:buChar char="•"/>
            </a:pPr>
            <a:r>
              <a:rPr lang="en-US" sz="1400" b="1" dirty="0"/>
              <a:t>Marketing and User Acquisition:</a:t>
            </a:r>
            <a:r>
              <a:rPr lang="en-US" sz="1400" dirty="0"/>
              <a:t> Expenses for attracting and retaining users.</a:t>
            </a:r>
          </a:p>
          <a:p>
            <a:pPr marL="742950" lvl="1" indent="-285750" algn="just">
              <a:buFont typeface="Arial" panose="020B0604020202020204" pitchFamily="34" charset="0"/>
              <a:buChar char="•"/>
            </a:pPr>
            <a:r>
              <a:rPr lang="en-US" sz="1400" b="1" dirty="0"/>
              <a:t>Staffing and Operational Costs:</a:t>
            </a:r>
            <a:r>
              <a:rPr lang="en-US" sz="1400" dirty="0"/>
              <a:t> Covering personnel and day-to-day operations.</a:t>
            </a:r>
          </a:p>
          <a:p>
            <a:pPr marL="742950" lvl="1" indent="-285750" algn="just">
              <a:buFont typeface="Arial" panose="020B0604020202020204" pitchFamily="34" charset="0"/>
              <a:buChar char="•"/>
            </a:pPr>
            <a:r>
              <a:rPr lang="en-US" sz="1400" b="1" dirty="0"/>
              <a:t>Hosting and IT Infrastructure:</a:t>
            </a:r>
            <a:r>
              <a:rPr lang="en-US" sz="1400" dirty="0"/>
              <a:t> Ensuring a robust and reliable platform.</a:t>
            </a:r>
          </a:p>
          <a:p>
            <a:pPr marL="285750" indent="-285750" algn="just">
              <a:buFont typeface="Arial" panose="020B0604020202020204" pitchFamily="34" charset="0"/>
              <a:buChar char="•"/>
            </a:pPr>
            <a:r>
              <a:rPr lang="en-US" sz="1400" b="1" dirty="0"/>
              <a:t>Channels</a:t>
            </a:r>
            <a:r>
              <a:rPr lang="en-US" sz="1400" b="1" dirty="0" smtClean="0"/>
              <a:t>:</a:t>
            </a:r>
            <a:endParaRPr lang="en-US" sz="1400" b="1" dirty="0"/>
          </a:p>
          <a:p>
            <a:pPr marL="742950" lvl="1" indent="-285750" algn="just">
              <a:buFont typeface="Arial" panose="020B0604020202020204" pitchFamily="34" charset="0"/>
              <a:buChar char="•"/>
            </a:pPr>
            <a:r>
              <a:rPr lang="en-US" sz="1400" b="1" dirty="0"/>
              <a:t>Online Platform:</a:t>
            </a:r>
            <a:r>
              <a:rPr lang="en-US" sz="1400" dirty="0"/>
              <a:t> Accessible via web and mobile devices.</a:t>
            </a:r>
          </a:p>
          <a:p>
            <a:pPr marL="742950" lvl="1" indent="-285750" algn="just">
              <a:buFont typeface="Arial" panose="020B0604020202020204" pitchFamily="34" charset="0"/>
              <a:buChar char="•"/>
            </a:pPr>
            <a:r>
              <a:rPr lang="en-US" sz="1400" b="1" dirty="0"/>
              <a:t>Social Media and SEO:</a:t>
            </a:r>
            <a:r>
              <a:rPr lang="en-US" sz="1400" dirty="0"/>
              <a:t> Leveraging digital marketing for visibility.</a:t>
            </a:r>
          </a:p>
          <a:p>
            <a:pPr marL="742950" lvl="1" indent="-285750" algn="just">
              <a:buFont typeface="Arial" panose="020B0604020202020204" pitchFamily="34" charset="0"/>
              <a:buChar char="•"/>
            </a:pPr>
            <a:r>
              <a:rPr lang="en-US" sz="1400" b="1" dirty="0"/>
              <a:t>Partnerships and Affiliations:</a:t>
            </a:r>
            <a:r>
              <a:rPr lang="en-US" sz="1400" dirty="0"/>
              <a:t> Collaborating with affiliates and industry partners.</a:t>
            </a:r>
          </a:p>
          <a:p>
            <a:pPr marL="742950" lvl="1" indent="-285750" algn="just">
              <a:buFont typeface="Arial" panose="020B0604020202020204" pitchFamily="34" charset="0"/>
              <a:buChar char="•"/>
            </a:pPr>
            <a:r>
              <a:rPr lang="en-US" sz="1400" b="1" dirty="0"/>
              <a:t>User Referrals:</a:t>
            </a:r>
            <a:r>
              <a:rPr lang="en-US" sz="1400" dirty="0"/>
              <a:t> Encouraging word-of-mouth recommendations.</a:t>
            </a:r>
          </a:p>
          <a:p>
            <a:pPr marL="285750" indent="-285750" algn="just">
              <a:buFont typeface="Arial" panose="020B0604020202020204" pitchFamily="34" charset="0"/>
              <a:buChar char="•"/>
            </a:pPr>
            <a:r>
              <a:rPr lang="en-US" sz="1400" b="1" dirty="0"/>
              <a:t>Customer Relationships</a:t>
            </a:r>
            <a:r>
              <a:rPr lang="en-US" sz="1400" b="1" dirty="0" smtClean="0"/>
              <a:t>:</a:t>
            </a:r>
            <a:endParaRPr lang="en-US" sz="1400" b="1" dirty="0"/>
          </a:p>
          <a:p>
            <a:pPr marL="742950" lvl="1" indent="-285750" algn="just">
              <a:buFont typeface="Arial" panose="020B0604020202020204" pitchFamily="34" charset="0"/>
              <a:buChar char="•"/>
            </a:pPr>
            <a:r>
              <a:rPr lang="en-US" sz="1400" b="1" dirty="0"/>
              <a:t>Self-Service Platform:</a:t>
            </a:r>
            <a:r>
              <a:rPr lang="en-US" sz="1400" dirty="0"/>
              <a:t> Empowering users to explore and choose products.</a:t>
            </a:r>
          </a:p>
          <a:p>
            <a:pPr marL="742950" lvl="1" indent="-285750" algn="just">
              <a:buFont typeface="Arial" panose="020B0604020202020204" pitchFamily="34" charset="0"/>
              <a:buChar char="•"/>
            </a:pPr>
            <a:r>
              <a:rPr lang="en-US" sz="1400" b="1" dirty="0"/>
              <a:t>AI-Driven Personalization:</a:t>
            </a:r>
            <a:r>
              <a:rPr lang="en-US" sz="1400" dirty="0"/>
              <a:t> Offering tailored recommendations.</a:t>
            </a:r>
          </a:p>
          <a:p>
            <a:pPr marL="742950" lvl="1" indent="-285750" algn="just">
              <a:buFont typeface="Arial" panose="020B0604020202020204" pitchFamily="34" charset="0"/>
              <a:buChar char="•"/>
            </a:pPr>
            <a:r>
              <a:rPr lang="en-US" sz="1400" b="1" dirty="0"/>
              <a:t>User Support:</a:t>
            </a:r>
            <a:r>
              <a:rPr lang="en-US" sz="1400" dirty="0"/>
              <a:t> Providing assistance and guidance.</a:t>
            </a:r>
          </a:p>
          <a:p>
            <a:pPr marL="742950" lvl="1" indent="-285750" algn="just">
              <a:buFont typeface="Arial" panose="020B0604020202020204" pitchFamily="34" charset="0"/>
              <a:buChar char="•"/>
            </a:pPr>
            <a:r>
              <a:rPr lang="en-US" sz="1400" b="1" dirty="0"/>
              <a:t>User Engagement:</a:t>
            </a:r>
            <a:r>
              <a:rPr lang="en-US" sz="1400" dirty="0"/>
              <a:t> Gathering feedback and fostering a community.</a:t>
            </a:r>
          </a:p>
          <a:p>
            <a:pPr marL="285750" indent="-285750" algn="just">
              <a:buFont typeface="Arial" panose="020B0604020202020204" pitchFamily="34" charset="0"/>
              <a:buChar char="•"/>
            </a:pPr>
            <a:r>
              <a:rPr lang="en-US" sz="1400" b="1" dirty="0"/>
              <a:t>Key Partnerships</a:t>
            </a:r>
            <a:r>
              <a:rPr lang="en-US" sz="1400" b="1" dirty="0" smtClean="0"/>
              <a:t>:</a:t>
            </a:r>
            <a:endParaRPr lang="en-US" sz="1400" b="1" dirty="0"/>
          </a:p>
          <a:p>
            <a:pPr marL="742950" lvl="1" indent="-285750" algn="just">
              <a:buFont typeface="Arial" panose="020B0604020202020204" pitchFamily="34" charset="0"/>
              <a:buChar char="•"/>
            </a:pPr>
            <a:r>
              <a:rPr lang="en-US" sz="1400" b="1" dirty="0"/>
              <a:t>Vendor Collaborations:</a:t>
            </a:r>
            <a:r>
              <a:rPr lang="en-US" sz="1400" dirty="0"/>
              <a:t> Building strong relationships with vendors.</a:t>
            </a:r>
          </a:p>
          <a:p>
            <a:pPr marL="742950" lvl="1" indent="-285750" algn="just">
              <a:buFont typeface="Arial" panose="020B0604020202020204" pitchFamily="34" charset="0"/>
              <a:buChar char="•"/>
            </a:pPr>
            <a:r>
              <a:rPr lang="en-US" sz="1400" b="1" dirty="0"/>
              <a:t>Affiliate Marketing:</a:t>
            </a:r>
            <a:r>
              <a:rPr lang="en-US" sz="1400" dirty="0"/>
              <a:t> Collaborating with affiliates for mutual benefits.</a:t>
            </a:r>
          </a:p>
          <a:p>
            <a:pPr marL="742950" lvl="1" indent="-285750" algn="just">
              <a:buFont typeface="Arial" panose="020B0604020202020204" pitchFamily="34" charset="0"/>
              <a:buChar char="•"/>
            </a:pPr>
            <a:r>
              <a:rPr lang="en-US" sz="1400" b="1" dirty="0"/>
              <a:t>Advertising Alliances:</a:t>
            </a:r>
            <a:r>
              <a:rPr lang="en-US" sz="1400" dirty="0"/>
              <a:t> Partnering with ad networks for revenue.</a:t>
            </a:r>
          </a:p>
          <a:p>
            <a:pPr marL="742950" lvl="1" indent="-285750" algn="just">
              <a:buFont typeface="Arial" panose="020B0604020202020204" pitchFamily="34" charset="0"/>
              <a:buChar char="•"/>
            </a:pPr>
            <a:r>
              <a:rPr lang="en-US" sz="1400" b="1" dirty="0"/>
              <a:t>Community Building:</a:t>
            </a:r>
            <a:r>
              <a:rPr lang="en-US" sz="1400" dirty="0"/>
              <a:t> Engaging users and creating a strong community.</a:t>
            </a:r>
          </a:p>
          <a:p>
            <a:pPr marL="285750" indent="-285750" algn="just">
              <a:buFont typeface="Arial" panose="020B0604020202020204" pitchFamily="34" charset="0"/>
              <a:buChar char="•"/>
            </a:pPr>
            <a:r>
              <a:rPr lang="en-US" sz="1400" b="1" dirty="0"/>
              <a:t>Market Trends</a:t>
            </a:r>
            <a:r>
              <a:rPr lang="en-US" sz="1400" b="1" dirty="0" smtClean="0"/>
              <a:t>:</a:t>
            </a:r>
            <a:endParaRPr lang="en-US" sz="1400" b="1" dirty="0"/>
          </a:p>
          <a:p>
            <a:pPr marL="742950" lvl="1" indent="-285750" algn="just">
              <a:buFont typeface="Arial" panose="020B0604020202020204" pitchFamily="34" charset="0"/>
              <a:buChar char="•"/>
            </a:pPr>
            <a:r>
              <a:rPr lang="en-US" sz="1400" b="1" dirty="0"/>
              <a:t>Digital Transformation:</a:t>
            </a:r>
            <a:r>
              <a:rPr lang="en-US" sz="1400" dirty="0"/>
              <a:t> Increasing reliance on digital solutions across industries.</a:t>
            </a:r>
          </a:p>
          <a:p>
            <a:pPr marL="742950" lvl="1" indent="-285750" algn="just">
              <a:buFont typeface="Arial" panose="020B0604020202020204" pitchFamily="34" charset="0"/>
              <a:buChar char="•"/>
            </a:pPr>
            <a:r>
              <a:rPr lang="en-US" sz="1400" b="1" dirty="0"/>
              <a:t>User-Friendly Software:</a:t>
            </a:r>
            <a:r>
              <a:rPr lang="en-US" sz="1400" dirty="0"/>
              <a:t> Growing demand for intuitive software products.</a:t>
            </a:r>
          </a:p>
          <a:p>
            <a:pPr marL="742950" lvl="1" indent="-285750" algn="just">
              <a:buFont typeface="Arial" panose="020B0604020202020204" pitchFamily="34" charset="0"/>
              <a:buChar char="•"/>
            </a:pPr>
            <a:r>
              <a:rPr lang="en-US" sz="1400" b="1" dirty="0"/>
              <a:t>AI Integration:</a:t>
            </a:r>
            <a:r>
              <a:rPr lang="en-US" sz="1400" dirty="0"/>
              <a:t> Widespread adoption of AI to boost productivity.</a:t>
            </a:r>
          </a:p>
          <a:p>
            <a:pPr marL="742950" lvl="1" indent="-285750" algn="just">
              <a:buFont typeface="Arial" panose="020B0604020202020204" pitchFamily="34" charset="0"/>
              <a:buChar char="•"/>
            </a:pPr>
            <a:r>
              <a:rPr lang="en-US" sz="1400" b="1" dirty="0"/>
              <a:t>E-Learning Surge:</a:t>
            </a:r>
            <a:r>
              <a:rPr lang="en-US" sz="1400" dirty="0"/>
              <a:t> Popularity of e-learning in the digital age for skills and education.</a:t>
            </a:r>
            <a:endParaRPr lang="en-IN" sz="1400" dirty="0" smtClean="0"/>
          </a:p>
        </p:txBody>
      </p:sp>
      <p:sp>
        <p:nvSpPr>
          <p:cNvPr id="7" name="Rectangle 6"/>
          <p:cNvSpPr/>
          <p:nvPr/>
        </p:nvSpPr>
        <p:spPr>
          <a:xfrm>
            <a:off x="2108989" y="98362"/>
            <a:ext cx="2890150" cy="369332"/>
          </a:xfrm>
          <a:prstGeom prst="rect">
            <a:avLst/>
          </a:prstGeom>
        </p:spPr>
        <p:txBody>
          <a:bodyPr wrap="none">
            <a:spAutoFit/>
          </a:bodyPr>
          <a:lstStyle/>
          <a:p>
            <a:r>
              <a:rPr lang="en-IN" b="1" dirty="0" smtClean="0">
                <a:solidFill>
                  <a:schemeClr val="dk1"/>
                </a:solidFill>
              </a:rPr>
              <a:t>Business Model </a:t>
            </a:r>
            <a:r>
              <a:rPr lang="en-IN" b="1" dirty="0">
                <a:solidFill>
                  <a:schemeClr val="dk1"/>
                </a:solidFill>
              </a:rPr>
              <a:t>- Elaborated</a:t>
            </a:r>
            <a:endParaRPr lang="en-IN" b="1" dirty="0"/>
          </a:p>
        </p:txBody>
      </p:sp>
      <p:graphicFrame>
        <p:nvGraphicFramePr>
          <p:cNvPr id="8" name="Table 7"/>
          <p:cNvGraphicFramePr>
            <a:graphicFrameLocks noGrp="1"/>
          </p:cNvGraphicFramePr>
          <p:nvPr>
            <p:extLst>
              <p:ext uri="{D42A27DB-BD31-4B8C-83A1-F6EECF244321}">
                <p14:modId xmlns:p14="http://schemas.microsoft.com/office/powerpoint/2010/main" val="2997131307"/>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9" name="TextBox 8"/>
          <p:cNvSpPr txBox="1"/>
          <p:nvPr/>
        </p:nvSpPr>
        <p:spPr>
          <a:xfrm>
            <a:off x="11658600" y="143501"/>
            <a:ext cx="409669" cy="307777"/>
          </a:xfrm>
          <a:prstGeom prst="rect">
            <a:avLst/>
          </a:prstGeom>
          <a:noFill/>
        </p:spPr>
        <p:txBody>
          <a:bodyPr wrap="square" rtlCol="0">
            <a:spAutoFit/>
          </a:bodyPr>
          <a:lstStyle/>
          <a:p>
            <a:r>
              <a:rPr lang="en-US" sz="1400" dirty="0" smtClean="0"/>
              <a:t>13</a:t>
            </a:r>
            <a:endParaRPr lang="en-IN" sz="1400" dirty="0"/>
          </a:p>
        </p:txBody>
      </p:sp>
    </p:spTree>
    <p:extLst>
      <p:ext uri="{BB962C8B-B14F-4D97-AF65-F5344CB8AC3E}">
        <p14:creationId xmlns:p14="http://schemas.microsoft.com/office/powerpoint/2010/main" val="15728128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08989" y="98362"/>
            <a:ext cx="1818383" cy="369332"/>
          </a:xfrm>
          <a:prstGeom prst="rect">
            <a:avLst/>
          </a:prstGeom>
        </p:spPr>
        <p:txBody>
          <a:bodyPr wrap="none">
            <a:spAutoFit/>
          </a:bodyPr>
          <a:lstStyle/>
          <a:p>
            <a:r>
              <a:rPr lang="en-IN" b="1" dirty="0" smtClean="0">
                <a:solidFill>
                  <a:schemeClr val="dk1"/>
                </a:solidFill>
              </a:rPr>
              <a:t>Technology Stack</a:t>
            </a:r>
            <a:endParaRPr lang="en-IN" b="1" dirty="0"/>
          </a:p>
        </p:txBody>
      </p:sp>
      <p:sp>
        <p:nvSpPr>
          <p:cNvPr id="6" name="Rounded Rectangle 5"/>
          <p:cNvSpPr/>
          <p:nvPr/>
        </p:nvSpPr>
        <p:spPr>
          <a:xfrm>
            <a:off x="3872168"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1/3</a:t>
            </a:r>
            <a:endParaRPr lang="en-IN" b="1"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652453578"/>
              </p:ext>
            </p:extLst>
          </p:nvPr>
        </p:nvGraphicFramePr>
        <p:xfrm>
          <a:off x="2108989" y="955062"/>
          <a:ext cx="9882360" cy="5156200"/>
        </p:xfrm>
        <a:graphic>
          <a:graphicData uri="http://schemas.openxmlformats.org/drawingml/2006/table">
            <a:tbl>
              <a:tblPr firstRow="1" bandRow="1">
                <a:tableStyleId>{5C22544A-7EE6-4342-B048-85BDC9FD1C3A}</a:tableStyleId>
              </a:tblPr>
              <a:tblGrid>
                <a:gridCol w="1647060"/>
                <a:gridCol w="1647060"/>
                <a:gridCol w="1647060"/>
                <a:gridCol w="1647060"/>
                <a:gridCol w="1647060"/>
                <a:gridCol w="1647060"/>
              </a:tblGrid>
              <a:tr h="370840">
                <a:tc>
                  <a:txBody>
                    <a:bodyPr/>
                    <a:lstStyle/>
                    <a:p>
                      <a:pPr algn="ctr"/>
                      <a:r>
                        <a:rPr lang="en-IN" sz="1400" dirty="0" smtClean="0">
                          <a:solidFill>
                            <a:schemeClr val="tx1"/>
                          </a:solidFill>
                        </a:rPr>
                        <a:t>Front-End</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Back-End</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IN" sz="1400" dirty="0" smtClean="0">
                          <a:solidFill>
                            <a:schemeClr val="tx1"/>
                          </a:solidFill>
                        </a:rPr>
                        <a:t>AI and Recommendation System</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Hosting and Deployment</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Security Technologies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smtClean="0">
                          <a:solidFill>
                            <a:schemeClr val="tx1"/>
                          </a:solidFill>
                        </a:rPr>
                        <a:t>Additional Tools and Services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smtClean="0">
                          <a:solidFill>
                            <a:schemeClr val="tx1"/>
                          </a:solidFill>
                        </a:rPr>
                        <a:t>HTML5 and CSS3</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Java</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IN" sz="1400" dirty="0" smtClean="0">
                          <a:solidFill>
                            <a:schemeClr val="tx1"/>
                          </a:solidFill>
                        </a:rPr>
                        <a:t>Python</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Amazon Web Services (AWS)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HTTPS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smtClean="0">
                          <a:solidFill>
                            <a:schemeClr val="tx1"/>
                          </a:solidFill>
                        </a:rPr>
                        <a:t>Git and </a:t>
                      </a:r>
                      <a:r>
                        <a:rPr lang="en-IN" sz="1400" dirty="0" err="1" smtClean="0">
                          <a:solidFill>
                            <a:schemeClr val="tx1"/>
                          </a:solidFill>
                        </a:rPr>
                        <a:t>GitHub</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smtClean="0">
                          <a:solidFill>
                            <a:schemeClr val="tx1"/>
                          </a:solidFill>
                        </a:rPr>
                        <a:t>JavaScript (ES6+)</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Spring Boot</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IN" sz="1400" dirty="0" err="1" smtClean="0">
                          <a:solidFill>
                            <a:schemeClr val="tx1"/>
                          </a:solidFill>
                        </a:rPr>
                        <a:t>TensorFlow</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Amazon EC2</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SSL Certificates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err="1" smtClean="0">
                          <a:solidFill>
                            <a:schemeClr val="tx1"/>
                          </a:solidFill>
                        </a:rPr>
                        <a:t>Docker</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smtClean="0">
                          <a:solidFill>
                            <a:schemeClr val="tx1"/>
                          </a:solidFill>
                        </a:rPr>
                        <a:t>React.js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err="1" smtClean="0">
                          <a:solidFill>
                            <a:schemeClr val="tx1"/>
                          </a:solidFill>
                        </a:rPr>
                        <a:t>MongoDB</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IN" sz="1400" dirty="0" err="1" smtClean="0">
                          <a:solidFill>
                            <a:schemeClr val="tx1"/>
                          </a:solidFill>
                        </a:rPr>
                        <a:t>scikit</a:t>
                      </a:r>
                      <a:r>
                        <a:rPr lang="en-IN" sz="1400" dirty="0" smtClean="0">
                          <a:solidFill>
                            <a:schemeClr val="tx1"/>
                          </a:solidFill>
                        </a:rPr>
                        <a:t>-learn</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Amazon S3</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Web Application Firewall (WAF)</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smtClean="0">
                          <a:solidFill>
                            <a:schemeClr val="tx1"/>
                          </a:solidFill>
                        </a:rPr>
                        <a:t>JIRA</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err="1" smtClean="0">
                          <a:solidFill>
                            <a:schemeClr val="tx1"/>
                          </a:solidFill>
                        </a:rPr>
                        <a:t>Redux</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Mongoose</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US" sz="1400" dirty="0" smtClean="0">
                          <a:solidFill>
                            <a:schemeClr val="tx1"/>
                          </a:solidFill>
                        </a:rPr>
                        <a:t>Natural Language Processing (NLP) Tools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Amazon RDS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Data Encryption</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smtClean="0">
                          <a:solidFill>
                            <a:schemeClr val="tx1"/>
                          </a:solidFill>
                        </a:rPr>
                        <a:t>Postman</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smtClean="0">
                          <a:solidFill>
                            <a:schemeClr val="tx1"/>
                          </a:solidFill>
                        </a:rPr>
                        <a:t>Bootstrap</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Passport.js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r>
                        <a:rPr lang="en-IN" sz="1400" dirty="0" smtClean="0">
                          <a:solidFill>
                            <a:schemeClr val="tx1"/>
                          </a:solidFill>
                        </a:rPr>
                        <a:t>Custom Recommendation Algorithms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r>
                        <a:rPr lang="en-IN" sz="1400" dirty="0" smtClean="0">
                          <a:solidFill>
                            <a:schemeClr val="tx1"/>
                          </a:solidFill>
                        </a:rPr>
                        <a:t>AWS Elastic Beanstalk</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User Authentication</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smtClean="0">
                          <a:solidFill>
                            <a:schemeClr val="tx1"/>
                          </a:solidFill>
                        </a:rPr>
                        <a:t>Google Analytics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r>
                        <a:rPr lang="en-IN" sz="1400" dirty="0" err="1" smtClean="0">
                          <a:solidFill>
                            <a:schemeClr val="tx1"/>
                          </a:solidFill>
                        </a:rPr>
                        <a:t>Axios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r>
                        <a:rPr lang="en-IN" sz="1400" dirty="0" smtClean="0">
                          <a:solidFill>
                            <a:schemeClr val="tx1"/>
                          </a:solidFill>
                        </a:rPr>
                        <a:t>Apache Cassandra</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Server Security Groups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IN" sz="1400" dirty="0" err="1" smtClean="0">
                          <a:solidFill>
                            <a:schemeClr val="tx1"/>
                          </a:solidFill>
                        </a:rPr>
                        <a:t>MailChimp</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smtClean="0">
                          <a:solidFill>
                            <a:schemeClr val="tx1"/>
                          </a:solidFill>
                        </a:rPr>
                        <a:t>Regular Security Audits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4">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IN" sz="1400" dirty="0" err="1" smtClean="0">
                          <a:solidFill>
                            <a:schemeClr val="tx1"/>
                          </a:solidFill>
                        </a:rPr>
                        <a:t>DDoS</a:t>
                      </a:r>
                      <a:r>
                        <a:rPr lang="en-IN" sz="1400" dirty="0" smtClean="0">
                          <a:solidFill>
                            <a:schemeClr val="tx1"/>
                          </a:solidFill>
                        </a:rPr>
                        <a:t> Mitigation Services</a:t>
                      </a: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endParaRPr lang="en-IN" sz="1400" dirty="0">
                        <a:solidFill>
                          <a:schemeClr val="tx1"/>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40000"/>
                        <a:lumOff val="60000"/>
                      </a:schemeClr>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562831998"/>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9" name="TextBox 8"/>
          <p:cNvSpPr txBox="1"/>
          <p:nvPr/>
        </p:nvSpPr>
        <p:spPr>
          <a:xfrm>
            <a:off x="11658600" y="143501"/>
            <a:ext cx="427776" cy="307777"/>
          </a:xfrm>
          <a:prstGeom prst="rect">
            <a:avLst/>
          </a:prstGeom>
          <a:noFill/>
        </p:spPr>
        <p:txBody>
          <a:bodyPr wrap="square" rtlCol="0">
            <a:spAutoFit/>
          </a:bodyPr>
          <a:lstStyle/>
          <a:p>
            <a:r>
              <a:rPr lang="en-US" sz="1400" dirty="0" smtClean="0"/>
              <a:t>14</a:t>
            </a:r>
            <a:endParaRPr lang="en-IN" sz="1400" dirty="0"/>
          </a:p>
        </p:txBody>
      </p:sp>
    </p:spTree>
    <p:extLst>
      <p:ext uri="{BB962C8B-B14F-4D97-AF65-F5344CB8AC3E}">
        <p14:creationId xmlns:p14="http://schemas.microsoft.com/office/powerpoint/2010/main" val="20386407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08989" y="98362"/>
            <a:ext cx="3028265" cy="369332"/>
          </a:xfrm>
          <a:prstGeom prst="rect">
            <a:avLst/>
          </a:prstGeom>
        </p:spPr>
        <p:txBody>
          <a:bodyPr wrap="none">
            <a:spAutoFit/>
          </a:bodyPr>
          <a:lstStyle/>
          <a:p>
            <a:r>
              <a:rPr lang="en-IN" b="1" dirty="0" smtClean="0">
                <a:solidFill>
                  <a:schemeClr val="dk1"/>
                </a:solidFill>
              </a:rPr>
              <a:t>Technology Stack - Elaborated</a:t>
            </a:r>
            <a:endParaRPr lang="en-IN" b="1" dirty="0"/>
          </a:p>
        </p:txBody>
      </p:sp>
      <p:sp>
        <p:nvSpPr>
          <p:cNvPr id="6" name="Rounded Rectangle 5"/>
          <p:cNvSpPr/>
          <p:nvPr/>
        </p:nvSpPr>
        <p:spPr>
          <a:xfrm>
            <a:off x="509136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2/3</a:t>
            </a:r>
            <a:endParaRPr lang="en-IN" b="1" dirty="0">
              <a:solidFill>
                <a:schemeClr val="tx1"/>
              </a:solidFill>
            </a:endParaRPr>
          </a:p>
        </p:txBody>
      </p:sp>
      <p:sp>
        <p:nvSpPr>
          <p:cNvPr id="2" name="Rectangle 1"/>
          <p:cNvSpPr/>
          <p:nvPr/>
        </p:nvSpPr>
        <p:spPr>
          <a:xfrm>
            <a:off x="2108989" y="676078"/>
            <a:ext cx="7689164" cy="5693866"/>
          </a:xfrm>
          <a:prstGeom prst="rect">
            <a:avLst/>
          </a:prstGeom>
        </p:spPr>
        <p:txBody>
          <a:bodyPr wrap="square">
            <a:spAutoFit/>
          </a:bodyPr>
          <a:lstStyle/>
          <a:p>
            <a:r>
              <a:rPr lang="en-IN" sz="1400" b="1" u="sng" dirty="0"/>
              <a:t>Front-End:</a:t>
            </a:r>
          </a:p>
          <a:p>
            <a:endParaRPr lang="en-IN" sz="1400" dirty="0"/>
          </a:p>
          <a:p>
            <a:r>
              <a:rPr lang="en-IN" sz="1400" b="1" dirty="0"/>
              <a:t>HTML5 and CSS3</a:t>
            </a:r>
            <a:r>
              <a:rPr lang="en-IN" sz="1400" dirty="0"/>
              <a:t>: For structuring and styling web pages.</a:t>
            </a:r>
          </a:p>
          <a:p>
            <a:r>
              <a:rPr lang="en-IN" sz="1400" b="1" dirty="0"/>
              <a:t>JavaScript (ES6+)</a:t>
            </a:r>
            <a:r>
              <a:rPr lang="en-IN" sz="1400" dirty="0"/>
              <a:t>: To enhance interactivity and user experience.</a:t>
            </a:r>
          </a:p>
          <a:p>
            <a:r>
              <a:rPr lang="en-IN" sz="1400" b="1" dirty="0"/>
              <a:t>React.js</a:t>
            </a:r>
            <a:r>
              <a:rPr lang="en-IN" sz="1400" dirty="0"/>
              <a:t>: A JavaScript library for building dynamic user interfaces.</a:t>
            </a:r>
          </a:p>
          <a:p>
            <a:r>
              <a:rPr lang="en-IN" sz="1400" b="1" dirty="0" err="1"/>
              <a:t>Redux</a:t>
            </a:r>
            <a:r>
              <a:rPr lang="en-IN" sz="1400" dirty="0"/>
              <a:t>: For state management in complex applications.</a:t>
            </a:r>
          </a:p>
          <a:p>
            <a:r>
              <a:rPr lang="en-IN" sz="1400" b="1" dirty="0"/>
              <a:t>Bootstrap</a:t>
            </a:r>
            <a:r>
              <a:rPr lang="en-IN" sz="1400" dirty="0"/>
              <a:t>: To ensure responsive and mobile-friendly design.</a:t>
            </a:r>
          </a:p>
          <a:p>
            <a:r>
              <a:rPr lang="en-IN" sz="1400" b="1" dirty="0" err="1"/>
              <a:t>Axios</a:t>
            </a:r>
            <a:r>
              <a:rPr lang="en-IN" sz="1400" dirty="0"/>
              <a:t>: For making asynchronous HTTP requests</a:t>
            </a:r>
            <a:r>
              <a:rPr lang="en-IN" sz="1400" dirty="0" smtClean="0"/>
              <a:t>.</a:t>
            </a:r>
          </a:p>
          <a:p>
            <a:endParaRPr lang="en-US" sz="1400" dirty="0"/>
          </a:p>
          <a:p>
            <a:r>
              <a:rPr lang="en-IN" sz="1400" b="1" u="sng" dirty="0"/>
              <a:t>Back-End:</a:t>
            </a:r>
          </a:p>
          <a:p>
            <a:endParaRPr lang="en-IN" sz="1400" dirty="0"/>
          </a:p>
          <a:p>
            <a:r>
              <a:rPr lang="en-IN" sz="1400" b="1" dirty="0"/>
              <a:t>Java</a:t>
            </a:r>
            <a:r>
              <a:rPr lang="en-IN" sz="1400" dirty="0"/>
              <a:t>: A versatile and robust programming language.</a:t>
            </a:r>
          </a:p>
          <a:p>
            <a:r>
              <a:rPr lang="en-IN" sz="1400" b="1" dirty="0"/>
              <a:t>Spring Boot</a:t>
            </a:r>
            <a:r>
              <a:rPr lang="en-IN" sz="1400" dirty="0"/>
              <a:t>: A Java-based framework for building scalable and efficient back-end services.</a:t>
            </a:r>
          </a:p>
          <a:p>
            <a:r>
              <a:rPr lang="en-IN" sz="1400" b="1" dirty="0" err="1"/>
              <a:t>MongoDB</a:t>
            </a:r>
            <a:r>
              <a:rPr lang="en-IN" sz="1400" b="1" dirty="0"/>
              <a:t>:</a:t>
            </a:r>
            <a:r>
              <a:rPr lang="en-IN" sz="1400" dirty="0"/>
              <a:t> A </a:t>
            </a:r>
            <a:r>
              <a:rPr lang="en-IN" sz="1400" dirty="0" err="1"/>
              <a:t>NoSQL</a:t>
            </a:r>
            <a:r>
              <a:rPr lang="en-IN" sz="1400" dirty="0"/>
              <a:t> database for flexible and scalable data storage.</a:t>
            </a:r>
          </a:p>
          <a:p>
            <a:r>
              <a:rPr lang="en-IN" sz="1400" b="1" dirty="0"/>
              <a:t>Mongoose:</a:t>
            </a:r>
            <a:r>
              <a:rPr lang="en-IN" sz="1400" dirty="0"/>
              <a:t> An ODM (Object Data </a:t>
            </a:r>
            <a:r>
              <a:rPr lang="en-IN" sz="1400" dirty="0" err="1"/>
              <a:t>Modeling</a:t>
            </a:r>
            <a:r>
              <a:rPr lang="en-IN" sz="1400" dirty="0"/>
              <a:t>) library for </a:t>
            </a:r>
            <a:r>
              <a:rPr lang="en-IN" sz="1400" dirty="0" err="1"/>
              <a:t>MongoDB</a:t>
            </a:r>
            <a:r>
              <a:rPr lang="en-IN" sz="1400" dirty="0"/>
              <a:t>.</a:t>
            </a:r>
          </a:p>
          <a:p>
            <a:r>
              <a:rPr lang="en-IN" sz="1400" b="1" dirty="0"/>
              <a:t>Passport.js</a:t>
            </a:r>
            <a:r>
              <a:rPr lang="en-IN" sz="1400" dirty="0"/>
              <a:t>: For user authentication and authorization.</a:t>
            </a:r>
          </a:p>
          <a:p>
            <a:r>
              <a:rPr lang="en-IN" sz="1400" b="1" dirty="0"/>
              <a:t>Apache Cassandra</a:t>
            </a:r>
            <a:r>
              <a:rPr lang="en-IN" sz="1400" dirty="0"/>
              <a:t>: A highly scalable </a:t>
            </a:r>
            <a:r>
              <a:rPr lang="en-IN" sz="1400" dirty="0" err="1"/>
              <a:t>NoSQL</a:t>
            </a:r>
            <a:r>
              <a:rPr lang="en-IN" sz="1400" dirty="0"/>
              <a:t> database for handling large volumes of data with high availability and fault tolerance</a:t>
            </a:r>
            <a:r>
              <a:rPr lang="en-IN" sz="1400" dirty="0" smtClean="0"/>
              <a:t>.</a:t>
            </a:r>
          </a:p>
          <a:p>
            <a:endParaRPr lang="en-US" sz="1400" dirty="0"/>
          </a:p>
          <a:p>
            <a:r>
              <a:rPr lang="en-US" sz="1400" b="1" u="sng" dirty="0"/>
              <a:t>AI and Recommendation System:</a:t>
            </a:r>
          </a:p>
          <a:p>
            <a:endParaRPr lang="en-US" sz="1400" dirty="0"/>
          </a:p>
          <a:p>
            <a:r>
              <a:rPr lang="en-US" sz="1400" b="1" dirty="0"/>
              <a:t>Python</a:t>
            </a:r>
            <a:r>
              <a:rPr lang="en-US" sz="1400" dirty="0"/>
              <a:t>: For AI and machine learning development.</a:t>
            </a:r>
          </a:p>
          <a:p>
            <a:r>
              <a:rPr lang="en-US" sz="1400" b="1" dirty="0" err="1"/>
              <a:t>TensorFlow</a:t>
            </a:r>
            <a:r>
              <a:rPr lang="en-US" sz="1400" dirty="0"/>
              <a:t>: An open-source machine learning framework.</a:t>
            </a:r>
          </a:p>
          <a:p>
            <a:r>
              <a:rPr lang="en-US" sz="1400" b="1" dirty="0" err="1"/>
              <a:t>scikit</a:t>
            </a:r>
            <a:r>
              <a:rPr lang="en-US" sz="1400" b="1" dirty="0"/>
              <a:t>-learn</a:t>
            </a:r>
            <a:r>
              <a:rPr lang="en-US" sz="1400" dirty="0"/>
              <a:t>: A machine learning library for Python.</a:t>
            </a:r>
          </a:p>
          <a:p>
            <a:r>
              <a:rPr lang="en-US" sz="1400" b="1" dirty="0"/>
              <a:t>Natural Language Processing (NLP) Tools</a:t>
            </a:r>
            <a:r>
              <a:rPr lang="en-US" sz="1400" dirty="0"/>
              <a:t>: To analyze user-generated content and reviews.</a:t>
            </a:r>
          </a:p>
          <a:p>
            <a:r>
              <a:rPr lang="en-US" sz="1400" b="1" dirty="0"/>
              <a:t>Custom Recommendation Algorithms</a:t>
            </a:r>
            <a:r>
              <a:rPr lang="en-US" sz="1400" dirty="0"/>
              <a:t>: To generate personalized product recommendations.</a:t>
            </a:r>
            <a:endParaRPr lang="en-IN" sz="1400" dirty="0"/>
          </a:p>
        </p:txBody>
      </p:sp>
      <p:graphicFrame>
        <p:nvGraphicFramePr>
          <p:cNvPr id="7" name="Table 6"/>
          <p:cNvGraphicFramePr>
            <a:graphicFrameLocks noGrp="1"/>
          </p:cNvGraphicFramePr>
          <p:nvPr>
            <p:extLst>
              <p:ext uri="{D42A27DB-BD31-4B8C-83A1-F6EECF244321}">
                <p14:modId xmlns:p14="http://schemas.microsoft.com/office/powerpoint/2010/main" val="2581162395"/>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8" name="TextBox 7"/>
          <p:cNvSpPr txBox="1"/>
          <p:nvPr/>
        </p:nvSpPr>
        <p:spPr>
          <a:xfrm>
            <a:off x="11658600" y="143501"/>
            <a:ext cx="409669" cy="307777"/>
          </a:xfrm>
          <a:prstGeom prst="rect">
            <a:avLst/>
          </a:prstGeom>
          <a:noFill/>
        </p:spPr>
        <p:txBody>
          <a:bodyPr wrap="square" rtlCol="0">
            <a:spAutoFit/>
          </a:bodyPr>
          <a:lstStyle/>
          <a:p>
            <a:r>
              <a:rPr lang="en-US" sz="1400" dirty="0" smtClean="0"/>
              <a:t>15</a:t>
            </a:r>
            <a:endParaRPr lang="en-IN" sz="1400" dirty="0"/>
          </a:p>
        </p:txBody>
      </p:sp>
    </p:spTree>
    <p:extLst>
      <p:ext uri="{BB962C8B-B14F-4D97-AF65-F5344CB8AC3E}">
        <p14:creationId xmlns:p14="http://schemas.microsoft.com/office/powerpoint/2010/main" val="9143603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6" name="Rounded Rectangle 5"/>
          <p:cNvSpPr/>
          <p:nvPr/>
        </p:nvSpPr>
        <p:spPr>
          <a:xfrm>
            <a:off x="5091370"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3/3</a:t>
            </a:r>
            <a:endParaRPr lang="en-IN" b="1" dirty="0">
              <a:solidFill>
                <a:schemeClr val="tx1"/>
              </a:solidFill>
            </a:endParaRPr>
          </a:p>
        </p:txBody>
      </p:sp>
      <p:sp>
        <p:nvSpPr>
          <p:cNvPr id="2" name="Rectangle 1"/>
          <p:cNvSpPr/>
          <p:nvPr/>
        </p:nvSpPr>
        <p:spPr>
          <a:xfrm>
            <a:off x="2108989" y="676078"/>
            <a:ext cx="7689164" cy="5909310"/>
          </a:xfrm>
          <a:prstGeom prst="rect">
            <a:avLst/>
          </a:prstGeom>
        </p:spPr>
        <p:txBody>
          <a:bodyPr wrap="square">
            <a:spAutoFit/>
          </a:bodyPr>
          <a:lstStyle/>
          <a:p>
            <a:r>
              <a:rPr lang="en-US" sz="1400" b="1" u="sng" dirty="0"/>
              <a:t>Hosting and Deployment:</a:t>
            </a:r>
          </a:p>
          <a:p>
            <a:endParaRPr lang="en-US" sz="1400" dirty="0"/>
          </a:p>
          <a:p>
            <a:r>
              <a:rPr lang="en-US" sz="1400" b="1" dirty="0"/>
              <a:t>Amazon Web Services (AWS):</a:t>
            </a:r>
            <a:r>
              <a:rPr lang="en-US" sz="1400" dirty="0"/>
              <a:t> For scalable and reliable cloud hosting.</a:t>
            </a:r>
          </a:p>
          <a:p>
            <a:r>
              <a:rPr lang="en-US" sz="1400" b="1" dirty="0"/>
              <a:t>Amazon EC2</a:t>
            </a:r>
            <a:r>
              <a:rPr lang="en-US" sz="1400" dirty="0"/>
              <a:t>: Virtual servers for hosting the application.</a:t>
            </a:r>
          </a:p>
          <a:p>
            <a:r>
              <a:rPr lang="en-US" sz="1400" b="1" dirty="0"/>
              <a:t>Amazon S3</a:t>
            </a:r>
            <a:r>
              <a:rPr lang="en-US" sz="1400" dirty="0"/>
              <a:t>: For storing and serving media files.</a:t>
            </a:r>
          </a:p>
          <a:p>
            <a:r>
              <a:rPr lang="en-US" sz="1400" b="1" dirty="0"/>
              <a:t>Amazon RDS</a:t>
            </a:r>
            <a:r>
              <a:rPr lang="en-US" sz="1400" dirty="0"/>
              <a:t>: Managed database service for </a:t>
            </a:r>
            <a:r>
              <a:rPr lang="en-US" sz="1400" dirty="0" err="1"/>
              <a:t>MongoDB</a:t>
            </a:r>
            <a:r>
              <a:rPr lang="en-US" sz="1400" dirty="0"/>
              <a:t>.</a:t>
            </a:r>
          </a:p>
          <a:p>
            <a:r>
              <a:rPr lang="en-US" sz="1400" b="1" dirty="0"/>
              <a:t>AWS Elastic Beanstalk</a:t>
            </a:r>
            <a:r>
              <a:rPr lang="en-US" sz="1400" dirty="0"/>
              <a:t>: For simplified deployment and scaling.</a:t>
            </a:r>
          </a:p>
          <a:p>
            <a:endParaRPr lang="en-US" sz="1400" dirty="0"/>
          </a:p>
          <a:p>
            <a:r>
              <a:rPr lang="en-US" sz="1400" b="1" u="sng" dirty="0"/>
              <a:t>Security Technologies</a:t>
            </a:r>
            <a:r>
              <a:rPr lang="en-US" sz="1400" dirty="0"/>
              <a:t>:</a:t>
            </a:r>
          </a:p>
          <a:p>
            <a:endParaRPr lang="en-US" sz="1400" dirty="0"/>
          </a:p>
          <a:p>
            <a:r>
              <a:rPr lang="en-US" sz="1400" b="1" dirty="0"/>
              <a:t>HTTPS</a:t>
            </a:r>
            <a:r>
              <a:rPr lang="en-US" sz="1400" dirty="0"/>
              <a:t>: To ensure secure data transmission over the internet.</a:t>
            </a:r>
          </a:p>
          <a:p>
            <a:r>
              <a:rPr lang="en-US" sz="1400" b="1" dirty="0"/>
              <a:t>SSL Certificates</a:t>
            </a:r>
            <a:r>
              <a:rPr lang="en-US" sz="1400" dirty="0"/>
              <a:t>: To encrypt sensitive data in transit.</a:t>
            </a:r>
          </a:p>
          <a:p>
            <a:r>
              <a:rPr lang="en-US" sz="1400" b="1" dirty="0"/>
              <a:t>Web Application Firewall (WAF)</a:t>
            </a:r>
            <a:r>
              <a:rPr lang="en-US" sz="1400" dirty="0"/>
              <a:t>: For protection against web-based threats.</a:t>
            </a:r>
          </a:p>
          <a:p>
            <a:r>
              <a:rPr lang="en-US" sz="1400" b="1" dirty="0"/>
              <a:t>Data Encryption</a:t>
            </a:r>
            <a:r>
              <a:rPr lang="en-US" sz="1400" dirty="0"/>
              <a:t>: To secure data stored in the database.</a:t>
            </a:r>
          </a:p>
          <a:p>
            <a:r>
              <a:rPr lang="en-US" sz="1400" b="1" dirty="0"/>
              <a:t>User Authentication</a:t>
            </a:r>
            <a:r>
              <a:rPr lang="en-US" sz="1400" dirty="0"/>
              <a:t>: Secure user authentication with strong password policies.</a:t>
            </a:r>
          </a:p>
          <a:p>
            <a:r>
              <a:rPr lang="en-US" sz="1400" b="1" dirty="0"/>
              <a:t>Server Security Groups</a:t>
            </a:r>
            <a:r>
              <a:rPr lang="en-US" sz="1400" dirty="0"/>
              <a:t>: To control inbound and outbound traffic to servers.</a:t>
            </a:r>
          </a:p>
          <a:p>
            <a:r>
              <a:rPr lang="en-US" sz="1400" b="1" dirty="0"/>
              <a:t>Regular Security Audits</a:t>
            </a:r>
            <a:r>
              <a:rPr lang="en-US" sz="1400" dirty="0"/>
              <a:t>: To identify and mitigate vulnerabilities.</a:t>
            </a:r>
          </a:p>
          <a:p>
            <a:r>
              <a:rPr lang="en-US" sz="1400" b="1" dirty="0" err="1"/>
              <a:t>DDoS</a:t>
            </a:r>
            <a:r>
              <a:rPr lang="en-US" sz="1400" b="1" dirty="0"/>
              <a:t> Mitigation Services</a:t>
            </a:r>
            <a:r>
              <a:rPr lang="en-US" sz="1400" dirty="0"/>
              <a:t>: To protect against distributed denial-of-service attacks.</a:t>
            </a:r>
          </a:p>
          <a:p>
            <a:endParaRPr lang="en-US" sz="1400" dirty="0"/>
          </a:p>
          <a:p>
            <a:r>
              <a:rPr lang="en-US" sz="1400" b="1" dirty="0"/>
              <a:t>Additional Tools and Services</a:t>
            </a:r>
            <a:r>
              <a:rPr lang="en-US" sz="1400" dirty="0"/>
              <a:t>:</a:t>
            </a:r>
          </a:p>
          <a:p>
            <a:endParaRPr lang="en-US" sz="1400" dirty="0"/>
          </a:p>
          <a:p>
            <a:r>
              <a:rPr lang="en-US" sz="1400" b="1" dirty="0" err="1"/>
              <a:t>Git</a:t>
            </a:r>
            <a:r>
              <a:rPr lang="en-US" sz="1400" b="1" dirty="0"/>
              <a:t> and </a:t>
            </a:r>
            <a:r>
              <a:rPr lang="en-US" sz="1400" b="1" dirty="0" err="1"/>
              <a:t>GitHub</a:t>
            </a:r>
            <a:r>
              <a:rPr lang="en-US" sz="1400" dirty="0"/>
              <a:t>: For version control and collaboration among developers.</a:t>
            </a:r>
          </a:p>
          <a:p>
            <a:r>
              <a:rPr lang="en-US" sz="1400" b="1" dirty="0" err="1"/>
              <a:t>Docker</a:t>
            </a:r>
            <a:r>
              <a:rPr lang="en-US" sz="1400" dirty="0"/>
              <a:t>: For containerization and deployment consistency.</a:t>
            </a:r>
          </a:p>
          <a:p>
            <a:r>
              <a:rPr lang="en-US" sz="1400" b="1" dirty="0"/>
              <a:t>JIRA</a:t>
            </a:r>
            <a:r>
              <a:rPr lang="en-US" sz="1400" dirty="0"/>
              <a:t>: For project management and issue tracking.</a:t>
            </a:r>
          </a:p>
          <a:p>
            <a:r>
              <a:rPr lang="en-US" sz="1400" b="1" dirty="0"/>
              <a:t>Postman</a:t>
            </a:r>
            <a:r>
              <a:rPr lang="en-US" sz="1400" dirty="0"/>
              <a:t>: For API testing and development.</a:t>
            </a:r>
          </a:p>
          <a:p>
            <a:r>
              <a:rPr lang="en-US" sz="1400" b="1" dirty="0"/>
              <a:t>Google Analytics</a:t>
            </a:r>
            <a:r>
              <a:rPr lang="en-US" sz="1400" dirty="0"/>
              <a:t>: For monitoring user behavior and website performance.</a:t>
            </a:r>
          </a:p>
          <a:p>
            <a:r>
              <a:rPr lang="en-US" sz="1400" b="1" dirty="0" err="1"/>
              <a:t>MailChimp</a:t>
            </a:r>
            <a:r>
              <a:rPr lang="en-US" sz="1400" dirty="0"/>
              <a:t>: For email marketing campaigns and user notifications.</a:t>
            </a:r>
            <a:endParaRPr lang="en-IN" sz="1400" dirty="0"/>
          </a:p>
        </p:txBody>
      </p:sp>
      <p:sp>
        <p:nvSpPr>
          <p:cNvPr id="7" name="Rectangle 6"/>
          <p:cNvSpPr/>
          <p:nvPr/>
        </p:nvSpPr>
        <p:spPr>
          <a:xfrm>
            <a:off x="2108989" y="98362"/>
            <a:ext cx="3028265" cy="369332"/>
          </a:xfrm>
          <a:prstGeom prst="rect">
            <a:avLst/>
          </a:prstGeom>
        </p:spPr>
        <p:txBody>
          <a:bodyPr wrap="none">
            <a:spAutoFit/>
          </a:bodyPr>
          <a:lstStyle/>
          <a:p>
            <a:r>
              <a:rPr lang="en-IN" b="1" dirty="0" smtClean="0">
                <a:solidFill>
                  <a:schemeClr val="dk1"/>
                </a:solidFill>
              </a:rPr>
              <a:t>Technology Stack - Elaborated</a:t>
            </a:r>
            <a:endParaRPr lang="en-IN" b="1" dirty="0"/>
          </a:p>
        </p:txBody>
      </p:sp>
      <p:graphicFrame>
        <p:nvGraphicFramePr>
          <p:cNvPr id="8" name="Table 7"/>
          <p:cNvGraphicFramePr>
            <a:graphicFrameLocks noGrp="1"/>
          </p:cNvGraphicFramePr>
          <p:nvPr>
            <p:extLst>
              <p:ext uri="{D42A27DB-BD31-4B8C-83A1-F6EECF244321}">
                <p14:modId xmlns:p14="http://schemas.microsoft.com/office/powerpoint/2010/main" val="1133948910"/>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9" name="TextBox 8"/>
          <p:cNvSpPr txBox="1"/>
          <p:nvPr/>
        </p:nvSpPr>
        <p:spPr>
          <a:xfrm>
            <a:off x="11658600" y="143501"/>
            <a:ext cx="418723" cy="307777"/>
          </a:xfrm>
          <a:prstGeom prst="rect">
            <a:avLst/>
          </a:prstGeom>
          <a:noFill/>
        </p:spPr>
        <p:txBody>
          <a:bodyPr wrap="square" rtlCol="0">
            <a:spAutoFit/>
          </a:bodyPr>
          <a:lstStyle/>
          <a:p>
            <a:r>
              <a:rPr lang="en-US" sz="1400" dirty="0" smtClean="0"/>
              <a:t>16</a:t>
            </a:r>
            <a:endParaRPr lang="en-IN" sz="1400" dirty="0"/>
          </a:p>
        </p:txBody>
      </p:sp>
    </p:spTree>
    <p:extLst>
      <p:ext uri="{BB962C8B-B14F-4D97-AF65-F5344CB8AC3E}">
        <p14:creationId xmlns:p14="http://schemas.microsoft.com/office/powerpoint/2010/main" val="7628437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10" name="Oval 9"/>
          <p:cNvSpPr/>
          <p:nvPr/>
        </p:nvSpPr>
        <p:spPr>
          <a:xfrm>
            <a:off x="5258579" y="1363272"/>
            <a:ext cx="4085864" cy="408586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8-Point Star 27"/>
          <p:cNvSpPr/>
          <p:nvPr/>
        </p:nvSpPr>
        <p:spPr>
          <a:xfrm>
            <a:off x="5846807" y="1996288"/>
            <a:ext cx="2895600" cy="2895600"/>
          </a:xfrm>
          <a:prstGeom prst="star8">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2108989" y="98362"/>
            <a:ext cx="1721946" cy="369332"/>
          </a:xfrm>
          <a:prstGeom prst="rect">
            <a:avLst/>
          </a:prstGeom>
        </p:spPr>
        <p:txBody>
          <a:bodyPr wrap="none">
            <a:spAutoFit/>
          </a:bodyPr>
          <a:lstStyle/>
          <a:p>
            <a:r>
              <a:rPr lang="en-IN" b="1" dirty="0" smtClean="0">
                <a:solidFill>
                  <a:schemeClr val="dk1"/>
                </a:solidFill>
              </a:rPr>
              <a:t>User Experience</a:t>
            </a:r>
            <a:endParaRPr lang="en-IN" b="1" dirty="0"/>
          </a:p>
        </p:txBody>
      </p:sp>
      <p:sp>
        <p:nvSpPr>
          <p:cNvPr id="6" name="Rounded Rectangle 5"/>
          <p:cNvSpPr/>
          <p:nvPr/>
        </p:nvSpPr>
        <p:spPr>
          <a:xfrm>
            <a:off x="3872168"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1/2</a:t>
            </a:r>
            <a:endParaRPr lang="en-IN" b="1" dirty="0">
              <a:solidFill>
                <a:schemeClr val="tx1"/>
              </a:solidFill>
            </a:endParaRPr>
          </a:p>
        </p:txBody>
      </p:sp>
      <p:sp>
        <p:nvSpPr>
          <p:cNvPr id="7" name="Octagon 6"/>
          <p:cNvSpPr/>
          <p:nvPr/>
        </p:nvSpPr>
        <p:spPr>
          <a:xfrm rot="5400000">
            <a:off x="5517369" y="434928"/>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ctagon 10"/>
          <p:cNvSpPr/>
          <p:nvPr/>
        </p:nvSpPr>
        <p:spPr>
          <a:xfrm rot="5400000">
            <a:off x="7350288" y="434219"/>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ctagon 11"/>
          <p:cNvSpPr/>
          <p:nvPr/>
        </p:nvSpPr>
        <p:spPr>
          <a:xfrm rot="5400000">
            <a:off x="5512584" y="4665271"/>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ctagon 12"/>
          <p:cNvSpPr/>
          <p:nvPr/>
        </p:nvSpPr>
        <p:spPr>
          <a:xfrm rot="5400000">
            <a:off x="7342691" y="4665271"/>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ctagon 13"/>
          <p:cNvSpPr/>
          <p:nvPr/>
        </p:nvSpPr>
        <p:spPr>
          <a:xfrm rot="5400000">
            <a:off x="8662885" y="3430118"/>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ctagon 14"/>
          <p:cNvSpPr/>
          <p:nvPr/>
        </p:nvSpPr>
        <p:spPr>
          <a:xfrm rot="5400000">
            <a:off x="8667366" y="1671840"/>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p:cNvSpPr txBox="1"/>
          <p:nvPr/>
        </p:nvSpPr>
        <p:spPr>
          <a:xfrm>
            <a:off x="5701486" y="978007"/>
            <a:ext cx="1371801" cy="276999"/>
          </a:xfrm>
          <a:prstGeom prst="rect">
            <a:avLst/>
          </a:prstGeom>
          <a:noFill/>
        </p:spPr>
        <p:txBody>
          <a:bodyPr wrap="square" rtlCol="0">
            <a:spAutoFit/>
          </a:bodyPr>
          <a:lstStyle/>
          <a:p>
            <a:pPr algn="ctr"/>
            <a:r>
              <a:rPr lang="en-IN" sz="1200" b="1" dirty="0">
                <a:latin typeface="Söhne"/>
              </a:rPr>
              <a:t>Intuitive Design</a:t>
            </a:r>
            <a:endParaRPr lang="en-IN" sz="1200" dirty="0">
              <a:latin typeface="Söhne"/>
            </a:endParaRPr>
          </a:p>
        </p:txBody>
      </p:sp>
      <p:sp>
        <p:nvSpPr>
          <p:cNvPr id="18" name="TextBox 17"/>
          <p:cNvSpPr txBox="1"/>
          <p:nvPr/>
        </p:nvSpPr>
        <p:spPr>
          <a:xfrm>
            <a:off x="7518197" y="870351"/>
            <a:ext cx="1456768" cy="461665"/>
          </a:xfrm>
          <a:prstGeom prst="rect">
            <a:avLst/>
          </a:prstGeom>
          <a:noFill/>
        </p:spPr>
        <p:txBody>
          <a:bodyPr wrap="square" rtlCol="0">
            <a:spAutoFit/>
          </a:bodyPr>
          <a:lstStyle/>
          <a:p>
            <a:pPr algn="ctr"/>
            <a:r>
              <a:rPr lang="en-IN" sz="1200" b="1" dirty="0">
                <a:latin typeface="Söhne"/>
              </a:rPr>
              <a:t>User-Centric Approach</a:t>
            </a:r>
            <a:endParaRPr lang="en-IN" sz="1200" dirty="0">
              <a:latin typeface="Söhne"/>
            </a:endParaRPr>
          </a:p>
        </p:txBody>
      </p:sp>
      <p:sp>
        <p:nvSpPr>
          <p:cNvPr id="17" name="Rectangle 16"/>
          <p:cNvSpPr/>
          <p:nvPr/>
        </p:nvSpPr>
        <p:spPr>
          <a:xfrm>
            <a:off x="8771342" y="4107538"/>
            <a:ext cx="1825428" cy="461665"/>
          </a:xfrm>
          <a:prstGeom prst="rect">
            <a:avLst/>
          </a:prstGeom>
        </p:spPr>
        <p:txBody>
          <a:bodyPr wrap="square">
            <a:spAutoFit/>
          </a:bodyPr>
          <a:lstStyle/>
          <a:p>
            <a:pPr algn="ctr"/>
            <a:r>
              <a:rPr lang="en-IN" sz="1200" b="1" dirty="0" smtClean="0">
                <a:latin typeface="Söhne"/>
              </a:rPr>
              <a:t>Comprehensive Information</a:t>
            </a:r>
            <a:endParaRPr lang="en-IN" sz="1200" dirty="0"/>
          </a:p>
        </p:txBody>
      </p:sp>
      <p:sp>
        <p:nvSpPr>
          <p:cNvPr id="20" name="Rectangle 19"/>
          <p:cNvSpPr/>
          <p:nvPr/>
        </p:nvSpPr>
        <p:spPr>
          <a:xfrm>
            <a:off x="7455956" y="5454436"/>
            <a:ext cx="1519009" cy="461665"/>
          </a:xfrm>
          <a:prstGeom prst="rect">
            <a:avLst/>
          </a:prstGeom>
        </p:spPr>
        <p:txBody>
          <a:bodyPr wrap="square">
            <a:spAutoFit/>
          </a:bodyPr>
          <a:lstStyle/>
          <a:p>
            <a:pPr algn="ctr"/>
            <a:r>
              <a:rPr lang="en-IN" sz="1200" b="1" smtClean="0">
                <a:latin typeface="Söhne"/>
              </a:rPr>
              <a:t>Side-by-Side Comparisons</a:t>
            </a:r>
            <a:endParaRPr lang="en-IN" sz="1200" dirty="0"/>
          </a:p>
        </p:txBody>
      </p:sp>
      <p:sp>
        <p:nvSpPr>
          <p:cNvPr id="21" name="Rectangle 20"/>
          <p:cNvSpPr/>
          <p:nvPr/>
        </p:nvSpPr>
        <p:spPr>
          <a:xfrm>
            <a:off x="5712070" y="5519523"/>
            <a:ext cx="1329027" cy="461665"/>
          </a:xfrm>
          <a:prstGeom prst="rect">
            <a:avLst/>
          </a:prstGeom>
        </p:spPr>
        <p:txBody>
          <a:bodyPr wrap="square">
            <a:spAutoFit/>
          </a:bodyPr>
          <a:lstStyle/>
          <a:p>
            <a:pPr algn="ctr"/>
            <a:r>
              <a:rPr lang="en-IN" sz="1200" b="1" dirty="0">
                <a:latin typeface="Söhne"/>
              </a:rPr>
              <a:t>Predictive Insights</a:t>
            </a:r>
            <a:endParaRPr lang="en-IN" sz="1200" dirty="0"/>
          </a:p>
        </p:txBody>
      </p:sp>
      <p:sp>
        <p:nvSpPr>
          <p:cNvPr id="25" name="Octagon 24"/>
          <p:cNvSpPr/>
          <p:nvPr/>
        </p:nvSpPr>
        <p:spPr>
          <a:xfrm rot="5400000">
            <a:off x="4208023" y="1682000"/>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8897293" y="2128415"/>
            <a:ext cx="1545377" cy="461665"/>
          </a:xfrm>
          <a:prstGeom prst="rect">
            <a:avLst/>
          </a:prstGeom>
        </p:spPr>
        <p:txBody>
          <a:bodyPr wrap="square">
            <a:spAutoFit/>
          </a:bodyPr>
          <a:lstStyle/>
          <a:p>
            <a:pPr algn="ctr"/>
            <a:r>
              <a:rPr lang="en-IN" sz="1200" b="1" dirty="0">
                <a:latin typeface="Söhne"/>
              </a:rPr>
              <a:t>Personalized Recommendations</a:t>
            </a:r>
            <a:endParaRPr lang="en-IN" sz="1200" dirty="0"/>
          </a:p>
        </p:txBody>
      </p:sp>
      <p:sp>
        <p:nvSpPr>
          <p:cNvPr id="27" name="Rectangle 26"/>
          <p:cNvSpPr/>
          <p:nvPr/>
        </p:nvSpPr>
        <p:spPr>
          <a:xfrm>
            <a:off x="3989011" y="2252638"/>
            <a:ext cx="1634820" cy="461665"/>
          </a:xfrm>
          <a:prstGeom prst="rect">
            <a:avLst/>
          </a:prstGeom>
        </p:spPr>
        <p:txBody>
          <a:bodyPr wrap="square">
            <a:spAutoFit/>
          </a:bodyPr>
          <a:lstStyle/>
          <a:p>
            <a:pPr algn="ctr"/>
            <a:r>
              <a:rPr lang="en-IN" sz="1200" b="1" dirty="0">
                <a:latin typeface="Söhne"/>
              </a:rPr>
              <a:t>Continuous Improvement</a:t>
            </a:r>
            <a:endParaRPr lang="en-IN" sz="1200" dirty="0"/>
          </a:p>
        </p:txBody>
      </p:sp>
      <p:sp>
        <p:nvSpPr>
          <p:cNvPr id="29" name="TextBox 28"/>
          <p:cNvSpPr txBox="1"/>
          <p:nvPr/>
        </p:nvSpPr>
        <p:spPr>
          <a:xfrm>
            <a:off x="6447882" y="1612430"/>
            <a:ext cx="272656" cy="369332"/>
          </a:xfrm>
          <a:prstGeom prst="rect">
            <a:avLst/>
          </a:prstGeom>
          <a:noFill/>
        </p:spPr>
        <p:txBody>
          <a:bodyPr wrap="square" rtlCol="0">
            <a:spAutoFit/>
          </a:bodyPr>
          <a:lstStyle/>
          <a:p>
            <a:r>
              <a:rPr lang="en-US" dirty="0" smtClean="0">
                <a:solidFill>
                  <a:schemeClr val="bg1"/>
                </a:solidFill>
              </a:rPr>
              <a:t>1</a:t>
            </a:r>
            <a:endParaRPr lang="en-IN" dirty="0">
              <a:solidFill>
                <a:schemeClr val="bg1"/>
              </a:solidFill>
            </a:endParaRPr>
          </a:p>
        </p:txBody>
      </p:sp>
      <p:sp>
        <p:nvSpPr>
          <p:cNvPr id="31" name="TextBox 30"/>
          <p:cNvSpPr txBox="1"/>
          <p:nvPr/>
        </p:nvSpPr>
        <p:spPr>
          <a:xfrm>
            <a:off x="7819481" y="1677742"/>
            <a:ext cx="272656" cy="369332"/>
          </a:xfrm>
          <a:prstGeom prst="rect">
            <a:avLst/>
          </a:prstGeom>
          <a:noFill/>
        </p:spPr>
        <p:txBody>
          <a:bodyPr wrap="square" rtlCol="0">
            <a:spAutoFit/>
          </a:bodyPr>
          <a:lstStyle/>
          <a:p>
            <a:r>
              <a:rPr lang="en-US" dirty="0" smtClean="0">
                <a:solidFill>
                  <a:schemeClr val="bg1"/>
                </a:solidFill>
              </a:rPr>
              <a:t>2</a:t>
            </a:r>
            <a:endParaRPr lang="en-IN" dirty="0">
              <a:solidFill>
                <a:schemeClr val="bg1"/>
              </a:solidFill>
            </a:endParaRPr>
          </a:p>
        </p:txBody>
      </p:sp>
      <p:sp>
        <p:nvSpPr>
          <p:cNvPr id="32" name="TextBox 31"/>
          <p:cNvSpPr txBox="1"/>
          <p:nvPr/>
        </p:nvSpPr>
        <p:spPr>
          <a:xfrm>
            <a:off x="8788221" y="2644213"/>
            <a:ext cx="272656" cy="369332"/>
          </a:xfrm>
          <a:prstGeom prst="rect">
            <a:avLst/>
          </a:prstGeom>
          <a:noFill/>
        </p:spPr>
        <p:txBody>
          <a:bodyPr wrap="square" rtlCol="0">
            <a:spAutoFit/>
          </a:bodyPr>
          <a:lstStyle/>
          <a:p>
            <a:r>
              <a:rPr lang="en-US" dirty="0" smtClean="0">
                <a:solidFill>
                  <a:schemeClr val="bg1"/>
                </a:solidFill>
              </a:rPr>
              <a:t>3</a:t>
            </a:r>
            <a:endParaRPr lang="en-IN" dirty="0">
              <a:solidFill>
                <a:schemeClr val="bg1"/>
              </a:solidFill>
            </a:endParaRPr>
          </a:p>
        </p:txBody>
      </p:sp>
      <p:sp>
        <p:nvSpPr>
          <p:cNvPr id="33" name="TextBox 32"/>
          <p:cNvSpPr txBox="1"/>
          <p:nvPr/>
        </p:nvSpPr>
        <p:spPr>
          <a:xfrm>
            <a:off x="8770769" y="3877750"/>
            <a:ext cx="272656" cy="369332"/>
          </a:xfrm>
          <a:prstGeom prst="rect">
            <a:avLst/>
          </a:prstGeom>
          <a:noFill/>
        </p:spPr>
        <p:txBody>
          <a:bodyPr wrap="square" rtlCol="0">
            <a:spAutoFit/>
          </a:bodyPr>
          <a:lstStyle/>
          <a:p>
            <a:r>
              <a:rPr lang="en-US" dirty="0" smtClean="0">
                <a:solidFill>
                  <a:schemeClr val="bg1"/>
                </a:solidFill>
              </a:rPr>
              <a:t>4</a:t>
            </a:r>
            <a:endParaRPr lang="en-IN" dirty="0">
              <a:solidFill>
                <a:schemeClr val="bg1"/>
              </a:solidFill>
            </a:endParaRPr>
          </a:p>
        </p:txBody>
      </p:sp>
      <p:sp>
        <p:nvSpPr>
          <p:cNvPr id="34" name="TextBox 33"/>
          <p:cNvSpPr txBox="1"/>
          <p:nvPr/>
        </p:nvSpPr>
        <p:spPr>
          <a:xfrm>
            <a:off x="7805367" y="4801180"/>
            <a:ext cx="272656" cy="369332"/>
          </a:xfrm>
          <a:prstGeom prst="rect">
            <a:avLst/>
          </a:prstGeom>
          <a:noFill/>
        </p:spPr>
        <p:txBody>
          <a:bodyPr wrap="square" rtlCol="0">
            <a:spAutoFit/>
          </a:bodyPr>
          <a:lstStyle/>
          <a:p>
            <a:r>
              <a:rPr lang="en-US" dirty="0" smtClean="0">
                <a:solidFill>
                  <a:schemeClr val="bg1"/>
                </a:solidFill>
              </a:rPr>
              <a:t>5</a:t>
            </a:r>
            <a:endParaRPr lang="en-IN" dirty="0">
              <a:solidFill>
                <a:schemeClr val="bg1"/>
              </a:solidFill>
            </a:endParaRPr>
          </a:p>
        </p:txBody>
      </p:sp>
      <p:sp>
        <p:nvSpPr>
          <p:cNvPr id="35" name="TextBox 34"/>
          <p:cNvSpPr txBox="1"/>
          <p:nvPr/>
        </p:nvSpPr>
        <p:spPr>
          <a:xfrm>
            <a:off x="6482391" y="4801180"/>
            <a:ext cx="272656" cy="369332"/>
          </a:xfrm>
          <a:prstGeom prst="rect">
            <a:avLst/>
          </a:prstGeom>
          <a:noFill/>
        </p:spPr>
        <p:txBody>
          <a:bodyPr wrap="square" rtlCol="0">
            <a:spAutoFit/>
          </a:bodyPr>
          <a:lstStyle/>
          <a:p>
            <a:r>
              <a:rPr lang="en-US" dirty="0" smtClean="0">
                <a:solidFill>
                  <a:schemeClr val="bg1"/>
                </a:solidFill>
              </a:rPr>
              <a:t>6</a:t>
            </a:r>
            <a:endParaRPr lang="en-IN" dirty="0">
              <a:solidFill>
                <a:schemeClr val="bg1"/>
              </a:solidFill>
            </a:endParaRPr>
          </a:p>
        </p:txBody>
      </p:sp>
      <p:sp>
        <p:nvSpPr>
          <p:cNvPr id="37" name="TextBox 36"/>
          <p:cNvSpPr txBox="1"/>
          <p:nvPr/>
        </p:nvSpPr>
        <p:spPr>
          <a:xfrm>
            <a:off x="5535175" y="3903210"/>
            <a:ext cx="272656" cy="369332"/>
          </a:xfrm>
          <a:prstGeom prst="rect">
            <a:avLst/>
          </a:prstGeom>
          <a:noFill/>
        </p:spPr>
        <p:txBody>
          <a:bodyPr wrap="square" rtlCol="0">
            <a:spAutoFit/>
          </a:bodyPr>
          <a:lstStyle/>
          <a:p>
            <a:r>
              <a:rPr lang="en-US" dirty="0" smtClean="0">
                <a:solidFill>
                  <a:schemeClr val="bg1"/>
                </a:solidFill>
              </a:rPr>
              <a:t>7</a:t>
            </a:r>
            <a:endParaRPr lang="en-IN" dirty="0">
              <a:solidFill>
                <a:schemeClr val="bg1"/>
              </a:solidFill>
            </a:endParaRPr>
          </a:p>
        </p:txBody>
      </p:sp>
      <p:sp>
        <p:nvSpPr>
          <p:cNvPr id="38" name="TextBox 37"/>
          <p:cNvSpPr txBox="1"/>
          <p:nvPr/>
        </p:nvSpPr>
        <p:spPr>
          <a:xfrm>
            <a:off x="5535175" y="2518314"/>
            <a:ext cx="272656" cy="369332"/>
          </a:xfrm>
          <a:prstGeom prst="rect">
            <a:avLst/>
          </a:prstGeom>
          <a:noFill/>
        </p:spPr>
        <p:txBody>
          <a:bodyPr wrap="square" rtlCol="0">
            <a:spAutoFit/>
          </a:bodyPr>
          <a:lstStyle/>
          <a:p>
            <a:r>
              <a:rPr lang="en-US" dirty="0" smtClean="0">
                <a:solidFill>
                  <a:schemeClr val="bg1"/>
                </a:solidFill>
              </a:rPr>
              <a:t>8</a:t>
            </a:r>
            <a:endParaRPr lang="en-IN" dirty="0">
              <a:solidFill>
                <a:schemeClr val="bg1"/>
              </a:solidFill>
            </a:endParaRPr>
          </a:p>
        </p:txBody>
      </p:sp>
      <p:sp>
        <p:nvSpPr>
          <p:cNvPr id="24" name="Octagon 23"/>
          <p:cNvSpPr/>
          <p:nvPr/>
        </p:nvSpPr>
        <p:spPr>
          <a:xfrm rot="5400000">
            <a:off x="4196855" y="3438371"/>
            <a:ext cx="1728000" cy="1800000"/>
          </a:xfrm>
          <a:prstGeom prst="octagon">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p:nvSpPr>
        <p:spPr>
          <a:xfrm>
            <a:off x="4149638" y="4072132"/>
            <a:ext cx="1286729" cy="646331"/>
          </a:xfrm>
          <a:prstGeom prst="rect">
            <a:avLst/>
          </a:prstGeom>
        </p:spPr>
        <p:txBody>
          <a:bodyPr wrap="square">
            <a:spAutoFit/>
          </a:bodyPr>
          <a:lstStyle/>
          <a:p>
            <a:pPr algn="ctr"/>
            <a:r>
              <a:rPr lang="en-IN" sz="1200" b="1" dirty="0">
                <a:latin typeface="Söhne"/>
              </a:rPr>
              <a:t>User Support and Engagement</a:t>
            </a:r>
            <a:endParaRPr lang="en-IN" sz="1200" dirty="0"/>
          </a:p>
        </p:txBody>
      </p:sp>
      <p:sp>
        <p:nvSpPr>
          <p:cNvPr id="39" name="Rectangle 38"/>
          <p:cNvSpPr/>
          <p:nvPr/>
        </p:nvSpPr>
        <p:spPr>
          <a:xfrm>
            <a:off x="6587131" y="3279991"/>
            <a:ext cx="1532035" cy="400110"/>
          </a:xfrm>
          <a:prstGeom prst="rect">
            <a:avLst/>
          </a:prstGeom>
        </p:spPr>
        <p:txBody>
          <a:bodyPr wrap="square">
            <a:spAutoFit/>
          </a:bodyPr>
          <a:lstStyle/>
          <a:p>
            <a:pPr algn="ctr"/>
            <a:r>
              <a:rPr lang="en-IN" sz="2000" b="1" dirty="0" smtClean="0">
                <a:solidFill>
                  <a:schemeClr val="bg1"/>
                </a:solidFill>
                <a:latin typeface="Söhne"/>
              </a:rPr>
              <a:t>IT MART24</a:t>
            </a:r>
            <a:endParaRPr lang="en-IN" sz="2000" dirty="0">
              <a:solidFill>
                <a:schemeClr val="bg1"/>
              </a:solidFill>
            </a:endParaRPr>
          </a:p>
        </p:txBody>
      </p:sp>
      <p:graphicFrame>
        <p:nvGraphicFramePr>
          <p:cNvPr id="40" name="Table 39"/>
          <p:cNvGraphicFramePr>
            <a:graphicFrameLocks noGrp="1"/>
          </p:cNvGraphicFramePr>
          <p:nvPr>
            <p:extLst>
              <p:ext uri="{D42A27DB-BD31-4B8C-83A1-F6EECF244321}">
                <p14:modId xmlns:p14="http://schemas.microsoft.com/office/powerpoint/2010/main" val="38492497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36" name="TextBox 35"/>
          <p:cNvSpPr txBox="1"/>
          <p:nvPr/>
        </p:nvSpPr>
        <p:spPr>
          <a:xfrm>
            <a:off x="11658600" y="143501"/>
            <a:ext cx="445883" cy="307777"/>
          </a:xfrm>
          <a:prstGeom prst="rect">
            <a:avLst/>
          </a:prstGeom>
          <a:noFill/>
        </p:spPr>
        <p:txBody>
          <a:bodyPr wrap="square" rtlCol="0">
            <a:spAutoFit/>
          </a:bodyPr>
          <a:lstStyle/>
          <a:p>
            <a:r>
              <a:rPr lang="en-US" sz="1400" dirty="0" smtClean="0"/>
              <a:t>17</a:t>
            </a:r>
            <a:endParaRPr lang="en-IN" sz="1400" dirty="0"/>
          </a:p>
        </p:txBody>
      </p:sp>
    </p:spTree>
    <p:extLst>
      <p:ext uri="{BB962C8B-B14F-4D97-AF65-F5344CB8AC3E}">
        <p14:creationId xmlns:p14="http://schemas.microsoft.com/office/powerpoint/2010/main" val="3160043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1923929" y="98362"/>
            <a:ext cx="2931828" cy="369332"/>
          </a:xfrm>
          <a:prstGeom prst="rect">
            <a:avLst/>
          </a:prstGeom>
        </p:spPr>
        <p:txBody>
          <a:bodyPr wrap="none">
            <a:spAutoFit/>
          </a:bodyPr>
          <a:lstStyle/>
          <a:p>
            <a:r>
              <a:rPr lang="en-IN" b="1" dirty="0">
                <a:solidFill>
                  <a:schemeClr val="dk1"/>
                </a:solidFill>
              </a:rPr>
              <a:t>User </a:t>
            </a:r>
            <a:r>
              <a:rPr lang="en-IN" b="1" dirty="0" smtClean="0">
                <a:solidFill>
                  <a:schemeClr val="dk1"/>
                </a:solidFill>
              </a:rPr>
              <a:t>Experience - Elaborated</a:t>
            </a:r>
            <a:endParaRPr lang="en-IN" b="1" dirty="0"/>
          </a:p>
        </p:txBody>
      </p:sp>
      <p:sp>
        <p:nvSpPr>
          <p:cNvPr id="6" name="Rounded Rectangle 5"/>
          <p:cNvSpPr/>
          <p:nvPr/>
        </p:nvSpPr>
        <p:spPr>
          <a:xfrm>
            <a:off x="486276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2/2</a:t>
            </a:r>
            <a:endParaRPr lang="en-IN" b="1" dirty="0">
              <a:solidFill>
                <a:schemeClr val="tx1"/>
              </a:solidFill>
            </a:endParaRPr>
          </a:p>
        </p:txBody>
      </p:sp>
      <p:sp>
        <p:nvSpPr>
          <p:cNvPr id="5" name="Rectangle 4"/>
          <p:cNvSpPr/>
          <p:nvPr/>
        </p:nvSpPr>
        <p:spPr>
          <a:xfrm>
            <a:off x="1948404" y="619705"/>
            <a:ext cx="10180609" cy="6117059"/>
          </a:xfrm>
          <a:prstGeom prst="rect">
            <a:avLst/>
          </a:prstGeom>
        </p:spPr>
        <p:txBody>
          <a:bodyPr wrap="square">
            <a:spAutoFit/>
          </a:bodyPr>
          <a:lstStyle/>
          <a:p>
            <a:pPr algn="just"/>
            <a:r>
              <a:rPr lang="en-IN" sz="1450" b="1" dirty="0"/>
              <a:t>Intuitive Design: </a:t>
            </a:r>
            <a:r>
              <a:rPr lang="en-IN" sz="1450" dirty="0"/>
              <a:t>IT-Mart24 offers a sleek and user-friendly interface designed with simplicity in mind. The layout is clean and easy to navigate, ensuring that even non-tech-savvy users can find their way around effortlessly</a:t>
            </a:r>
            <a:r>
              <a:rPr lang="en-IN" sz="1450" dirty="0" smtClean="0"/>
              <a:t>.</a:t>
            </a:r>
          </a:p>
          <a:p>
            <a:pPr algn="just"/>
            <a:endParaRPr lang="en-IN" sz="1450" dirty="0"/>
          </a:p>
          <a:p>
            <a:pPr algn="just"/>
            <a:r>
              <a:rPr lang="en-IN" sz="1450" b="1" dirty="0"/>
              <a:t>User-Centric Approach:</a:t>
            </a:r>
            <a:r>
              <a:rPr lang="en-IN" sz="1450" dirty="0"/>
              <a:t> Our platform prioritizes the needs of users seeking software, hosting, AI tools, or digital tutorials. We provide a seamless experience for individuals, businesses, and digital entrepreneurs, empowering them to make informed decisions.</a:t>
            </a:r>
          </a:p>
          <a:p>
            <a:pPr algn="just"/>
            <a:endParaRPr lang="en-IN" sz="1450" dirty="0" smtClean="0"/>
          </a:p>
          <a:p>
            <a:pPr algn="just"/>
            <a:r>
              <a:rPr lang="en-IN" sz="1450" b="1" dirty="0" smtClean="0"/>
              <a:t>Personalized </a:t>
            </a:r>
            <a:r>
              <a:rPr lang="en-IN" sz="1450" b="1" dirty="0"/>
              <a:t>Recommendations:</a:t>
            </a:r>
            <a:r>
              <a:rPr lang="en-IN" sz="1450" dirty="0"/>
              <a:t> A standout feature is our AI-driven recommendation system, which tailors software, hosting, AI, and tutorial suggestions to individual users. By considering user input and preferences, we offer personalized solutions that match their unique requirements.</a:t>
            </a:r>
          </a:p>
          <a:p>
            <a:pPr algn="just"/>
            <a:endParaRPr lang="en-IN" sz="1450" dirty="0" smtClean="0"/>
          </a:p>
          <a:p>
            <a:pPr algn="just"/>
            <a:r>
              <a:rPr lang="en-IN" sz="1450" b="1" dirty="0" smtClean="0"/>
              <a:t>Comprehensive </a:t>
            </a:r>
            <a:r>
              <a:rPr lang="en-IN" sz="1450" b="1" dirty="0"/>
              <a:t>Information:</a:t>
            </a:r>
            <a:r>
              <a:rPr lang="en-IN" sz="1450" dirty="0"/>
              <a:t> IT-Mart24 provides extensive details about each product or service, including features, pricing, and user reviews. Complex technical information is presented in a clear and understandable manner through simple charts and </a:t>
            </a:r>
            <a:r>
              <a:rPr lang="en-IN" sz="1450" dirty="0" smtClean="0"/>
              <a:t>info graphics, </a:t>
            </a:r>
            <a:r>
              <a:rPr lang="en-IN" sz="1450" dirty="0"/>
              <a:t>helping users make informed choices</a:t>
            </a:r>
            <a:r>
              <a:rPr lang="en-IN" sz="1450" dirty="0" smtClean="0"/>
              <a:t>.</a:t>
            </a:r>
          </a:p>
          <a:p>
            <a:pPr algn="just"/>
            <a:endParaRPr lang="en-IN" sz="1450" dirty="0"/>
          </a:p>
          <a:p>
            <a:pPr algn="just"/>
            <a:r>
              <a:rPr lang="en-IN" sz="1450" b="1" dirty="0"/>
              <a:t>Side-by-Side Comparisons:</a:t>
            </a:r>
            <a:r>
              <a:rPr lang="en-IN" sz="1450" dirty="0"/>
              <a:t> Users can effortlessly compare different software, hosting, AI tools, and tutorials side by side. Checkbox options for relevant features and pricing details simplify the decision-making process, allowing for quick and accurate comparisons.</a:t>
            </a:r>
          </a:p>
          <a:p>
            <a:pPr algn="just"/>
            <a:endParaRPr lang="en-IN" sz="1450" dirty="0" smtClean="0"/>
          </a:p>
          <a:p>
            <a:pPr algn="just"/>
            <a:r>
              <a:rPr lang="en-IN" sz="1450" b="1" dirty="0" smtClean="0"/>
              <a:t>Predictive </a:t>
            </a:r>
            <a:r>
              <a:rPr lang="en-IN" sz="1450" b="1" dirty="0"/>
              <a:t>Insights:</a:t>
            </a:r>
            <a:r>
              <a:rPr lang="en-IN" sz="1450" dirty="0"/>
              <a:t> Our platform goes beyond just listings and comparisons. We offer predictive insights into the health of digital products. Users receive valuable information that helps them stay ahead of potential issues, such as increased traffic, resource requirements, data security vulnerabilities, and more.</a:t>
            </a:r>
          </a:p>
          <a:p>
            <a:pPr algn="just"/>
            <a:endParaRPr lang="en-IN" sz="1450" dirty="0" smtClean="0"/>
          </a:p>
          <a:p>
            <a:pPr algn="just"/>
            <a:r>
              <a:rPr lang="en-IN" sz="1450" b="1" dirty="0" smtClean="0"/>
              <a:t>User </a:t>
            </a:r>
            <a:r>
              <a:rPr lang="en-IN" sz="1450" b="1" dirty="0"/>
              <a:t>Support and Engagement:</a:t>
            </a:r>
            <a:r>
              <a:rPr lang="en-IN" sz="1450" dirty="0"/>
              <a:t> IT-Mart24 values user feedback and interaction. We provide responsive user support, ensuring that users can reach out with questions or concerns. User engagement initiatives gather input and foster a strong community, enhancing the overall experience.</a:t>
            </a:r>
          </a:p>
          <a:p>
            <a:pPr algn="just"/>
            <a:endParaRPr lang="en-IN" sz="1450" dirty="0"/>
          </a:p>
          <a:p>
            <a:pPr algn="just"/>
            <a:r>
              <a:rPr lang="en-IN" sz="1450" b="1" dirty="0"/>
              <a:t>Continuous Improvement:</a:t>
            </a:r>
            <a:r>
              <a:rPr lang="en-IN" sz="1450" dirty="0"/>
              <a:t> We are committed to constant improvement in user experience. Regular updates and enhancements are part of our approach, with the goal of making the platform even more user-friendly and efficient.</a:t>
            </a:r>
          </a:p>
        </p:txBody>
      </p:sp>
      <p:graphicFrame>
        <p:nvGraphicFramePr>
          <p:cNvPr id="7" name="Table 6"/>
          <p:cNvGraphicFramePr>
            <a:graphicFrameLocks noGrp="1"/>
          </p:cNvGraphicFramePr>
          <p:nvPr>
            <p:extLst>
              <p:ext uri="{D42A27DB-BD31-4B8C-83A1-F6EECF244321}">
                <p14:modId xmlns:p14="http://schemas.microsoft.com/office/powerpoint/2010/main" val="346085009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8" name="TextBox 7"/>
          <p:cNvSpPr txBox="1"/>
          <p:nvPr/>
        </p:nvSpPr>
        <p:spPr>
          <a:xfrm>
            <a:off x="11658600" y="143501"/>
            <a:ext cx="382509" cy="307777"/>
          </a:xfrm>
          <a:prstGeom prst="rect">
            <a:avLst/>
          </a:prstGeom>
          <a:noFill/>
        </p:spPr>
        <p:txBody>
          <a:bodyPr wrap="square" rtlCol="0">
            <a:spAutoFit/>
          </a:bodyPr>
          <a:lstStyle/>
          <a:p>
            <a:r>
              <a:rPr lang="en-US" sz="1400" dirty="0" smtClean="0"/>
              <a:t>18</a:t>
            </a:r>
            <a:endParaRPr lang="en-IN" sz="1400" dirty="0"/>
          </a:p>
        </p:txBody>
      </p:sp>
    </p:spTree>
    <p:extLst>
      <p:ext uri="{BB962C8B-B14F-4D97-AF65-F5344CB8AC3E}">
        <p14:creationId xmlns:p14="http://schemas.microsoft.com/office/powerpoint/2010/main" val="35287179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1923929" y="98362"/>
            <a:ext cx="2672463" cy="369332"/>
          </a:xfrm>
          <a:prstGeom prst="rect">
            <a:avLst/>
          </a:prstGeom>
        </p:spPr>
        <p:txBody>
          <a:bodyPr wrap="none">
            <a:spAutoFit/>
          </a:bodyPr>
          <a:lstStyle/>
          <a:p>
            <a:r>
              <a:rPr lang="en-IN" b="1" dirty="0" smtClean="0">
                <a:solidFill>
                  <a:schemeClr val="dk1"/>
                </a:solidFill>
              </a:rPr>
              <a:t>Features &amp; Functionalities</a:t>
            </a:r>
            <a:endParaRPr lang="en-IN" b="1" dirty="0"/>
          </a:p>
        </p:txBody>
      </p:sp>
      <p:sp>
        <p:nvSpPr>
          <p:cNvPr id="6" name="Rounded Rectangle 5"/>
          <p:cNvSpPr/>
          <p:nvPr/>
        </p:nvSpPr>
        <p:spPr>
          <a:xfrm>
            <a:off x="486276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1/2</a:t>
            </a:r>
            <a:endParaRPr lang="en-IN" b="1" dirty="0">
              <a:solidFill>
                <a:schemeClr val="tx1"/>
              </a:solidFill>
            </a:endParaRPr>
          </a:p>
        </p:txBody>
      </p:sp>
      <p:sp>
        <p:nvSpPr>
          <p:cNvPr id="35" name="Shape">
            <a:extLst>
              <a:ext uri="{FF2B5EF4-FFF2-40B4-BE49-F238E27FC236}">
                <a16:creationId xmlns="" xmlns:a16="http://schemas.microsoft.com/office/drawing/2014/main" id="{C4C1CE20-2BA3-E634-4E38-330FE57A87A5}"/>
              </a:ext>
            </a:extLst>
          </p:cNvPr>
          <p:cNvSpPr/>
          <p:nvPr/>
        </p:nvSpPr>
        <p:spPr>
          <a:xfrm>
            <a:off x="5323612" y="1834939"/>
            <a:ext cx="3708690" cy="3710412"/>
          </a:xfrm>
          <a:custGeom>
            <a:avLst/>
            <a:gdLst/>
            <a:ahLst/>
            <a:cxnLst>
              <a:cxn ang="0">
                <a:pos x="wd2" y="hd2"/>
              </a:cxn>
              <a:cxn ang="5400000">
                <a:pos x="wd2" y="hd2"/>
              </a:cxn>
              <a:cxn ang="10800000">
                <a:pos x="wd2" y="hd2"/>
              </a:cxn>
              <a:cxn ang="16200000">
                <a:pos x="wd2" y="hd2"/>
              </a:cxn>
            </a:cxnLst>
            <a:rect l="0" t="0" r="r" b="b"/>
            <a:pathLst>
              <a:path w="21576" h="21586" extrusionOk="0">
                <a:moveTo>
                  <a:pt x="11167" y="11016"/>
                </a:moveTo>
                <a:lnTo>
                  <a:pt x="21446" y="14443"/>
                </a:lnTo>
                <a:cubicBezTo>
                  <a:pt x="21456" y="14443"/>
                  <a:pt x="21466" y="14453"/>
                  <a:pt x="21476" y="14453"/>
                </a:cubicBezTo>
                <a:cubicBezTo>
                  <a:pt x="21516" y="14453"/>
                  <a:pt x="21556" y="14423"/>
                  <a:pt x="21566" y="14383"/>
                </a:cubicBezTo>
                <a:cubicBezTo>
                  <a:pt x="21586" y="14333"/>
                  <a:pt x="21556" y="14272"/>
                  <a:pt x="21506" y="14252"/>
                </a:cubicBezTo>
                <a:lnTo>
                  <a:pt x="11107" y="10786"/>
                </a:lnTo>
                <a:lnTo>
                  <a:pt x="21506" y="7320"/>
                </a:lnTo>
                <a:cubicBezTo>
                  <a:pt x="21556" y="7300"/>
                  <a:pt x="21586" y="7249"/>
                  <a:pt x="21566" y="7189"/>
                </a:cubicBezTo>
                <a:cubicBezTo>
                  <a:pt x="21546" y="7139"/>
                  <a:pt x="21496" y="7109"/>
                  <a:pt x="21436" y="7129"/>
                </a:cubicBezTo>
                <a:lnTo>
                  <a:pt x="11267" y="10515"/>
                </a:lnTo>
                <a:lnTo>
                  <a:pt x="21546" y="176"/>
                </a:lnTo>
                <a:cubicBezTo>
                  <a:pt x="21586" y="136"/>
                  <a:pt x="21586" y="76"/>
                  <a:pt x="21546" y="36"/>
                </a:cubicBezTo>
                <a:cubicBezTo>
                  <a:pt x="21506" y="-4"/>
                  <a:pt x="21446" y="-4"/>
                  <a:pt x="21406" y="36"/>
                </a:cubicBezTo>
                <a:lnTo>
                  <a:pt x="10986" y="10536"/>
                </a:lnTo>
                <a:lnTo>
                  <a:pt x="14453" y="136"/>
                </a:lnTo>
                <a:cubicBezTo>
                  <a:pt x="14473" y="86"/>
                  <a:pt x="14443" y="26"/>
                  <a:pt x="14393" y="6"/>
                </a:cubicBezTo>
                <a:cubicBezTo>
                  <a:pt x="14343" y="-14"/>
                  <a:pt x="14282" y="16"/>
                  <a:pt x="14262" y="66"/>
                </a:cubicBezTo>
                <a:lnTo>
                  <a:pt x="10796" y="10465"/>
                </a:lnTo>
                <a:lnTo>
                  <a:pt x="7330" y="76"/>
                </a:lnTo>
                <a:cubicBezTo>
                  <a:pt x="7310" y="26"/>
                  <a:pt x="7259" y="-4"/>
                  <a:pt x="7199" y="16"/>
                </a:cubicBezTo>
                <a:cubicBezTo>
                  <a:pt x="7149" y="36"/>
                  <a:pt x="7119" y="86"/>
                  <a:pt x="7139" y="146"/>
                </a:cubicBezTo>
                <a:lnTo>
                  <a:pt x="10566" y="10425"/>
                </a:lnTo>
                <a:lnTo>
                  <a:pt x="176" y="36"/>
                </a:lnTo>
                <a:cubicBezTo>
                  <a:pt x="136" y="-4"/>
                  <a:pt x="76" y="-4"/>
                  <a:pt x="36" y="36"/>
                </a:cubicBezTo>
                <a:cubicBezTo>
                  <a:pt x="-4" y="76"/>
                  <a:pt x="-4" y="136"/>
                  <a:pt x="36" y="176"/>
                </a:cubicBezTo>
                <a:lnTo>
                  <a:pt x="10415" y="10556"/>
                </a:lnTo>
                <a:lnTo>
                  <a:pt x="136" y="7129"/>
                </a:lnTo>
                <a:cubicBezTo>
                  <a:pt x="86" y="7109"/>
                  <a:pt x="26" y="7139"/>
                  <a:pt x="6" y="7189"/>
                </a:cubicBezTo>
                <a:cubicBezTo>
                  <a:pt x="-14" y="7239"/>
                  <a:pt x="16" y="7300"/>
                  <a:pt x="66" y="7320"/>
                </a:cubicBezTo>
                <a:lnTo>
                  <a:pt x="10465" y="10786"/>
                </a:lnTo>
                <a:lnTo>
                  <a:pt x="66" y="14252"/>
                </a:lnTo>
                <a:cubicBezTo>
                  <a:pt x="16" y="14272"/>
                  <a:pt x="-14" y="14323"/>
                  <a:pt x="6" y="14383"/>
                </a:cubicBezTo>
                <a:cubicBezTo>
                  <a:pt x="16" y="14423"/>
                  <a:pt x="56" y="14453"/>
                  <a:pt x="96" y="14453"/>
                </a:cubicBezTo>
                <a:cubicBezTo>
                  <a:pt x="106" y="14453"/>
                  <a:pt x="116" y="14453"/>
                  <a:pt x="126" y="14443"/>
                </a:cubicBezTo>
                <a:lnTo>
                  <a:pt x="10295" y="11057"/>
                </a:lnTo>
                <a:lnTo>
                  <a:pt x="36" y="21406"/>
                </a:lnTo>
                <a:cubicBezTo>
                  <a:pt x="-4" y="21446"/>
                  <a:pt x="-4" y="21506"/>
                  <a:pt x="36" y="21546"/>
                </a:cubicBezTo>
                <a:cubicBezTo>
                  <a:pt x="56" y="21566"/>
                  <a:pt x="76" y="21576"/>
                  <a:pt x="106" y="21576"/>
                </a:cubicBezTo>
                <a:cubicBezTo>
                  <a:pt x="136" y="21576"/>
                  <a:pt x="156" y="21566"/>
                  <a:pt x="176" y="21546"/>
                </a:cubicBezTo>
                <a:lnTo>
                  <a:pt x="10596" y="11046"/>
                </a:lnTo>
                <a:lnTo>
                  <a:pt x="7139" y="21446"/>
                </a:lnTo>
                <a:cubicBezTo>
                  <a:pt x="7119" y="21496"/>
                  <a:pt x="7149" y="21556"/>
                  <a:pt x="7199" y="21576"/>
                </a:cubicBezTo>
                <a:cubicBezTo>
                  <a:pt x="7209" y="21576"/>
                  <a:pt x="7219" y="21586"/>
                  <a:pt x="7229" y="21586"/>
                </a:cubicBezTo>
                <a:cubicBezTo>
                  <a:pt x="7269" y="21586"/>
                  <a:pt x="7310" y="21556"/>
                  <a:pt x="7320" y="21516"/>
                </a:cubicBezTo>
                <a:lnTo>
                  <a:pt x="10786" y="11117"/>
                </a:lnTo>
                <a:lnTo>
                  <a:pt x="14252" y="21516"/>
                </a:lnTo>
                <a:cubicBezTo>
                  <a:pt x="14262" y="21556"/>
                  <a:pt x="14303" y="21586"/>
                  <a:pt x="14343" y="21586"/>
                </a:cubicBezTo>
                <a:cubicBezTo>
                  <a:pt x="14353" y="21586"/>
                  <a:pt x="14363" y="21586"/>
                  <a:pt x="14373" y="21576"/>
                </a:cubicBezTo>
                <a:cubicBezTo>
                  <a:pt x="14423" y="21556"/>
                  <a:pt x="14453" y="21506"/>
                  <a:pt x="14433" y="21446"/>
                </a:cubicBezTo>
                <a:lnTo>
                  <a:pt x="11006" y="11167"/>
                </a:lnTo>
                <a:lnTo>
                  <a:pt x="21386" y="21546"/>
                </a:lnTo>
                <a:cubicBezTo>
                  <a:pt x="21406" y="21566"/>
                  <a:pt x="21436" y="21576"/>
                  <a:pt x="21456" y="21576"/>
                </a:cubicBezTo>
                <a:cubicBezTo>
                  <a:pt x="21476" y="21576"/>
                  <a:pt x="21506" y="21566"/>
                  <a:pt x="21526" y="21546"/>
                </a:cubicBezTo>
                <a:cubicBezTo>
                  <a:pt x="21566" y="21506"/>
                  <a:pt x="21566" y="21446"/>
                  <a:pt x="21526" y="21406"/>
                </a:cubicBezTo>
                <a:lnTo>
                  <a:pt x="11167" y="11016"/>
                </a:lnTo>
                <a:close/>
              </a:path>
            </a:pathLst>
          </a:custGeom>
          <a:solidFill>
            <a:schemeClr val="tx2"/>
          </a:solidFill>
          <a:ln w="12700">
            <a:miter lim="400000"/>
          </a:ln>
        </p:spPr>
        <p:txBody>
          <a:bodyPr lIns="38100" tIns="38100" rIns="38100" bIns="38100" anchor="ctr"/>
          <a:lstStyle/>
          <a:p>
            <a:pPr>
              <a:defRPr sz="3000">
                <a:solidFill>
                  <a:srgbClr val="FFFFFF"/>
                </a:solidFill>
              </a:defRPr>
            </a:pPr>
            <a:endParaRPr/>
          </a:p>
        </p:txBody>
      </p:sp>
      <p:sp>
        <p:nvSpPr>
          <p:cNvPr id="37" name="Circle">
            <a:extLst>
              <a:ext uri="{FF2B5EF4-FFF2-40B4-BE49-F238E27FC236}">
                <a16:creationId xmlns="" xmlns:a16="http://schemas.microsoft.com/office/drawing/2014/main" id="{8E1472EE-1CFE-5B90-D6A8-FDAA499F1E34}"/>
              </a:ext>
            </a:extLst>
          </p:cNvPr>
          <p:cNvSpPr/>
          <p:nvPr/>
        </p:nvSpPr>
        <p:spPr>
          <a:xfrm>
            <a:off x="4789773" y="1301100"/>
            <a:ext cx="1109012" cy="1109012"/>
          </a:xfrm>
          <a:prstGeom prst="ellipse">
            <a:avLst/>
          </a:prstGeom>
          <a:solidFill>
            <a:schemeClr val="accent6"/>
          </a:solidFill>
          <a:ln w="12700">
            <a:miter lim="400000"/>
          </a:ln>
        </p:spPr>
        <p:txBody>
          <a:bodyPr lIns="38100" tIns="38100" rIns="38100" bIns="38100" anchor="ctr"/>
          <a:lstStyle/>
          <a:p>
            <a:pPr>
              <a:defRPr sz="3000">
                <a:solidFill>
                  <a:srgbClr val="FFFFFF"/>
                </a:solidFill>
              </a:defRPr>
            </a:pPr>
            <a:endParaRPr/>
          </a:p>
        </p:txBody>
      </p:sp>
      <p:sp>
        <p:nvSpPr>
          <p:cNvPr id="38" name="Circle">
            <a:extLst>
              <a:ext uri="{FF2B5EF4-FFF2-40B4-BE49-F238E27FC236}">
                <a16:creationId xmlns="" xmlns:a16="http://schemas.microsoft.com/office/drawing/2014/main" id="{14A3C670-32B1-B826-EFE8-103CB11C4A6E}"/>
              </a:ext>
            </a:extLst>
          </p:cNvPr>
          <p:cNvSpPr/>
          <p:nvPr/>
        </p:nvSpPr>
        <p:spPr>
          <a:xfrm>
            <a:off x="6012440" y="1301100"/>
            <a:ext cx="1109012" cy="1109012"/>
          </a:xfrm>
          <a:prstGeom prst="ellipse">
            <a:avLst/>
          </a:prstGeom>
          <a:solidFill>
            <a:schemeClr val="accent4"/>
          </a:solidFill>
          <a:ln w="12700">
            <a:miter lim="400000"/>
          </a:ln>
        </p:spPr>
        <p:txBody>
          <a:bodyPr lIns="38100" tIns="38100" rIns="38100" bIns="38100" anchor="ctr"/>
          <a:lstStyle/>
          <a:p>
            <a:pPr>
              <a:defRPr sz="3000">
                <a:solidFill>
                  <a:srgbClr val="FFFFFF"/>
                </a:solidFill>
              </a:defRPr>
            </a:pPr>
            <a:endParaRPr/>
          </a:p>
        </p:txBody>
      </p:sp>
      <p:sp>
        <p:nvSpPr>
          <p:cNvPr id="39" name="Circle">
            <a:extLst>
              <a:ext uri="{FF2B5EF4-FFF2-40B4-BE49-F238E27FC236}">
                <a16:creationId xmlns="" xmlns:a16="http://schemas.microsoft.com/office/drawing/2014/main" id="{95FF9379-3075-32ED-8669-30D057B15C24}"/>
              </a:ext>
            </a:extLst>
          </p:cNvPr>
          <p:cNvSpPr/>
          <p:nvPr/>
        </p:nvSpPr>
        <p:spPr>
          <a:xfrm>
            <a:off x="7235107" y="1301100"/>
            <a:ext cx="1109012" cy="1109012"/>
          </a:xfrm>
          <a:prstGeom prst="ellipse">
            <a:avLst/>
          </a:prstGeom>
          <a:solidFill>
            <a:schemeClr val="accent2"/>
          </a:solidFill>
          <a:ln w="12700">
            <a:miter lim="400000"/>
          </a:ln>
        </p:spPr>
        <p:txBody>
          <a:bodyPr lIns="38100" tIns="38100" rIns="38100" bIns="38100" anchor="ctr"/>
          <a:lstStyle/>
          <a:p>
            <a:pPr>
              <a:defRPr sz="3000">
                <a:solidFill>
                  <a:srgbClr val="FFFFFF"/>
                </a:solidFill>
              </a:defRPr>
            </a:pPr>
            <a:endParaRPr/>
          </a:p>
        </p:txBody>
      </p:sp>
      <p:sp>
        <p:nvSpPr>
          <p:cNvPr id="40" name="Circle">
            <a:extLst>
              <a:ext uri="{FF2B5EF4-FFF2-40B4-BE49-F238E27FC236}">
                <a16:creationId xmlns="" xmlns:a16="http://schemas.microsoft.com/office/drawing/2014/main" id="{C9F8B82C-07A0-0CAF-A527-5FD904C04DB1}"/>
              </a:ext>
            </a:extLst>
          </p:cNvPr>
          <p:cNvSpPr/>
          <p:nvPr/>
        </p:nvSpPr>
        <p:spPr>
          <a:xfrm>
            <a:off x="8457775" y="1301100"/>
            <a:ext cx="1109012" cy="1109012"/>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41" name="Circle">
            <a:extLst>
              <a:ext uri="{FF2B5EF4-FFF2-40B4-BE49-F238E27FC236}">
                <a16:creationId xmlns="" xmlns:a16="http://schemas.microsoft.com/office/drawing/2014/main" id="{EE0AAFA8-DF38-452B-2A22-83863E3344E5}"/>
              </a:ext>
            </a:extLst>
          </p:cNvPr>
          <p:cNvSpPr/>
          <p:nvPr/>
        </p:nvSpPr>
        <p:spPr>
          <a:xfrm>
            <a:off x="4789773" y="4969102"/>
            <a:ext cx="1109012" cy="1109012"/>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42" name="Circle">
            <a:extLst>
              <a:ext uri="{FF2B5EF4-FFF2-40B4-BE49-F238E27FC236}">
                <a16:creationId xmlns="" xmlns:a16="http://schemas.microsoft.com/office/drawing/2014/main" id="{D4EE102C-6B4E-D826-2F94-AF9DEFC1E0F6}"/>
              </a:ext>
            </a:extLst>
          </p:cNvPr>
          <p:cNvSpPr/>
          <p:nvPr/>
        </p:nvSpPr>
        <p:spPr>
          <a:xfrm>
            <a:off x="6012440" y="4969102"/>
            <a:ext cx="1109012" cy="1109012"/>
          </a:xfrm>
          <a:prstGeom prst="ellipse">
            <a:avLst/>
          </a:prstGeom>
          <a:solidFill>
            <a:schemeClr val="accent2"/>
          </a:solidFill>
          <a:ln w="12700">
            <a:miter lim="400000"/>
          </a:ln>
        </p:spPr>
        <p:txBody>
          <a:bodyPr lIns="38100" tIns="38100" rIns="38100" bIns="38100" anchor="ctr"/>
          <a:lstStyle/>
          <a:p>
            <a:pPr>
              <a:defRPr sz="3000">
                <a:solidFill>
                  <a:srgbClr val="FFFFFF"/>
                </a:solidFill>
              </a:defRPr>
            </a:pPr>
            <a:endParaRPr/>
          </a:p>
        </p:txBody>
      </p:sp>
      <p:sp>
        <p:nvSpPr>
          <p:cNvPr id="43" name="Circle">
            <a:extLst>
              <a:ext uri="{FF2B5EF4-FFF2-40B4-BE49-F238E27FC236}">
                <a16:creationId xmlns="" xmlns:a16="http://schemas.microsoft.com/office/drawing/2014/main" id="{69B31D33-3048-D073-A7E9-A213EB145347}"/>
              </a:ext>
            </a:extLst>
          </p:cNvPr>
          <p:cNvSpPr/>
          <p:nvPr/>
        </p:nvSpPr>
        <p:spPr>
          <a:xfrm>
            <a:off x="7235107" y="4969102"/>
            <a:ext cx="1109012" cy="1109012"/>
          </a:xfrm>
          <a:prstGeom prst="ellipse">
            <a:avLst/>
          </a:prstGeom>
          <a:solidFill>
            <a:schemeClr val="accent4"/>
          </a:solidFill>
          <a:ln w="12700">
            <a:miter lim="400000"/>
          </a:ln>
        </p:spPr>
        <p:txBody>
          <a:bodyPr lIns="38100" tIns="38100" rIns="38100" bIns="38100" anchor="ctr"/>
          <a:lstStyle/>
          <a:p>
            <a:pPr>
              <a:defRPr sz="3000">
                <a:solidFill>
                  <a:srgbClr val="FFFFFF"/>
                </a:solidFill>
              </a:defRPr>
            </a:pPr>
            <a:endParaRPr/>
          </a:p>
        </p:txBody>
      </p:sp>
      <p:sp>
        <p:nvSpPr>
          <p:cNvPr id="44" name="Circle">
            <a:extLst>
              <a:ext uri="{FF2B5EF4-FFF2-40B4-BE49-F238E27FC236}">
                <a16:creationId xmlns="" xmlns:a16="http://schemas.microsoft.com/office/drawing/2014/main" id="{E3B5A6CC-03FF-8DF5-D97C-F2D6E6790CEA}"/>
              </a:ext>
            </a:extLst>
          </p:cNvPr>
          <p:cNvSpPr/>
          <p:nvPr/>
        </p:nvSpPr>
        <p:spPr>
          <a:xfrm>
            <a:off x="8457775" y="4969102"/>
            <a:ext cx="1109012" cy="1109012"/>
          </a:xfrm>
          <a:prstGeom prst="ellipse">
            <a:avLst/>
          </a:prstGeom>
          <a:solidFill>
            <a:schemeClr val="accent6"/>
          </a:solidFill>
          <a:ln w="12700">
            <a:miter lim="400000"/>
          </a:ln>
        </p:spPr>
        <p:txBody>
          <a:bodyPr lIns="38100" tIns="38100" rIns="38100" bIns="38100" anchor="ctr"/>
          <a:lstStyle/>
          <a:p>
            <a:pPr>
              <a:defRPr sz="3000">
                <a:solidFill>
                  <a:srgbClr val="FFFFFF"/>
                </a:solidFill>
              </a:defRPr>
            </a:pPr>
            <a:endParaRPr/>
          </a:p>
        </p:txBody>
      </p:sp>
      <p:sp>
        <p:nvSpPr>
          <p:cNvPr id="45" name="Circle">
            <a:extLst>
              <a:ext uri="{FF2B5EF4-FFF2-40B4-BE49-F238E27FC236}">
                <a16:creationId xmlns="" xmlns:a16="http://schemas.microsoft.com/office/drawing/2014/main" id="{E36554B0-E57C-146A-C1C5-3B84A85FE4DD}"/>
              </a:ext>
            </a:extLst>
          </p:cNvPr>
          <p:cNvSpPr/>
          <p:nvPr/>
        </p:nvSpPr>
        <p:spPr>
          <a:xfrm>
            <a:off x="4789773" y="3746434"/>
            <a:ext cx="1109012" cy="1109012"/>
          </a:xfrm>
          <a:prstGeom prst="ellipse">
            <a:avLst/>
          </a:prstGeom>
          <a:solidFill>
            <a:schemeClr val="accent3"/>
          </a:solidFill>
          <a:ln w="12700">
            <a:miter lim="400000"/>
          </a:ln>
        </p:spPr>
        <p:txBody>
          <a:bodyPr lIns="38100" tIns="38100" rIns="38100" bIns="38100" anchor="ctr"/>
          <a:lstStyle/>
          <a:p>
            <a:pPr>
              <a:defRPr sz="3000">
                <a:solidFill>
                  <a:srgbClr val="FFFFFF"/>
                </a:solidFill>
              </a:defRPr>
            </a:pPr>
            <a:endParaRPr/>
          </a:p>
        </p:txBody>
      </p:sp>
      <p:sp>
        <p:nvSpPr>
          <p:cNvPr id="46" name="Circle">
            <a:extLst>
              <a:ext uri="{FF2B5EF4-FFF2-40B4-BE49-F238E27FC236}">
                <a16:creationId xmlns="" xmlns:a16="http://schemas.microsoft.com/office/drawing/2014/main" id="{85D4C44E-AFCB-71A7-855F-A3985F9E0C52}"/>
              </a:ext>
            </a:extLst>
          </p:cNvPr>
          <p:cNvSpPr/>
          <p:nvPr/>
        </p:nvSpPr>
        <p:spPr>
          <a:xfrm>
            <a:off x="4789773" y="2523767"/>
            <a:ext cx="1109012" cy="1109012"/>
          </a:xfrm>
          <a:prstGeom prst="ellipse">
            <a:avLst/>
          </a:prstGeom>
          <a:solidFill>
            <a:srgbClr val="7030A0"/>
          </a:solidFill>
          <a:ln w="12700">
            <a:miter lim="400000"/>
          </a:ln>
        </p:spPr>
        <p:txBody>
          <a:bodyPr lIns="38100" tIns="38100" rIns="38100" bIns="38100" anchor="ctr"/>
          <a:lstStyle/>
          <a:p>
            <a:pPr>
              <a:defRPr sz="3000">
                <a:solidFill>
                  <a:srgbClr val="FFFFFF"/>
                </a:solidFill>
              </a:defRPr>
            </a:pPr>
            <a:endParaRPr/>
          </a:p>
        </p:txBody>
      </p:sp>
      <p:sp>
        <p:nvSpPr>
          <p:cNvPr id="47" name="Circle">
            <a:extLst>
              <a:ext uri="{FF2B5EF4-FFF2-40B4-BE49-F238E27FC236}">
                <a16:creationId xmlns="" xmlns:a16="http://schemas.microsoft.com/office/drawing/2014/main" id="{77AF5036-EC26-9F37-F08A-ABCF2515E7B8}"/>
              </a:ext>
            </a:extLst>
          </p:cNvPr>
          <p:cNvSpPr/>
          <p:nvPr/>
        </p:nvSpPr>
        <p:spPr>
          <a:xfrm>
            <a:off x="8457775" y="3746434"/>
            <a:ext cx="1109012" cy="1109012"/>
          </a:xfrm>
          <a:prstGeom prst="ellipse">
            <a:avLst/>
          </a:prstGeom>
          <a:solidFill>
            <a:srgbClr val="7030A0"/>
          </a:solidFill>
          <a:ln w="12700">
            <a:miter lim="400000"/>
          </a:ln>
        </p:spPr>
        <p:txBody>
          <a:bodyPr lIns="38100" tIns="38100" rIns="38100" bIns="38100" anchor="ctr"/>
          <a:lstStyle/>
          <a:p>
            <a:pPr>
              <a:defRPr sz="3000">
                <a:solidFill>
                  <a:srgbClr val="FFFFFF"/>
                </a:solidFill>
              </a:defRPr>
            </a:pPr>
            <a:endParaRPr/>
          </a:p>
        </p:txBody>
      </p:sp>
      <p:sp>
        <p:nvSpPr>
          <p:cNvPr id="48" name="Circle">
            <a:extLst>
              <a:ext uri="{FF2B5EF4-FFF2-40B4-BE49-F238E27FC236}">
                <a16:creationId xmlns="" xmlns:a16="http://schemas.microsoft.com/office/drawing/2014/main" id="{4A0CA6C2-43E3-7D84-3BD5-0651461DDA43}"/>
              </a:ext>
            </a:extLst>
          </p:cNvPr>
          <p:cNvSpPr/>
          <p:nvPr/>
        </p:nvSpPr>
        <p:spPr>
          <a:xfrm>
            <a:off x="8457775" y="2523767"/>
            <a:ext cx="1109012" cy="1109012"/>
          </a:xfrm>
          <a:prstGeom prst="ellipse">
            <a:avLst/>
          </a:prstGeom>
          <a:solidFill>
            <a:schemeClr val="accent3"/>
          </a:solidFill>
          <a:ln w="12700">
            <a:miter lim="400000"/>
          </a:ln>
        </p:spPr>
        <p:txBody>
          <a:bodyPr lIns="38100" tIns="38100" rIns="38100" bIns="38100" anchor="ctr"/>
          <a:lstStyle/>
          <a:p>
            <a:pPr>
              <a:defRPr sz="3000">
                <a:solidFill>
                  <a:srgbClr val="FFFFFF"/>
                </a:solidFill>
              </a:defRPr>
            </a:pPr>
            <a:endParaRPr/>
          </a:p>
        </p:txBody>
      </p:sp>
      <p:sp>
        <p:nvSpPr>
          <p:cNvPr id="49" name="Shape">
            <a:extLst>
              <a:ext uri="{FF2B5EF4-FFF2-40B4-BE49-F238E27FC236}">
                <a16:creationId xmlns="" xmlns:a16="http://schemas.microsoft.com/office/drawing/2014/main" id="{F875F94B-014B-337E-AFAC-BFE40D5640AE}"/>
              </a:ext>
            </a:extLst>
          </p:cNvPr>
          <p:cNvSpPr/>
          <p:nvPr/>
        </p:nvSpPr>
        <p:spPr>
          <a:xfrm>
            <a:off x="6253530" y="2764857"/>
            <a:ext cx="1854666" cy="1854667"/>
          </a:xfrm>
          <a:custGeom>
            <a:avLst/>
            <a:gdLst/>
            <a:ahLst/>
            <a:cxnLst>
              <a:cxn ang="0">
                <a:pos x="wd2" y="hd2"/>
              </a:cxn>
              <a:cxn ang="5400000">
                <a:pos x="wd2" y="hd2"/>
              </a:cxn>
              <a:cxn ang="10800000">
                <a:pos x="wd2" y="hd2"/>
              </a:cxn>
              <a:cxn ang="16200000">
                <a:pos x="wd2" y="hd2"/>
              </a:cxn>
            </a:cxnLst>
            <a:rect l="0" t="0" r="r" b="b"/>
            <a:pathLst>
              <a:path w="21600" h="21600" extrusionOk="0">
                <a:moveTo>
                  <a:pt x="15864" y="0"/>
                </a:moveTo>
                <a:lnTo>
                  <a:pt x="5736" y="0"/>
                </a:lnTo>
                <a:cubicBezTo>
                  <a:pt x="2567" y="0"/>
                  <a:pt x="0" y="2567"/>
                  <a:pt x="0" y="5736"/>
                </a:cubicBezTo>
                <a:lnTo>
                  <a:pt x="0" y="15864"/>
                </a:lnTo>
                <a:cubicBezTo>
                  <a:pt x="0" y="19033"/>
                  <a:pt x="2567" y="21600"/>
                  <a:pt x="5736" y="21600"/>
                </a:cubicBezTo>
                <a:lnTo>
                  <a:pt x="15864" y="21600"/>
                </a:lnTo>
                <a:cubicBezTo>
                  <a:pt x="19033" y="21600"/>
                  <a:pt x="21600" y="19033"/>
                  <a:pt x="21600" y="15864"/>
                </a:cubicBezTo>
                <a:lnTo>
                  <a:pt x="21600" y="5736"/>
                </a:lnTo>
                <a:cubicBezTo>
                  <a:pt x="21600" y="2567"/>
                  <a:pt x="19033" y="0"/>
                  <a:pt x="15864" y="0"/>
                </a:cubicBezTo>
                <a:close/>
              </a:path>
            </a:pathLst>
          </a:custGeom>
          <a:solidFill>
            <a:schemeClr val="tx2"/>
          </a:solidFill>
          <a:ln w="12700">
            <a:miter lim="400000"/>
          </a:ln>
        </p:spPr>
        <p:txBody>
          <a:bodyPr lIns="38100" tIns="38100" rIns="38100" bIns="38100" anchor="ctr"/>
          <a:lstStyle/>
          <a:p>
            <a:pPr algn="ctr">
              <a:defRPr sz="3000">
                <a:solidFill>
                  <a:srgbClr val="FFFFFF"/>
                </a:solidFill>
              </a:defRPr>
            </a:pPr>
            <a:r>
              <a:rPr lang="en-IN" sz="2000" b="1" dirty="0"/>
              <a:t>Features and Functionalities</a:t>
            </a:r>
            <a:endParaRPr sz="2000" dirty="0"/>
          </a:p>
        </p:txBody>
      </p:sp>
      <p:sp>
        <p:nvSpPr>
          <p:cNvPr id="2" name="Rectangle 1"/>
          <p:cNvSpPr/>
          <p:nvPr/>
        </p:nvSpPr>
        <p:spPr>
          <a:xfrm>
            <a:off x="2925672" y="1425032"/>
            <a:ext cx="1520115" cy="523220"/>
          </a:xfrm>
          <a:prstGeom prst="rect">
            <a:avLst/>
          </a:prstGeom>
        </p:spPr>
        <p:txBody>
          <a:bodyPr wrap="square">
            <a:spAutoFit/>
          </a:bodyPr>
          <a:lstStyle/>
          <a:p>
            <a:pPr algn="ctr"/>
            <a:r>
              <a:rPr lang="en-IN" sz="1400" b="1" dirty="0" smtClean="0">
                <a:latin typeface="Söhne"/>
              </a:rPr>
              <a:t>Comprehensive Listings</a:t>
            </a:r>
            <a:endParaRPr lang="en-IN" sz="1400" dirty="0"/>
          </a:p>
        </p:txBody>
      </p:sp>
      <p:sp>
        <p:nvSpPr>
          <p:cNvPr id="80" name="Rectangle 79"/>
          <p:cNvSpPr/>
          <p:nvPr/>
        </p:nvSpPr>
        <p:spPr>
          <a:xfrm>
            <a:off x="5165195" y="477030"/>
            <a:ext cx="1892358" cy="523220"/>
          </a:xfrm>
          <a:prstGeom prst="rect">
            <a:avLst/>
          </a:prstGeom>
        </p:spPr>
        <p:txBody>
          <a:bodyPr wrap="square">
            <a:spAutoFit/>
          </a:bodyPr>
          <a:lstStyle/>
          <a:p>
            <a:pPr algn="ctr"/>
            <a:r>
              <a:rPr lang="en-IN" sz="1400" b="1" dirty="0">
                <a:latin typeface="Söhne"/>
              </a:rPr>
              <a:t>AI-Driven Recommendations</a:t>
            </a:r>
            <a:endParaRPr lang="en-IN" sz="1400" dirty="0"/>
          </a:p>
        </p:txBody>
      </p:sp>
      <p:sp>
        <p:nvSpPr>
          <p:cNvPr id="81" name="Rectangle 80"/>
          <p:cNvSpPr/>
          <p:nvPr/>
        </p:nvSpPr>
        <p:spPr>
          <a:xfrm>
            <a:off x="7213297" y="481513"/>
            <a:ext cx="1482271" cy="523220"/>
          </a:xfrm>
          <a:prstGeom prst="rect">
            <a:avLst/>
          </a:prstGeom>
        </p:spPr>
        <p:txBody>
          <a:bodyPr wrap="square">
            <a:spAutoFit/>
          </a:bodyPr>
          <a:lstStyle/>
          <a:p>
            <a:pPr algn="ctr"/>
            <a:r>
              <a:rPr lang="en-IN" sz="1400" b="1" dirty="0">
                <a:latin typeface="Söhne"/>
              </a:rPr>
              <a:t>Precise Hosting Match</a:t>
            </a:r>
            <a:endParaRPr lang="en-IN" sz="1400" dirty="0"/>
          </a:p>
        </p:txBody>
      </p:sp>
      <p:sp>
        <p:nvSpPr>
          <p:cNvPr id="5" name="Rectangle 4"/>
          <p:cNvSpPr/>
          <p:nvPr/>
        </p:nvSpPr>
        <p:spPr>
          <a:xfrm>
            <a:off x="9638735" y="1317310"/>
            <a:ext cx="1521903" cy="738664"/>
          </a:xfrm>
          <a:prstGeom prst="rect">
            <a:avLst/>
          </a:prstGeom>
        </p:spPr>
        <p:txBody>
          <a:bodyPr wrap="square">
            <a:spAutoFit/>
          </a:bodyPr>
          <a:lstStyle/>
          <a:p>
            <a:pPr algn="ctr"/>
            <a:r>
              <a:rPr lang="en-IN" sz="1400" b="1" dirty="0">
                <a:latin typeface="Söhne"/>
              </a:rPr>
              <a:t>Vendor Comparison Tools</a:t>
            </a:r>
            <a:endParaRPr lang="en-IN" sz="1400" dirty="0"/>
          </a:p>
        </p:txBody>
      </p:sp>
      <p:sp>
        <p:nvSpPr>
          <p:cNvPr id="7" name="Rectangle 6"/>
          <p:cNvSpPr/>
          <p:nvPr/>
        </p:nvSpPr>
        <p:spPr>
          <a:xfrm>
            <a:off x="9559291" y="2788924"/>
            <a:ext cx="1622407" cy="523220"/>
          </a:xfrm>
          <a:prstGeom prst="rect">
            <a:avLst/>
          </a:prstGeom>
        </p:spPr>
        <p:txBody>
          <a:bodyPr wrap="square">
            <a:spAutoFit/>
          </a:bodyPr>
          <a:lstStyle/>
          <a:p>
            <a:pPr algn="ctr"/>
            <a:r>
              <a:rPr lang="en-IN" sz="1400" b="1" dirty="0">
                <a:latin typeface="Söhne"/>
              </a:rPr>
              <a:t>User Reviews and Ratings</a:t>
            </a:r>
            <a:endParaRPr lang="en-IN" sz="1400" dirty="0"/>
          </a:p>
        </p:txBody>
      </p:sp>
      <p:sp>
        <p:nvSpPr>
          <p:cNvPr id="8" name="Rectangle 7"/>
          <p:cNvSpPr/>
          <p:nvPr/>
        </p:nvSpPr>
        <p:spPr>
          <a:xfrm>
            <a:off x="9638735" y="4046078"/>
            <a:ext cx="1721390" cy="523220"/>
          </a:xfrm>
          <a:prstGeom prst="rect">
            <a:avLst/>
          </a:prstGeom>
        </p:spPr>
        <p:txBody>
          <a:bodyPr wrap="square">
            <a:spAutoFit/>
          </a:bodyPr>
          <a:lstStyle/>
          <a:p>
            <a:pPr algn="ctr"/>
            <a:r>
              <a:rPr lang="en-IN" sz="1400" b="1" dirty="0">
                <a:latin typeface="Söhne"/>
              </a:rPr>
              <a:t>Predictive Health Insights</a:t>
            </a:r>
            <a:endParaRPr lang="en-IN" sz="1400" dirty="0"/>
          </a:p>
        </p:txBody>
      </p:sp>
      <p:sp>
        <p:nvSpPr>
          <p:cNvPr id="9" name="Rectangle 8"/>
          <p:cNvSpPr/>
          <p:nvPr/>
        </p:nvSpPr>
        <p:spPr>
          <a:xfrm>
            <a:off x="9792067" y="5369719"/>
            <a:ext cx="1568058" cy="307777"/>
          </a:xfrm>
          <a:prstGeom prst="rect">
            <a:avLst/>
          </a:prstGeom>
        </p:spPr>
        <p:txBody>
          <a:bodyPr wrap="none">
            <a:spAutoFit/>
          </a:bodyPr>
          <a:lstStyle/>
          <a:p>
            <a:r>
              <a:rPr lang="en-IN" sz="1400" b="1" dirty="0" smtClean="0">
                <a:latin typeface="Söhne"/>
              </a:rPr>
              <a:t>User Dashboard</a:t>
            </a:r>
            <a:endParaRPr lang="en-IN" sz="1400" dirty="0"/>
          </a:p>
        </p:txBody>
      </p:sp>
      <p:sp>
        <p:nvSpPr>
          <p:cNvPr id="10" name="Rectangle 9"/>
          <p:cNvSpPr/>
          <p:nvPr/>
        </p:nvSpPr>
        <p:spPr>
          <a:xfrm>
            <a:off x="7277823" y="6204234"/>
            <a:ext cx="1353218" cy="523220"/>
          </a:xfrm>
          <a:prstGeom prst="rect">
            <a:avLst/>
          </a:prstGeom>
        </p:spPr>
        <p:txBody>
          <a:bodyPr wrap="square">
            <a:spAutoFit/>
          </a:bodyPr>
          <a:lstStyle/>
          <a:p>
            <a:pPr algn="ctr"/>
            <a:r>
              <a:rPr lang="en-IN" sz="1400" b="1" dirty="0">
                <a:latin typeface="Söhne"/>
              </a:rPr>
              <a:t>Affiliate Program</a:t>
            </a:r>
            <a:endParaRPr lang="en-IN" sz="1400" dirty="0"/>
          </a:p>
        </p:txBody>
      </p:sp>
      <p:sp>
        <p:nvSpPr>
          <p:cNvPr id="11" name="Rectangle 10"/>
          <p:cNvSpPr/>
          <p:nvPr/>
        </p:nvSpPr>
        <p:spPr>
          <a:xfrm>
            <a:off x="5712422" y="6273803"/>
            <a:ext cx="1527982" cy="307777"/>
          </a:xfrm>
          <a:prstGeom prst="rect">
            <a:avLst/>
          </a:prstGeom>
        </p:spPr>
        <p:txBody>
          <a:bodyPr wrap="none">
            <a:spAutoFit/>
          </a:bodyPr>
          <a:lstStyle/>
          <a:p>
            <a:r>
              <a:rPr lang="en-IN" sz="1400" b="1" dirty="0">
                <a:latin typeface="Söhne"/>
              </a:rPr>
              <a:t>Advertisements</a:t>
            </a:r>
            <a:endParaRPr lang="en-IN" sz="1400" dirty="0"/>
          </a:p>
        </p:txBody>
      </p:sp>
      <p:sp>
        <p:nvSpPr>
          <p:cNvPr id="12" name="Rectangle 11"/>
          <p:cNvSpPr/>
          <p:nvPr/>
        </p:nvSpPr>
        <p:spPr>
          <a:xfrm>
            <a:off x="3139886" y="5464472"/>
            <a:ext cx="1348966" cy="523220"/>
          </a:xfrm>
          <a:prstGeom prst="rect">
            <a:avLst/>
          </a:prstGeom>
        </p:spPr>
        <p:txBody>
          <a:bodyPr wrap="square">
            <a:spAutoFit/>
          </a:bodyPr>
          <a:lstStyle/>
          <a:p>
            <a:pPr algn="ctr"/>
            <a:r>
              <a:rPr lang="en-IN" sz="1400" b="1" dirty="0">
                <a:latin typeface="Söhne"/>
              </a:rPr>
              <a:t>SEO and PPC Integration</a:t>
            </a:r>
            <a:endParaRPr lang="en-IN" sz="1400" dirty="0"/>
          </a:p>
        </p:txBody>
      </p:sp>
      <p:sp>
        <p:nvSpPr>
          <p:cNvPr id="13" name="Rectangle 12"/>
          <p:cNvSpPr/>
          <p:nvPr/>
        </p:nvSpPr>
        <p:spPr>
          <a:xfrm>
            <a:off x="2821202" y="4096304"/>
            <a:ext cx="1881120" cy="523220"/>
          </a:xfrm>
          <a:prstGeom prst="rect">
            <a:avLst/>
          </a:prstGeom>
        </p:spPr>
        <p:txBody>
          <a:bodyPr wrap="square">
            <a:spAutoFit/>
          </a:bodyPr>
          <a:lstStyle/>
          <a:p>
            <a:pPr algn="ctr"/>
            <a:r>
              <a:rPr lang="en-IN" sz="1400" b="1" dirty="0">
                <a:latin typeface="Söhne"/>
              </a:rPr>
              <a:t>Budget-Based Listings</a:t>
            </a:r>
            <a:endParaRPr lang="en-IN" sz="1400" dirty="0"/>
          </a:p>
        </p:txBody>
      </p:sp>
      <p:sp>
        <p:nvSpPr>
          <p:cNvPr id="14" name="Rectangle 13"/>
          <p:cNvSpPr/>
          <p:nvPr/>
        </p:nvSpPr>
        <p:spPr>
          <a:xfrm>
            <a:off x="2802811" y="2788924"/>
            <a:ext cx="1686041" cy="523220"/>
          </a:xfrm>
          <a:prstGeom prst="rect">
            <a:avLst/>
          </a:prstGeom>
        </p:spPr>
        <p:txBody>
          <a:bodyPr wrap="square">
            <a:spAutoFit/>
          </a:bodyPr>
          <a:lstStyle/>
          <a:p>
            <a:pPr algn="ctr"/>
            <a:r>
              <a:rPr lang="en-IN" sz="1400" b="1" dirty="0">
                <a:latin typeface="Söhne"/>
              </a:rPr>
              <a:t>User Support and Engagement</a:t>
            </a:r>
            <a:endParaRPr lang="en-IN" sz="1400" dirty="0"/>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6027" y="1559490"/>
            <a:ext cx="440771" cy="574577"/>
          </a:xfrm>
          <a:prstGeom prst="rect">
            <a:avLst/>
          </a:prstGeom>
        </p:spPr>
      </p:pic>
      <p:pic>
        <p:nvPicPr>
          <p:cNvPr id="19" name="Pictur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91832" y="1535058"/>
            <a:ext cx="590965" cy="663824"/>
          </a:xfrm>
          <a:prstGeom prst="rect">
            <a:avLst/>
          </a:prstGeom>
        </p:spPr>
      </p:pic>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5421" y="1589451"/>
            <a:ext cx="708383" cy="590319"/>
          </a:xfrm>
          <a:prstGeom prst="rect">
            <a:avLst/>
          </a:prstGeom>
        </p:spPr>
      </p:pic>
      <p:pic>
        <p:nvPicPr>
          <p:cNvPr id="25"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45188" y="1604722"/>
            <a:ext cx="570398" cy="514809"/>
          </a:xfrm>
          <a:prstGeom prst="rect">
            <a:avLst/>
          </a:prstGeom>
        </p:spPr>
      </p:pic>
      <p:pic>
        <p:nvPicPr>
          <p:cNvPr id="28" name="Picture 2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28334" y="2867221"/>
            <a:ext cx="807936" cy="439095"/>
          </a:xfrm>
          <a:prstGeom prst="rect">
            <a:avLst/>
          </a:prstGeom>
        </p:spPr>
      </p:pic>
      <p:pic>
        <p:nvPicPr>
          <p:cNvPr id="29" name="Picture 2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682853" y="3959307"/>
            <a:ext cx="695067" cy="695067"/>
          </a:xfrm>
          <a:prstGeom prst="rect">
            <a:avLst/>
          </a:prstGeom>
        </p:spPr>
      </p:pic>
      <p:pic>
        <p:nvPicPr>
          <p:cNvPr id="30" name="Picture 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76336" y="5254434"/>
            <a:ext cx="672631" cy="617915"/>
          </a:xfrm>
          <a:prstGeom prst="rect">
            <a:avLst/>
          </a:prstGeom>
        </p:spPr>
      </p:pic>
      <p:pic>
        <p:nvPicPr>
          <p:cNvPr id="31" name="Picture 3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435321" y="5187051"/>
            <a:ext cx="696540" cy="688120"/>
          </a:xfrm>
          <a:prstGeom prst="rect">
            <a:avLst/>
          </a:prstGeom>
        </p:spPr>
      </p:pic>
      <p:pic>
        <p:nvPicPr>
          <p:cNvPr id="32" name="Picture 31"/>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123957" y="5096428"/>
            <a:ext cx="897845" cy="897845"/>
          </a:xfrm>
          <a:prstGeom prst="rect">
            <a:avLst/>
          </a:prstGeom>
        </p:spPr>
      </p:pic>
      <p:pic>
        <p:nvPicPr>
          <p:cNvPr id="33" name="Picture 32"/>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146488" y="5167537"/>
            <a:ext cx="426418" cy="679723"/>
          </a:xfrm>
          <a:prstGeom prst="rect">
            <a:avLst/>
          </a:prstGeom>
        </p:spPr>
      </p:pic>
      <p:pic>
        <p:nvPicPr>
          <p:cNvPr id="34" name="Picture 33"/>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59954" y="3910317"/>
            <a:ext cx="777745" cy="779689"/>
          </a:xfrm>
          <a:prstGeom prst="rect">
            <a:avLst/>
          </a:prstGeom>
        </p:spPr>
      </p:pic>
      <p:pic>
        <p:nvPicPr>
          <p:cNvPr id="51" name="Picture 50"/>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91913" y="2703860"/>
            <a:ext cx="708291" cy="711453"/>
          </a:xfrm>
          <a:prstGeom prst="rect">
            <a:avLst/>
          </a:prstGeom>
        </p:spPr>
      </p:pic>
      <p:graphicFrame>
        <p:nvGraphicFramePr>
          <p:cNvPr id="50" name="Table 49"/>
          <p:cNvGraphicFramePr>
            <a:graphicFrameLocks noGrp="1"/>
          </p:cNvGraphicFramePr>
          <p:nvPr>
            <p:extLst>
              <p:ext uri="{D42A27DB-BD31-4B8C-83A1-F6EECF244321}">
                <p14:modId xmlns:p14="http://schemas.microsoft.com/office/powerpoint/2010/main" val="3678150521"/>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16"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17"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8"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0"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1"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2"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3"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4"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5"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6"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27"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28"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29"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30"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52" name="TextBox 51"/>
          <p:cNvSpPr txBox="1"/>
          <p:nvPr/>
        </p:nvSpPr>
        <p:spPr>
          <a:xfrm>
            <a:off x="11658600" y="143501"/>
            <a:ext cx="409669" cy="307777"/>
          </a:xfrm>
          <a:prstGeom prst="rect">
            <a:avLst/>
          </a:prstGeom>
          <a:noFill/>
        </p:spPr>
        <p:txBody>
          <a:bodyPr wrap="square" rtlCol="0">
            <a:spAutoFit/>
          </a:bodyPr>
          <a:lstStyle/>
          <a:p>
            <a:r>
              <a:rPr lang="en-US" sz="1400" dirty="0" smtClean="0"/>
              <a:t>19</a:t>
            </a:r>
            <a:endParaRPr lang="en-IN" sz="1400" dirty="0"/>
          </a:p>
        </p:txBody>
      </p:sp>
    </p:spTree>
    <p:extLst>
      <p:ext uri="{BB962C8B-B14F-4D97-AF65-F5344CB8AC3E}">
        <p14:creationId xmlns:p14="http://schemas.microsoft.com/office/powerpoint/2010/main" val="18577881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41211" y="98361"/>
            <a:ext cx="2672463" cy="369332"/>
          </a:xfrm>
          <a:prstGeom prst="rect">
            <a:avLst/>
          </a:prstGeom>
        </p:spPr>
        <p:txBody>
          <a:bodyPr wrap="none">
            <a:spAutoFit/>
          </a:bodyPr>
          <a:lstStyle/>
          <a:p>
            <a:r>
              <a:rPr lang="en-IN" b="1" dirty="0" smtClean="0">
                <a:solidFill>
                  <a:schemeClr val="dk1"/>
                </a:solidFill>
              </a:rPr>
              <a:t>Features &amp; Functionalities</a:t>
            </a:r>
            <a:endParaRPr lang="en-IN" b="1" dirty="0"/>
          </a:p>
        </p:txBody>
      </p:sp>
      <p:sp>
        <p:nvSpPr>
          <p:cNvPr id="6" name="Rounded Rectangle 5"/>
          <p:cNvSpPr/>
          <p:nvPr/>
        </p:nvSpPr>
        <p:spPr>
          <a:xfrm>
            <a:off x="486276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2/2</a:t>
            </a:r>
            <a:endParaRPr lang="en-IN" b="1" dirty="0">
              <a:solidFill>
                <a:schemeClr val="tx1"/>
              </a:solidFill>
            </a:endParaRPr>
          </a:p>
        </p:txBody>
      </p:sp>
      <p:sp>
        <p:nvSpPr>
          <p:cNvPr id="15" name="Rectangle 14"/>
          <p:cNvSpPr/>
          <p:nvPr/>
        </p:nvSpPr>
        <p:spPr>
          <a:xfrm>
            <a:off x="2141212" y="732684"/>
            <a:ext cx="9456278" cy="5816977"/>
          </a:xfrm>
          <a:prstGeom prst="rect">
            <a:avLst/>
          </a:prstGeom>
        </p:spPr>
        <p:txBody>
          <a:bodyPr wrap="square">
            <a:spAutoFit/>
          </a:bodyPr>
          <a:lstStyle/>
          <a:p>
            <a:pPr algn="just"/>
            <a:r>
              <a:rPr lang="en-IN" sz="1200" b="1" dirty="0"/>
              <a:t>Comprehensive </a:t>
            </a:r>
            <a:r>
              <a:rPr lang="en-IN" sz="1200" b="1" dirty="0" smtClean="0"/>
              <a:t>Listings:</a:t>
            </a:r>
            <a:r>
              <a:rPr lang="en-IN" sz="1200" dirty="0" smtClean="0"/>
              <a:t> Explore </a:t>
            </a:r>
            <a:r>
              <a:rPr lang="en-IN" sz="1200" dirty="0"/>
              <a:t>an extensive directory of software applications, AI tools, hosting providers, and digital tutorials across diverse categories and industries.</a:t>
            </a:r>
          </a:p>
          <a:p>
            <a:pPr algn="just"/>
            <a:endParaRPr lang="en-IN" sz="1200" dirty="0" smtClean="0"/>
          </a:p>
          <a:p>
            <a:pPr algn="just"/>
            <a:r>
              <a:rPr lang="en-IN" sz="1200" b="1" dirty="0" smtClean="0"/>
              <a:t>AI-Driven Recommendations:</a:t>
            </a:r>
            <a:r>
              <a:rPr lang="en-IN" sz="1200" dirty="0" smtClean="0"/>
              <a:t> Leverage </a:t>
            </a:r>
            <a:r>
              <a:rPr lang="en-IN" sz="1200" dirty="0"/>
              <a:t>our powerful AI recommendation system to receive personalized suggestions tailored to your specific needs and preferences.</a:t>
            </a:r>
          </a:p>
          <a:p>
            <a:pPr algn="just"/>
            <a:endParaRPr lang="en-IN" sz="1200" dirty="0" smtClean="0"/>
          </a:p>
          <a:p>
            <a:pPr algn="just"/>
            <a:r>
              <a:rPr lang="en-IN" sz="1200" b="1" dirty="0" smtClean="0"/>
              <a:t>Precise </a:t>
            </a:r>
            <a:r>
              <a:rPr lang="en-IN" sz="1200" b="1" dirty="0"/>
              <a:t>Hosting </a:t>
            </a:r>
            <a:r>
              <a:rPr lang="en-IN" sz="1200" b="1" dirty="0" smtClean="0"/>
              <a:t>Match:</a:t>
            </a:r>
            <a:r>
              <a:rPr lang="en-IN" sz="1200" dirty="0" smtClean="0"/>
              <a:t> Answer </a:t>
            </a:r>
            <a:r>
              <a:rPr lang="en-IN" sz="1200" dirty="0"/>
              <a:t>a set of user-friendly questions to identify the exact hosting requirements for your digital project, and receive tailored hosting plans from registered providers.</a:t>
            </a:r>
          </a:p>
          <a:p>
            <a:pPr algn="just"/>
            <a:endParaRPr lang="en-IN" sz="1200" dirty="0" smtClean="0"/>
          </a:p>
          <a:p>
            <a:pPr algn="just"/>
            <a:r>
              <a:rPr lang="en-IN" sz="1200" b="1" dirty="0" smtClean="0"/>
              <a:t>Vendor </a:t>
            </a:r>
            <a:r>
              <a:rPr lang="en-IN" sz="1200" b="1" dirty="0"/>
              <a:t>Comparison </a:t>
            </a:r>
            <a:r>
              <a:rPr lang="en-IN" sz="1200" b="1" dirty="0" smtClean="0"/>
              <a:t>Tools:</a:t>
            </a:r>
            <a:r>
              <a:rPr lang="en-IN" sz="1200" dirty="0" smtClean="0"/>
              <a:t> Easily </a:t>
            </a:r>
            <a:r>
              <a:rPr lang="en-IN" sz="1200" dirty="0"/>
              <a:t>compare software, AI tools, hosting plans, and digital tutorials side by side, with checkboxes for features and pricing details.</a:t>
            </a:r>
          </a:p>
          <a:p>
            <a:pPr algn="just"/>
            <a:endParaRPr lang="en-IN" sz="1200" dirty="0" smtClean="0"/>
          </a:p>
          <a:p>
            <a:pPr algn="just"/>
            <a:r>
              <a:rPr lang="en-IN" sz="1200" b="1" dirty="0" smtClean="0"/>
              <a:t>User </a:t>
            </a:r>
            <a:r>
              <a:rPr lang="en-IN" sz="1200" b="1" dirty="0"/>
              <a:t>Reviews and </a:t>
            </a:r>
            <a:r>
              <a:rPr lang="en-IN" sz="1200" b="1" dirty="0" smtClean="0"/>
              <a:t>Ratings:</a:t>
            </a:r>
            <a:r>
              <a:rPr lang="en-IN" sz="1200" dirty="0" smtClean="0"/>
              <a:t> Make </a:t>
            </a:r>
            <a:r>
              <a:rPr lang="en-IN" sz="1200" dirty="0"/>
              <a:t>informed decisions by accessing detailed user reviews and ratings for each product or service listed on the platform.</a:t>
            </a:r>
          </a:p>
          <a:p>
            <a:pPr algn="just"/>
            <a:endParaRPr lang="en-IN" sz="1200" dirty="0" smtClean="0"/>
          </a:p>
          <a:p>
            <a:pPr algn="just"/>
            <a:r>
              <a:rPr lang="en-IN" sz="1200" b="1" dirty="0" smtClean="0"/>
              <a:t>Predictive </a:t>
            </a:r>
            <a:r>
              <a:rPr lang="en-IN" sz="1200" b="1" dirty="0"/>
              <a:t>Health </a:t>
            </a:r>
            <a:r>
              <a:rPr lang="en-IN" sz="1200" b="1" dirty="0" smtClean="0"/>
              <a:t>Insights:</a:t>
            </a:r>
            <a:r>
              <a:rPr lang="en-IN" sz="1200" dirty="0" smtClean="0"/>
              <a:t> Stay </a:t>
            </a:r>
            <a:r>
              <a:rPr lang="en-IN" sz="1200" dirty="0"/>
              <a:t>ahead of potential issues with our predictive analysis, covering aspects like increased traffic, resource requirements, data security vulnerabilities, and more.</a:t>
            </a:r>
          </a:p>
          <a:p>
            <a:pPr algn="just"/>
            <a:endParaRPr lang="en-IN" sz="1200" dirty="0" smtClean="0"/>
          </a:p>
          <a:p>
            <a:pPr algn="just"/>
            <a:r>
              <a:rPr lang="en-IN" sz="1200" b="1" dirty="0" smtClean="0"/>
              <a:t>User Dashboard:</a:t>
            </a:r>
            <a:r>
              <a:rPr lang="en-IN" sz="1200" dirty="0" smtClean="0"/>
              <a:t> For </a:t>
            </a:r>
            <a:r>
              <a:rPr lang="en-IN" sz="1200" dirty="0"/>
              <a:t>digital product owners, manage all subscriptions, licenses, renewals, and updates in one centralized dashboard. Track software prices over time and set price alerts for discounts.</a:t>
            </a:r>
          </a:p>
          <a:p>
            <a:pPr algn="just"/>
            <a:endParaRPr lang="en-IN" sz="1200" dirty="0" smtClean="0"/>
          </a:p>
          <a:p>
            <a:pPr algn="just"/>
            <a:r>
              <a:rPr lang="en-IN" sz="1200" b="1" dirty="0" smtClean="0"/>
              <a:t>Affiliate Program:</a:t>
            </a:r>
            <a:r>
              <a:rPr lang="en-IN" sz="1200" dirty="0" smtClean="0"/>
              <a:t> Monetize </a:t>
            </a:r>
            <a:r>
              <a:rPr lang="en-IN" sz="1200" dirty="0"/>
              <a:t>your digital products by participating in our affiliate program, earning commissions for every successful referral.</a:t>
            </a:r>
          </a:p>
          <a:p>
            <a:pPr algn="just"/>
            <a:endParaRPr lang="en-IN" sz="1200" dirty="0" smtClean="0"/>
          </a:p>
          <a:p>
            <a:pPr algn="just"/>
            <a:r>
              <a:rPr lang="en-IN" sz="1200" b="1" dirty="0" smtClean="0"/>
              <a:t>Advertisements:</a:t>
            </a:r>
            <a:r>
              <a:rPr lang="en-IN" sz="1200" dirty="0" smtClean="0"/>
              <a:t> Boost </a:t>
            </a:r>
            <a:r>
              <a:rPr lang="en-IN" sz="1200" dirty="0"/>
              <a:t>visibility by utilizing advertising spaces on the platform, reaching a targeted audience interested in software, AI tools, hosting, and digital tutorials.</a:t>
            </a:r>
          </a:p>
          <a:p>
            <a:pPr algn="just"/>
            <a:endParaRPr lang="en-IN" sz="1200" dirty="0" smtClean="0"/>
          </a:p>
          <a:p>
            <a:pPr algn="just"/>
            <a:r>
              <a:rPr lang="en-IN" sz="1200" b="1" dirty="0" smtClean="0"/>
              <a:t>SEO </a:t>
            </a:r>
            <a:r>
              <a:rPr lang="en-IN" sz="1200" b="1" dirty="0"/>
              <a:t>and PPC </a:t>
            </a:r>
            <a:r>
              <a:rPr lang="en-IN" sz="1200" b="1" dirty="0" smtClean="0"/>
              <a:t>Integration:</a:t>
            </a:r>
            <a:r>
              <a:rPr lang="en-IN" sz="1200" dirty="0" smtClean="0"/>
              <a:t> Enhance </a:t>
            </a:r>
            <a:r>
              <a:rPr lang="en-IN" sz="1200" dirty="0"/>
              <a:t>visibility with integrated SEO and PPC strategies, ensuring a strong online presence for your products and services.</a:t>
            </a:r>
          </a:p>
          <a:p>
            <a:pPr algn="just"/>
            <a:endParaRPr lang="en-IN" sz="1200" dirty="0" smtClean="0"/>
          </a:p>
          <a:p>
            <a:pPr algn="just"/>
            <a:r>
              <a:rPr lang="en-IN" sz="1200" b="1" dirty="0" smtClean="0"/>
              <a:t>Budget-Based Listings:</a:t>
            </a:r>
            <a:r>
              <a:rPr lang="en-IN" sz="1200" dirty="0" smtClean="0"/>
              <a:t> Cater </a:t>
            </a:r>
            <a:r>
              <a:rPr lang="en-IN" sz="1200" dirty="0"/>
              <a:t>to varying budgets with a range of hosting plans and software options, categorized as Economy, Mid-Range, or Premium.</a:t>
            </a:r>
          </a:p>
          <a:p>
            <a:pPr algn="just"/>
            <a:endParaRPr lang="en-IN" sz="1200" dirty="0" smtClean="0"/>
          </a:p>
          <a:p>
            <a:pPr algn="just"/>
            <a:r>
              <a:rPr lang="en-IN" sz="1200" b="1" dirty="0" smtClean="0"/>
              <a:t>User </a:t>
            </a:r>
            <a:r>
              <a:rPr lang="en-IN" sz="1200" b="1" dirty="0"/>
              <a:t>Support and </a:t>
            </a:r>
            <a:r>
              <a:rPr lang="en-IN" sz="1200" b="1" dirty="0" smtClean="0"/>
              <a:t>Engagement:</a:t>
            </a:r>
            <a:r>
              <a:rPr lang="en-IN" sz="1200" dirty="0" smtClean="0"/>
              <a:t> Benefit </a:t>
            </a:r>
            <a:r>
              <a:rPr lang="en-IN" sz="1200" dirty="0"/>
              <a:t>from responsive user support and community engagement initiatives, fostering a sense of belonging within the platform.</a:t>
            </a:r>
          </a:p>
        </p:txBody>
      </p:sp>
      <p:graphicFrame>
        <p:nvGraphicFramePr>
          <p:cNvPr id="7" name="Table 6"/>
          <p:cNvGraphicFramePr>
            <a:graphicFrameLocks noGrp="1"/>
          </p:cNvGraphicFramePr>
          <p:nvPr>
            <p:extLst>
              <p:ext uri="{D42A27DB-BD31-4B8C-83A1-F6EECF244321}">
                <p14:modId xmlns:p14="http://schemas.microsoft.com/office/powerpoint/2010/main" val="844937732"/>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8" name="TextBox 7"/>
          <p:cNvSpPr txBox="1"/>
          <p:nvPr/>
        </p:nvSpPr>
        <p:spPr>
          <a:xfrm>
            <a:off x="11658600" y="143501"/>
            <a:ext cx="373455" cy="307777"/>
          </a:xfrm>
          <a:prstGeom prst="rect">
            <a:avLst/>
          </a:prstGeom>
          <a:noFill/>
        </p:spPr>
        <p:txBody>
          <a:bodyPr wrap="square" rtlCol="0">
            <a:spAutoFit/>
          </a:bodyPr>
          <a:lstStyle/>
          <a:p>
            <a:r>
              <a:rPr lang="en-US" sz="1400" dirty="0" smtClean="0"/>
              <a:t>20</a:t>
            </a:r>
            <a:endParaRPr lang="en-IN" sz="1400" dirty="0"/>
          </a:p>
        </p:txBody>
      </p:sp>
    </p:spTree>
    <p:extLst>
      <p:ext uri="{BB962C8B-B14F-4D97-AF65-F5344CB8AC3E}">
        <p14:creationId xmlns:p14="http://schemas.microsoft.com/office/powerpoint/2010/main" val="32935656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41211" y="98361"/>
            <a:ext cx="4069576" cy="369332"/>
          </a:xfrm>
          <a:prstGeom prst="rect">
            <a:avLst/>
          </a:prstGeom>
        </p:spPr>
        <p:txBody>
          <a:bodyPr wrap="none">
            <a:spAutoFit/>
          </a:bodyPr>
          <a:lstStyle/>
          <a:p>
            <a:r>
              <a:rPr lang="en-IN" b="1" dirty="0" smtClean="0">
                <a:solidFill>
                  <a:schemeClr val="dk1"/>
                </a:solidFill>
              </a:rPr>
              <a:t>Financial Projections – Budget Allocation</a:t>
            </a:r>
            <a:endParaRPr lang="en-IN" b="1" dirty="0"/>
          </a:p>
        </p:txBody>
      </p:sp>
      <p:sp>
        <p:nvSpPr>
          <p:cNvPr id="6" name="Rounded Rectangle 5"/>
          <p:cNvSpPr/>
          <p:nvPr/>
        </p:nvSpPr>
        <p:spPr>
          <a:xfrm>
            <a:off x="632037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1/2</a:t>
            </a:r>
            <a:endParaRPr lang="en-IN" b="1" dirty="0">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466253600"/>
              </p:ext>
            </p:extLst>
          </p:nvPr>
        </p:nvGraphicFramePr>
        <p:xfrm>
          <a:off x="2449286" y="993534"/>
          <a:ext cx="4343399" cy="3207600"/>
        </p:xfrm>
        <a:graphic>
          <a:graphicData uri="http://schemas.openxmlformats.org/drawingml/2006/table">
            <a:tbl>
              <a:tblPr firstRow="1" bandRow="1">
                <a:tableStyleId>{5C22544A-7EE6-4342-B048-85BDC9FD1C3A}</a:tableStyleId>
              </a:tblPr>
              <a:tblGrid>
                <a:gridCol w="2786743"/>
                <a:gridCol w="1556656"/>
              </a:tblGrid>
              <a:tr h="304031">
                <a:tc>
                  <a:txBody>
                    <a:bodyPr/>
                    <a:lstStyle/>
                    <a:p>
                      <a:r>
                        <a:rPr lang="en-US" sz="1400" dirty="0" smtClean="0">
                          <a:solidFill>
                            <a:schemeClr val="tx1"/>
                          </a:solidFill>
                        </a:rPr>
                        <a:t>Platform Development</a:t>
                      </a:r>
                      <a:endParaRPr lang="en-IN" sz="1400" dirty="0">
                        <a:solidFill>
                          <a:schemeClr val="tx1"/>
                        </a:solidFill>
                      </a:endParaRPr>
                    </a:p>
                  </a:txBody>
                  <a:tcPr>
                    <a:solidFill>
                      <a:schemeClr val="accent1">
                        <a:lumMod val="40000"/>
                        <a:lumOff val="60000"/>
                      </a:schemeClr>
                    </a:solidFill>
                  </a:tcPr>
                </a:tc>
                <a:tc>
                  <a:txBody>
                    <a:bodyPr/>
                    <a:lstStyle/>
                    <a:p>
                      <a:r>
                        <a:rPr lang="en-US" sz="1400" dirty="0" smtClean="0">
                          <a:solidFill>
                            <a:schemeClr val="tx1"/>
                          </a:solidFill>
                        </a:rPr>
                        <a:t>Amount</a:t>
                      </a:r>
                      <a:endParaRPr lang="en-IN" sz="1400" dirty="0">
                        <a:solidFill>
                          <a:schemeClr val="tx1"/>
                        </a:solidFill>
                      </a:endParaRPr>
                    </a:p>
                  </a:txBody>
                  <a:tcPr>
                    <a:solidFill>
                      <a:schemeClr val="accent1">
                        <a:lumMod val="40000"/>
                        <a:lumOff val="60000"/>
                      </a:schemeClr>
                    </a:solidFill>
                  </a:tcPr>
                </a:tc>
              </a:tr>
              <a:tr h="304031">
                <a:tc>
                  <a:txBody>
                    <a:bodyPr/>
                    <a:lstStyle/>
                    <a:p>
                      <a:r>
                        <a:rPr lang="en-US" sz="1400" dirty="0" smtClean="0">
                          <a:solidFill>
                            <a:schemeClr val="tx1"/>
                          </a:solidFill>
                        </a:rPr>
                        <a:t>Front End</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      </a:t>
                      </a:r>
                      <a:r>
                        <a:rPr lang="en-IN" sz="1400" dirty="0" smtClean="0">
                          <a:solidFill>
                            <a:schemeClr val="tx1"/>
                          </a:solidFill>
                        </a:rPr>
                        <a:t>4765500.00</a:t>
                      </a:r>
                      <a:endParaRPr lang="en-IN" sz="1400" dirty="0">
                        <a:solidFill>
                          <a:schemeClr val="tx1"/>
                        </a:solidFill>
                      </a:endParaRPr>
                    </a:p>
                  </a:txBody>
                  <a:tcPr>
                    <a:solidFill>
                      <a:schemeClr val="accent1">
                        <a:lumMod val="40000"/>
                        <a:lumOff val="60000"/>
                      </a:schemeClr>
                    </a:solidFill>
                  </a:tcPr>
                </a:tc>
              </a:tr>
              <a:tr h="304031">
                <a:tc>
                  <a:txBody>
                    <a:bodyPr/>
                    <a:lstStyle/>
                    <a:p>
                      <a:r>
                        <a:rPr lang="en-IN" sz="1400" dirty="0" smtClean="0">
                          <a:solidFill>
                            <a:schemeClr val="tx1"/>
                          </a:solidFill>
                        </a:rPr>
                        <a:t>Back-End</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dirty="0" smtClean="0">
                          <a:solidFill>
                            <a:schemeClr val="tx1"/>
                          </a:solidFill>
                        </a:rPr>
                        <a:t>4687500.00</a:t>
                      </a:r>
                      <a:endParaRPr lang="en-IN" sz="1400" dirty="0">
                        <a:solidFill>
                          <a:schemeClr val="tx1"/>
                        </a:solidFill>
                      </a:endParaRPr>
                    </a:p>
                  </a:txBody>
                  <a:tcPr>
                    <a:solidFill>
                      <a:schemeClr val="accent1">
                        <a:lumMod val="40000"/>
                        <a:lumOff val="60000"/>
                      </a:schemeClr>
                    </a:solidFill>
                  </a:tcPr>
                </a:tc>
              </a:tr>
              <a:tr h="464400">
                <a:tc>
                  <a:txBody>
                    <a:bodyPr/>
                    <a:lstStyle/>
                    <a:p>
                      <a:r>
                        <a:rPr lang="en-IN" sz="1400" dirty="0" smtClean="0">
                          <a:solidFill>
                            <a:schemeClr val="tx1"/>
                          </a:solidFill>
                        </a:rPr>
                        <a:t>AI and Recommendation System</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dirty="0" smtClean="0">
                          <a:solidFill>
                            <a:schemeClr val="tx1"/>
                          </a:solidFill>
                        </a:rPr>
                        <a:t>3850000.00</a:t>
                      </a:r>
                      <a:endParaRPr lang="en-IN" sz="1400" dirty="0">
                        <a:solidFill>
                          <a:schemeClr val="tx1"/>
                        </a:solidFill>
                      </a:endParaRPr>
                    </a:p>
                  </a:txBody>
                  <a:tcPr>
                    <a:solidFill>
                      <a:schemeClr val="accent1">
                        <a:lumMod val="40000"/>
                        <a:lumOff val="60000"/>
                      </a:schemeClr>
                    </a:solidFill>
                  </a:tcPr>
                </a:tc>
              </a:tr>
              <a:tr h="304031">
                <a:tc>
                  <a:txBody>
                    <a:bodyPr/>
                    <a:lstStyle/>
                    <a:p>
                      <a:r>
                        <a:rPr lang="en-IN" sz="1400" dirty="0" smtClean="0">
                          <a:solidFill>
                            <a:schemeClr val="tx1"/>
                          </a:solidFill>
                        </a:rPr>
                        <a:t>Hosting and Deployment</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dirty="0" smtClean="0">
                          <a:solidFill>
                            <a:schemeClr val="tx1"/>
                          </a:solidFill>
                        </a:rPr>
                        <a:t>2812500.00</a:t>
                      </a:r>
                      <a:endParaRPr lang="en-IN" sz="1400" dirty="0">
                        <a:solidFill>
                          <a:schemeClr val="tx1"/>
                        </a:solidFill>
                      </a:endParaRPr>
                    </a:p>
                  </a:txBody>
                  <a:tcPr>
                    <a:solidFill>
                      <a:schemeClr val="accent1">
                        <a:lumMod val="40000"/>
                        <a:lumOff val="60000"/>
                      </a:schemeClr>
                    </a:solidFill>
                  </a:tcPr>
                </a:tc>
              </a:tr>
              <a:tr h="304031">
                <a:tc>
                  <a:txBody>
                    <a:bodyPr/>
                    <a:lstStyle/>
                    <a:p>
                      <a:r>
                        <a:rPr lang="en-IN" sz="1400" dirty="0" smtClean="0">
                          <a:solidFill>
                            <a:schemeClr val="tx1"/>
                          </a:solidFill>
                        </a:rPr>
                        <a:t>Security Technologies</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dirty="0" smtClean="0">
                          <a:solidFill>
                            <a:schemeClr val="tx1"/>
                          </a:solidFill>
                        </a:rPr>
                        <a:t>3875000.00</a:t>
                      </a:r>
                      <a:endParaRPr lang="en-IN" sz="1400" dirty="0">
                        <a:solidFill>
                          <a:schemeClr val="tx1"/>
                        </a:solidFill>
                      </a:endParaRPr>
                    </a:p>
                  </a:txBody>
                  <a:tcPr>
                    <a:solidFill>
                      <a:schemeClr val="accent1">
                        <a:lumMod val="40000"/>
                        <a:lumOff val="60000"/>
                      </a:schemeClr>
                    </a:solidFill>
                  </a:tcPr>
                </a:tc>
              </a:tr>
              <a:tr h="304031">
                <a:tc>
                  <a:txBody>
                    <a:bodyPr/>
                    <a:lstStyle/>
                    <a:p>
                      <a:r>
                        <a:rPr lang="en-IN" sz="1400" dirty="0" smtClean="0">
                          <a:solidFill>
                            <a:schemeClr val="tx1"/>
                          </a:solidFill>
                        </a:rPr>
                        <a:t>Additional Tools and Services</a:t>
                      </a:r>
                      <a:endParaRPr lang="en-IN" sz="140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1</a:t>
                      </a:r>
                      <a:r>
                        <a:rPr lang="en-IN" sz="1400" dirty="0" smtClean="0">
                          <a:solidFill>
                            <a:schemeClr val="tx1"/>
                          </a:solidFill>
                        </a:rPr>
                        <a:t>937500.00</a:t>
                      </a:r>
                      <a:endParaRPr lang="en-IN" sz="1400" dirty="0">
                        <a:solidFill>
                          <a:schemeClr val="tx1"/>
                        </a:solidFill>
                      </a:endParaRPr>
                    </a:p>
                  </a:txBody>
                  <a:tcPr>
                    <a:solidFill>
                      <a:schemeClr val="accent1">
                        <a:lumMod val="40000"/>
                        <a:lumOff val="60000"/>
                      </a:schemeClr>
                    </a:solidFill>
                  </a:tcPr>
                </a:tc>
              </a:tr>
              <a:tr h="304031">
                <a:tc>
                  <a:txBody>
                    <a:bodyPr/>
                    <a:lstStyle/>
                    <a:p>
                      <a:r>
                        <a:rPr lang="en-IN" sz="1400" b="0" dirty="0" smtClean="0">
                          <a:solidFill>
                            <a:schemeClr val="tx1"/>
                          </a:solidFill>
                        </a:rPr>
                        <a:t>Operational Cost</a:t>
                      </a:r>
                      <a:endParaRPr lang="en-IN" sz="1400" b="0"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US" sz="1400" b="0" dirty="0" smtClean="0">
                          <a:solidFill>
                            <a:schemeClr val="tx1"/>
                          </a:solidFill>
                        </a:rPr>
                        <a:t>5000000.00</a:t>
                      </a:r>
                      <a:endParaRPr lang="en-IN" sz="1400" b="0" dirty="0">
                        <a:solidFill>
                          <a:schemeClr val="tx1"/>
                        </a:solidFill>
                      </a:endParaRPr>
                    </a:p>
                  </a:txBody>
                  <a:tcPr>
                    <a:solidFill>
                      <a:schemeClr val="accent1">
                        <a:lumMod val="40000"/>
                        <a:lumOff val="60000"/>
                      </a:schemeClr>
                    </a:solidFill>
                  </a:tcPr>
                </a:tc>
              </a:tr>
              <a:tr h="304031">
                <a:tc>
                  <a:txBody>
                    <a:bodyPr/>
                    <a:lstStyle/>
                    <a:p>
                      <a:endParaRPr lang="en-IN" sz="1400" b="0" dirty="0">
                        <a:solidFill>
                          <a:schemeClr val="tx1"/>
                        </a:solidFill>
                      </a:endParaRPr>
                    </a:p>
                  </a:txBody>
                  <a:tcPr>
                    <a:solidFill>
                      <a:schemeClr val="accent1">
                        <a:lumMod val="40000"/>
                        <a:lumOff val="60000"/>
                      </a:schemeClr>
                    </a:solidFill>
                  </a:tcPr>
                </a:tc>
                <a:tc>
                  <a:txBody>
                    <a:bodyPr/>
                    <a:lstStyle/>
                    <a:p>
                      <a:pPr algn="r"/>
                      <a:endParaRPr lang="en-IN" sz="1400" b="0" dirty="0">
                        <a:solidFill>
                          <a:schemeClr val="tx1"/>
                        </a:solidFill>
                      </a:endParaRPr>
                    </a:p>
                  </a:txBody>
                  <a:tcPr>
                    <a:solidFill>
                      <a:schemeClr val="accent1">
                        <a:lumMod val="40000"/>
                        <a:lumOff val="60000"/>
                      </a:schemeClr>
                    </a:solidFill>
                  </a:tcPr>
                </a:tc>
              </a:tr>
              <a:tr h="304031">
                <a:tc>
                  <a:txBody>
                    <a:bodyPr/>
                    <a:lstStyle/>
                    <a:p>
                      <a:r>
                        <a:rPr lang="en-US" sz="1400" b="1" dirty="0" smtClean="0">
                          <a:solidFill>
                            <a:schemeClr val="tx1"/>
                          </a:solidFill>
                        </a:rPr>
                        <a:t>TOTAL</a:t>
                      </a:r>
                      <a:endParaRPr lang="en-IN" sz="1400" b="1" dirty="0">
                        <a:solidFill>
                          <a:schemeClr val="tx1"/>
                        </a:solidFill>
                      </a:endParaRPr>
                    </a:p>
                  </a:txBody>
                  <a:tcPr>
                    <a:solidFill>
                      <a:schemeClr val="accent1">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b="1" dirty="0" smtClean="0">
                          <a:solidFill>
                            <a:schemeClr val="tx1"/>
                          </a:solidFill>
                        </a:rPr>
                        <a:t>26928000.00</a:t>
                      </a:r>
                      <a:endParaRPr lang="en-IN" sz="1400" b="1" dirty="0">
                        <a:solidFill>
                          <a:schemeClr val="tx1"/>
                        </a:solidFill>
                      </a:endParaRPr>
                    </a:p>
                  </a:txBody>
                  <a:tcPr>
                    <a:solidFill>
                      <a:schemeClr val="accent1">
                        <a:lumMod val="40000"/>
                        <a:lumOff val="60000"/>
                      </a:schemeClr>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531733271"/>
              </p:ext>
            </p:extLst>
          </p:nvPr>
        </p:nvGraphicFramePr>
        <p:xfrm>
          <a:off x="7141029" y="992026"/>
          <a:ext cx="4354285" cy="3179027"/>
        </p:xfrm>
        <a:graphic>
          <a:graphicData uri="http://schemas.openxmlformats.org/drawingml/2006/table">
            <a:tbl>
              <a:tblPr firstRow="1" bandRow="1">
                <a:tableStyleId>{5C22544A-7EE6-4342-B048-85BDC9FD1C3A}</a:tableStyleId>
              </a:tblPr>
              <a:tblGrid>
                <a:gridCol w="2783560"/>
                <a:gridCol w="1570725"/>
              </a:tblGrid>
              <a:tr h="310668">
                <a:tc>
                  <a:txBody>
                    <a:bodyPr/>
                    <a:lstStyle/>
                    <a:p>
                      <a:pPr lvl="0"/>
                      <a:r>
                        <a:rPr lang="en-US" sz="1400" dirty="0" smtClean="0">
                          <a:solidFill>
                            <a:schemeClr val="tx1"/>
                          </a:solidFill>
                          <a:latin typeface="+mn-lt"/>
                        </a:rPr>
                        <a:t>Marketing &amp; Promotion</a:t>
                      </a:r>
                      <a:endParaRPr lang="en-IN" sz="1400" dirty="0">
                        <a:solidFill>
                          <a:schemeClr val="tx1"/>
                        </a:solidFill>
                        <a:latin typeface="+mn-lt"/>
                      </a:endParaRPr>
                    </a:p>
                  </a:txBody>
                  <a:tcPr anchor="ctr">
                    <a:solidFill>
                      <a:schemeClr val="accent2">
                        <a:lumMod val="40000"/>
                        <a:lumOff val="60000"/>
                      </a:schemeClr>
                    </a:solidFill>
                  </a:tcPr>
                </a:tc>
                <a:tc>
                  <a:txBody>
                    <a:bodyPr/>
                    <a:lstStyle/>
                    <a:p>
                      <a:pPr lvl="0"/>
                      <a:r>
                        <a:rPr lang="en-US" sz="1400" dirty="0" smtClean="0">
                          <a:solidFill>
                            <a:schemeClr val="tx1"/>
                          </a:solidFill>
                          <a:latin typeface="+mn-lt"/>
                        </a:rPr>
                        <a:t>Amount</a:t>
                      </a:r>
                      <a:endParaRPr lang="en-IN" sz="1400" dirty="0">
                        <a:solidFill>
                          <a:schemeClr val="tx1"/>
                        </a:solidFill>
                        <a:latin typeface="+mn-lt"/>
                      </a:endParaRPr>
                    </a:p>
                  </a:txBody>
                  <a:tcPr anchor="ctr">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Content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a:t>
                      </a:r>
                      <a:r>
                        <a:rPr lang="en-IN" sz="1400" b="0" i="0" u="none" strike="noStrike" dirty="0" smtClean="0">
                          <a:solidFill>
                            <a:srgbClr val="000000"/>
                          </a:solidFill>
                          <a:effectLst/>
                          <a:latin typeface="+mn-lt"/>
                        </a:rPr>
                        <a:t> 18,00,000.00 </a:t>
                      </a:r>
                      <a:endParaRPr lang="en-IN" sz="1400" b="0" i="0" u="none" strike="noStrike" dirty="0">
                        <a:solidFill>
                          <a:srgbClr val="000000"/>
                        </a:solidFill>
                        <a:effectLst/>
                        <a:latin typeface="+mn-lt"/>
                      </a:endParaRPr>
                    </a:p>
                  </a:txBody>
                  <a:tcPr marL="90000" marR="90000" marT="46800" marB="46800">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Social media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7,80,000.00 </a:t>
                      </a:r>
                    </a:p>
                  </a:txBody>
                  <a:tcPr marL="90000" marR="90000" marT="46800" marB="46800">
                    <a:solidFill>
                      <a:schemeClr val="accent2">
                        <a:lumMod val="40000"/>
                        <a:lumOff val="60000"/>
                      </a:schemeClr>
                    </a:solidFill>
                  </a:tcPr>
                </a:tc>
              </a:tr>
              <a:tr h="383015">
                <a:tc>
                  <a:txBody>
                    <a:bodyPr/>
                    <a:lstStyle/>
                    <a:p>
                      <a:pPr lvl="0" algn="l" fontAlgn="b"/>
                      <a:r>
                        <a:rPr lang="en-IN" sz="1400" b="0" i="0" u="none" strike="noStrike" dirty="0">
                          <a:solidFill>
                            <a:srgbClr val="202124"/>
                          </a:solidFill>
                          <a:effectLst/>
                          <a:latin typeface="+mn-lt"/>
                        </a:rPr>
                        <a:t>Email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1,20,000.00 </a:t>
                      </a:r>
                    </a:p>
                  </a:txBody>
                  <a:tcPr marL="90000" marR="90000" marT="46800" marB="46800">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Online advertising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7,20,000.00 </a:t>
                      </a:r>
                    </a:p>
                  </a:txBody>
                  <a:tcPr marL="90000" marR="90000" marT="46800" marB="46800">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Affiliate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1,20,00,000.00 </a:t>
                      </a:r>
                    </a:p>
                  </a:txBody>
                  <a:tcPr marL="90000" marR="90000" marT="46800" marB="46800">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Mobile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10,00,000.00 </a:t>
                      </a:r>
                    </a:p>
                  </a:txBody>
                  <a:tcPr marL="90000" marR="90000" marT="46800" marB="46800">
                    <a:solidFill>
                      <a:schemeClr val="accent2">
                        <a:lumMod val="40000"/>
                        <a:lumOff val="60000"/>
                      </a:schemeClr>
                    </a:solidFill>
                  </a:tcPr>
                </a:tc>
              </a:tr>
              <a:tr h="310668">
                <a:tc>
                  <a:txBody>
                    <a:bodyPr/>
                    <a:lstStyle/>
                    <a:p>
                      <a:pPr lvl="0" algn="l" fontAlgn="b"/>
                      <a:r>
                        <a:rPr lang="en-IN" sz="1400" b="0" i="0" u="none" strike="noStrike" dirty="0">
                          <a:solidFill>
                            <a:srgbClr val="202124"/>
                          </a:solidFill>
                          <a:effectLst/>
                          <a:latin typeface="+mn-lt"/>
                        </a:rPr>
                        <a:t>Influencer marketing</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a:t>
                      </a:r>
                      <a:r>
                        <a:rPr lang="en-IN" sz="1400" b="0" i="0" u="none" strike="noStrike" dirty="0" smtClean="0">
                          <a:solidFill>
                            <a:srgbClr val="000000"/>
                          </a:solidFill>
                          <a:effectLst/>
                          <a:latin typeface="+mn-lt"/>
                        </a:rPr>
                        <a:t>0.00 </a:t>
                      </a:r>
                      <a:endParaRPr lang="en-IN" sz="1400" b="0" i="0" u="none" strike="noStrike" dirty="0">
                        <a:solidFill>
                          <a:srgbClr val="000000"/>
                        </a:solidFill>
                        <a:effectLst/>
                        <a:latin typeface="+mn-lt"/>
                      </a:endParaRPr>
                    </a:p>
                  </a:txBody>
                  <a:tcPr marL="90000" marR="90000" marT="46800" marB="46800">
                    <a:solidFill>
                      <a:schemeClr val="accent2">
                        <a:lumMod val="40000"/>
                        <a:lumOff val="60000"/>
                      </a:schemeClr>
                    </a:solidFill>
                  </a:tcPr>
                </a:tc>
              </a:tr>
              <a:tr h="310668">
                <a:tc>
                  <a:txBody>
                    <a:bodyPr/>
                    <a:lstStyle/>
                    <a:p>
                      <a:pPr lvl="0" algn="l" fontAlgn="ctr"/>
                      <a:r>
                        <a:rPr lang="en-IN" sz="1400" b="0" i="0" u="none" strike="noStrike" dirty="0">
                          <a:solidFill>
                            <a:srgbClr val="202124"/>
                          </a:solidFill>
                          <a:effectLst/>
                          <a:latin typeface="+mn-lt"/>
                        </a:rPr>
                        <a:t>Search engine optimization (</a:t>
                      </a:r>
                      <a:r>
                        <a:rPr lang="en-IN" sz="1400" b="0" i="0" u="none" strike="noStrike" dirty="0" err="1">
                          <a:solidFill>
                            <a:srgbClr val="202124"/>
                          </a:solidFill>
                          <a:effectLst/>
                          <a:latin typeface="+mn-lt"/>
                        </a:rPr>
                        <a:t>seo</a:t>
                      </a:r>
                      <a:r>
                        <a:rPr lang="en-IN" sz="1400" b="0" i="0" u="none" strike="noStrike" dirty="0">
                          <a:solidFill>
                            <a:srgbClr val="202124"/>
                          </a:solidFill>
                          <a:effectLst/>
                          <a:latin typeface="+mn-lt"/>
                        </a:rPr>
                        <a:t>)</a:t>
                      </a:r>
                    </a:p>
                  </a:txBody>
                  <a:tcPr marL="90000" marR="90000" marT="46800" marB="46800" anchor="ctr">
                    <a:solidFill>
                      <a:schemeClr val="accent2">
                        <a:lumMod val="40000"/>
                        <a:lumOff val="60000"/>
                      </a:schemeClr>
                    </a:solidFill>
                  </a:tcPr>
                </a:tc>
                <a:tc>
                  <a:txBody>
                    <a:bodyPr/>
                    <a:lstStyle/>
                    <a:p>
                      <a:pPr lvl="0" algn="r" fontAlgn="b"/>
                      <a:r>
                        <a:rPr lang="en-IN" sz="1400" b="0" i="0" u="none" strike="noStrike" dirty="0">
                          <a:solidFill>
                            <a:srgbClr val="000000"/>
                          </a:solidFill>
                          <a:effectLst/>
                          <a:latin typeface="+mn-lt"/>
                        </a:rPr>
                        <a:t> ₹         6,00,000.00 </a:t>
                      </a:r>
                    </a:p>
                  </a:txBody>
                  <a:tcPr marL="90000" marR="90000" marT="46800" marB="46800">
                    <a:solidFill>
                      <a:schemeClr val="accent2">
                        <a:lumMod val="40000"/>
                        <a:lumOff val="60000"/>
                      </a:schemeClr>
                    </a:solidFill>
                  </a:tcPr>
                </a:tc>
              </a:tr>
              <a:tr h="310668">
                <a:tc>
                  <a:txBody>
                    <a:bodyPr/>
                    <a:lstStyle/>
                    <a:p>
                      <a:pPr lvl="0"/>
                      <a:r>
                        <a:rPr lang="en-US" sz="1400" b="1" dirty="0" smtClean="0">
                          <a:solidFill>
                            <a:schemeClr val="tx1"/>
                          </a:solidFill>
                          <a:latin typeface="+mn-lt"/>
                        </a:rPr>
                        <a:t>TOTAL</a:t>
                      </a:r>
                      <a:endParaRPr lang="en-IN" sz="1400" b="1" dirty="0">
                        <a:solidFill>
                          <a:schemeClr val="tx1"/>
                        </a:solidFill>
                        <a:latin typeface="+mn-lt"/>
                      </a:endParaRPr>
                    </a:p>
                  </a:txBody>
                  <a:tcPr anchor="ctr">
                    <a:solidFill>
                      <a:schemeClr val="accent2">
                        <a:lumMod val="40000"/>
                        <a:lumOff val="60000"/>
                      </a:schemeClr>
                    </a:solidFill>
                  </a:tcPr>
                </a:tc>
                <a:tc>
                  <a:txBody>
                    <a:bodyPr/>
                    <a:lstStyle/>
                    <a:p>
                      <a:pPr lvl="0" algn="r" fontAlgn="b"/>
                      <a:r>
                        <a:rPr lang="en-IN" sz="1400" b="1" i="0" u="none" strike="noStrike" dirty="0">
                          <a:solidFill>
                            <a:srgbClr val="000000"/>
                          </a:solidFill>
                          <a:effectLst/>
                          <a:latin typeface="+mn-lt"/>
                        </a:rPr>
                        <a:t> ₹   3,20,20,000.00 </a:t>
                      </a:r>
                    </a:p>
                  </a:txBody>
                  <a:tcPr marL="90000" marR="90000" marT="46800" marB="46800">
                    <a:solidFill>
                      <a:schemeClr val="accent2">
                        <a:lumMod val="40000"/>
                        <a:lumOff val="60000"/>
                      </a:schemeClr>
                    </a:solidFill>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800563818"/>
              </p:ext>
            </p:extLst>
          </p:nvPr>
        </p:nvGraphicFramePr>
        <p:xfrm>
          <a:off x="2457623" y="4521078"/>
          <a:ext cx="4302406" cy="1343280"/>
        </p:xfrm>
        <a:graphic>
          <a:graphicData uri="http://schemas.openxmlformats.org/drawingml/2006/table">
            <a:tbl>
              <a:tblPr firstRow="1" bandRow="1">
                <a:tableStyleId>{5C22544A-7EE6-4342-B048-85BDC9FD1C3A}</a:tableStyleId>
              </a:tblPr>
              <a:tblGrid>
                <a:gridCol w="2789291"/>
                <a:gridCol w="1513115"/>
              </a:tblGrid>
              <a:tr h="304031">
                <a:tc>
                  <a:txBody>
                    <a:bodyPr/>
                    <a:lstStyle/>
                    <a:p>
                      <a:r>
                        <a:rPr lang="en-US" sz="1400" dirty="0" smtClean="0">
                          <a:solidFill>
                            <a:schemeClr val="tx1"/>
                          </a:solidFill>
                        </a:rPr>
                        <a:t>Vendor Partnership &amp; Affiliate Programs</a:t>
                      </a:r>
                      <a:endParaRPr lang="en-IN" sz="1400" dirty="0">
                        <a:solidFill>
                          <a:schemeClr val="tx1"/>
                        </a:solidFill>
                      </a:endParaRPr>
                    </a:p>
                  </a:txBody>
                  <a:tcPr>
                    <a:solidFill>
                      <a:schemeClr val="accent4">
                        <a:lumMod val="40000"/>
                        <a:lumOff val="60000"/>
                      </a:schemeClr>
                    </a:solidFill>
                  </a:tcPr>
                </a:tc>
                <a:tc>
                  <a:txBody>
                    <a:bodyPr/>
                    <a:lstStyle/>
                    <a:p>
                      <a:r>
                        <a:rPr lang="en-US" sz="1400" dirty="0" smtClean="0">
                          <a:solidFill>
                            <a:schemeClr val="tx1"/>
                          </a:solidFill>
                        </a:rPr>
                        <a:t>Amount</a:t>
                      </a:r>
                      <a:endParaRPr lang="en-IN" sz="1400" dirty="0">
                        <a:solidFill>
                          <a:schemeClr val="tx1"/>
                        </a:solidFill>
                      </a:endParaRPr>
                    </a:p>
                  </a:txBody>
                  <a:tcPr>
                    <a:solidFill>
                      <a:schemeClr val="accent4">
                        <a:lumMod val="40000"/>
                        <a:lumOff val="60000"/>
                      </a:schemeClr>
                    </a:solidFill>
                  </a:tcPr>
                </a:tc>
              </a:tr>
              <a:tr h="304031">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IN" sz="1400" b="0" i="0" u="none" strike="noStrike" dirty="0">
                          <a:solidFill>
                            <a:srgbClr val="000000"/>
                          </a:solidFill>
                          <a:effectLst/>
                          <a:latin typeface="Calibri" panose="020F0502020204030204" pitchFamily="34" charset="0"/>
                        </a:rPr>
                        <a:t>Vendor </a:t>
                      </a:r>
                      <a:r>
                        <a:rPr lang="en-IN" sz="1400" b="0" i="0" u="none" strike="noStrike" dirty="0" smtClean="0">
                          <a:solidFill>
                            <a:srgbClr val="000000"/>
                          </a:solidFill>
                          <a:effectLst/>
                          <a:latin typeface="Calibri" panose="020F0502020204030204" pitchFamily="34" charset="0"/>
                        </a:rPr>
                        <a:t>Discounts &amp; Referral Commission</a:t>
                      </a:r>
                    </a:p>
                  </a:txBody>
                  <a:tcPr marL="90000" marR="90000" marT="46800" marB="46800" anchor="b">
                    <a:solidFill>
                      <a:schemeClr val="accent4">
                        <a:lumMod val="40000"/>
                        <a:lumOff val="60000"/>
                      </a:schemeClr>
                    </a:solidFill>
                  </a:tcPr>
                </a:tc>
                <a:tc>
                  <a:txBody>
                    <a:bodyPr/>
                    <a:lstStyle/>
                    <a:p>
                      <a:pPr algn="r"/>
                      <a:r>
                        <a:rPr lang="en-IN" sz="1400" b="0" i="0" u="none" strike="noStrike" dirty="0" smtClean="0">
                          <a:solidFill>
                            <a:srgbClr val="000000"/>
                          </a:solidFill>
                          <a:effectLst/>
                          <a:latin typeface="+mn-lt"/>
                        </a:rPr>
                        <a:t> ₹      </a:t>
                      </a:r>
                      <a:r>
                        <a:rPr lang="en-IN" sz="1400" dirty="0" smtClean="0">
                          <a:solidFill>
                            <a:schemeClr val="tx1"/>
                          </a:solidFill>
                        </a:rPr>
                        <a:t>20000000.00</a:t>
                      </a:r>
                      <a:endParaRPr lang="en-IN" sz="1400" dirty="0">
                        <a:solidFill>
                          <a:schemeClr val="tx1"/>
                        </a:solidFill>
                      </a:endParaRPr>
                    </a:p>
                  </a:txBody>
                  <a:tcPr>
                    <a:solidFill>
                      <a:schemeClr val="accent4">
                        <a:lumMod val="40000"/>
                        <a:lumOff val="60000"/>
                      </a:schemeClr>
                    </a:solidFill>
                  </a:tcPr>
                </a:tc>
              </a:tr>
              <a:tr h="304031">
                <a:tc>
                  <a:txBody>
                    <a:bodyPr/>
                    <a:lstStyle/>
                    <a:p>
                      <a:r>
                        <a:rPr lang="en-US" sz="1400" b="1" dirty="0" smtClean="0">
                          <a:solidFill>
                            <a:schemeClr val="tx1"/>
                          </a:solidFill>
                        </a:rPr>
                        <a:t>TOTAL</a:t>
                      </a:r>
                      <a:endParaRPr lang="en-IN" sz="1400" b="1" dirty="0">
                        <a:solidFill>
                          <a:schemeClr val="tx1"/>
                        </a:solidFill>
                      </a:endParaRPr>
                    </a:p>
                  </a:txBody>
                  <a:tcPr>
                    <a:solidFill>
                      <a:schemeClr val="accent4">
                        <a:lumMod val="40000"/>
                        <a:lumOff val="60000"/>
                      </a:schemeClr>
                    </a:solidFill>
                  </a:tcPr>
                </a:tc>
                <a:tc>
                  <a:txBody>
                    <a:bodyPr/>
                    <a:lstStyle/>
                    <a:p>
                      <a:pPr algn="r"/>
                      <a:r>
                        <a:rPr lang="en-IN" sz="1400" b="0" i="0" u="none" strike="noStrike" dirty="0" smtClean="0">
                          <a:solidFill>
                            <a:srgbClr val="000000"/>
                          </a:solidFill>
                          <a:effectLst/>
                          <a:latin typeface="+mn-lt"/>
                        </a:rPr>
                        <a:t>₹   </a:t>
                      </a:r>
                      <a:r>
                        <a:rPr lang="en-IN" sz="1400" b="1" dirty="0" smtClean="0">
                          <a:solidFill>
                            <a:schemeClr val="tx1"/>
                          </a:solidFill>
                        </a:rPr>
                        <a:t>20000000.00</a:t>
                      </a:r>
                      <a:endParaRPr lang="en-IN" sz="1400" b="1" dirty="0">
                        <a:solidFill>
                          <a:schemeClr val="tx1"/>
                        </a:solidFill>
                      </a:endParaRPr>
                    </a:p>
                  </a:txBody>
                  <a:tcPr>
                    <a:solidFill>
                      <a:schemeClr val="accent4">
                        <a:lumMod val="40000"/>
                        <a:lumOff val="60000"/>
                      </a:schemeClr>
                    </a:solidFill>
                  </a:tcPr>
                </a:tc>
              </a:tr>
            </a:tbl>
          </a:graphicData>
        </a:graphic>
      </p:graphicFrame>
      <p:sp>
        <p:nvSpPr>
          <p:cNvPr id="5" name="TextBox 4"/>
          <p:cNvSpPr txBox="1"/>
          <p:nvPr/>
        </p:nvSpPr>
        <p:spPr>
          <a:xfrm>
            <a:off x="7467599" y="4626427"/>
            <a:ext cx="3853543" cy="369332"/>
          </a:xfrm>
          <a:prstGeom prst="rect">
            <a:avLst/>
          </a:prstGeom>
          <a:solidFill>
            <a:schemeClr val="bg2">
              <a:lumMod val="90000"/>
            </a:schemeClr>
          </a:solidFill>
        </p:spPr>
        <p:txBody>
          <a:bodyPr wrap="square" rtlCol="0">
            <a:spAutoFit/>
          </a:bodyPr>
          <a:lstStyle/>
          <a:p>
            <a:pPr algn="ctr"/>
            <a:r>
              <a:rPr lang="en-US" b="1" dirty="0" smtClean="0"/>
              <a:t>TOTAL : </a:t>
            </a:r>
            <a:r>
              <a:rPr lang="en-IN" b="1" dirty="0" smtClean="0">
                <a:solidFill>
                  <a:srgbClr val="000000"/>
                </a:solidFill>
              </a:rPr>
              <a:t>₹ </a:t>
            </a:r>
            <a:r>
              <a:rPr lang="en-US" b="1" dirty="0" smtClean="0"/>
              <a:t>7,89,48,000.00</a:t>
            </a:r>
            <a:endParaRPr lang="en-IN" b="1" dirty="0"/>
          </a:p>
        </p:txBody>
      </p:sp>
      <p:sp>
        <p:nvSpPr>
          <p:cNvPr id="10" name="TextBox 9"/>
          <p:cNvSpPr txBox="1"/>
          <p:nvPr/>
        </p:nvSpPr>
        <p:spPr>
          <a:xfrm>
            <a:off x="7467599" y="5372881"/>
            <a:ext cx="3853543" cy="369332"/>
          </a:xfrm>
          <a:prstGeom prst="rect">
            <a:avLst/>
          </a:prstGeom>
          <a:solidFill>
            <a:schemeClr val="bg2">
              <a:lumMod val="90000"/>
            </a:schemeClr>
          </a:solidFill>
        </p:spPr>
        <p:txBody>
          <a:bodyPr wrap="square" rtlCol="0">
            <a:spAutoFit/>
          </a:bodyPr>
          <a:lstStyle/>
          <a:p>
            <a:pPr algn="ctr"/>
            <a:r>
              <a:rPr lang="en-US" b="1" dirty="0" smtClean="0"/>
              <a:t>TOTAL : </a:t>
            </a:r>
            <a:r>
              <a:rPr lang="en-IN" b="1" dirty="0" smtClean="0">
                <a:solidFill>
                  <a:srgbClr val="000000"/>
                </a:solidFill>
              </a:rPr>
              <a:t>$ </a:t>
            </a:r>
            <a:r>
              <a:rPr lang="en-US" b="1" dirty="0" smtClean="0"/>
              <a:t>948000.00</a:t>
            </a:r>
            <a:endParaRPr lang="en-IN" b="1" dirty="0"/>
          </a:p>
        </p:txBody>
      </p:sp>
      <p:sp>
        <p:nvSpPr>
          <p:cNvPr id="9" name="Rectangle 8"/>
          <p:cNvSpPr/>
          <p:nvPr/>
        </p:nvSpPr>
        <p:spPr>
          <a:xfrm>
            <a:off x="9260490" y="4977882"/>
            <a:ext cx="352982" cy="461665"/>
          </a:xfrm>
          <a:prstGeom prst="rect">
            <a:avLst/>
          </a:prstGeom>
        </p:spPr>
        <p:txBody>
          <a:bodyPr wrap="none">
            <a:spAutoFit/>
          </a:bodyPr>
          <a:lstStyle/>
          <a:p>
            <a:r>
              <a:rPr lang="en-IN" sz="2400" b="1" dirty="0">
                <a:solidFill>
                  <a:srgbClr val="202124"/>
                </a:solidFill>
                <a:latin typeface="Google Sans"/>
              </a:rPr>
              <a:t>≈</a:t>
            </a:r>
            <a:endParaRPr lang="en-IN" sz="2400" b="1" dirty="0"/>
          </a:p>
        </p:txBody>
      </p:sp>
      <p:graphicFrame>
        <p:nvGraphicFramePr>
          <p:cNvPr id="12" name="Table 11"/>
          <p:cNvGraphicFramePr>
            <a:graphicFrameLocks noGrp="1"/>
          </p:cNvGraphicFramePr>
          <p:nvPr>
            <p:extLst>
              <p:ext uri="{D42A27DB-BD31-4B8C-83A1-F6EECF244321}">
                <p14:modId xmlns:p14="http://schemas.microsoft.com/office/powerpoint/2010/main" val="126276753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3" name="TextBox 12"/>
          <p:cNvSpPr txBox="1"/>
          <p:nvPr/>
        </p:nvSpPr>
        <p:spPr>
          <a:xfrm>
            <a:off x="11658600" y="143501"/>
            <a:ext cx="391562" cy="307777"/>
          </a:xfrm>
          <a:prstGeom prst="rect">
            <a:avLst/>
          </a:prstGeom>
          <a:noFill/>
        </p:spPr>
        <p:txBody>
          <a:bodyPr wrap="square" rtlCol="0">
            <a:spAutoFit/>
          </a:bodyPr>
          <a:lstStyle/>
          <a:p>
            <a:r>
              <a:rPr lang="en-US" sz="1400" dirty="0" smtClean="0"/>
              <a:t>21</a:t>
            </a:r>
            <a:endParaRPr lang="en-IN" sz="1400" dirty="0"/>
          </a:p>
        </p:txBody>
      </p:sp>
    </p:spTree>
    <p:extLst>
      <p:ext uri="{BB962C8B-B14F-4D97-AF65-F5344CB8AC3E}">
        <p14:creationId xmlns:p14="http://schemas.microsoft.com/office/powerpoint/2010/main" val="17234589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41211" y="98361"/>
            <a:ext cx="4029436" cy="369332"/>
          </a:xfrm>
          <a:prstGeom prst="rect">
            <a:avLst/>
          </a:prstGeom>
        </p:spPr>
        <p:txBody>
          <a:bodyPr wrap="none">
            <a:spAutoFit/>
          </a:bodyPr>
          <a:lstStyle/>
          <a:p>
            <a:r>
              <a:rPr lang="en-IN" b="1" dirty="0" smtClean="0">
                <a:solidFill>
                  <a:schemeClr val="dk1"/>
                </a:solidFill>
              </a:rPr>
              <a:t>Financial Projections – Revenue Streams</a:t>
            </a:r>
            <a:endParaRPr lang="en-IN" b="1" dirty="0"/>
          </a:p>
        </p:txBody>
      </p:sp>
      <p:sp>
        <p:nvSpPr>
          <p:cNvPr id="6" name="Rounded Rectangle 5"/>
          <p:cNvSpPr/>
          <p:nvPr/>
        </p:nvSpPr>
        <p:spPr>
          <a:xfrm>
            <a:off x="632037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2/2</a:t>
            </a:r>
            <a:endParaRPr lang="en-IN" b="1" dirty="0">
              <a:solidFill>
                <a:schemeClr val="tx1"/>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1120927234"/>
              </p:ext>
            </p:extLst>
          </p:nvPr>
        </p:nvGraphicFramePr>
        <p:xfrm>
          <a:off x="2032000" y="719666"/>
          <a:ext cx="9920514" cy="5897880"/>
        </p:xfrm>
        <a:graphic>
          <a:graphicData uri="http://schemas.openxmlformats.org/drawingml/2006/table">
            <a:tbl>
              <a:tblPr bandRow="1">
                <a:tableStyleId>{5C22544A-7EE6-4342-B048-85BDC9FD1C3A}</a:tableStyleId>
              </a:tblPr>
              <a:tblGrid>
                <a:gridCol w="547914"/>
                <a:gridCol w="9372600"/>
              </a:tblGrid>
              <a:tr h="370840">
                <a:tc>
                  <a:txBody>
                    <a:bodyPr/>
                    <a:lstStyle/>
                    <a:p>
                      <a:r>
                        <a:rPr lang="en-US" sz="1700" dirty="0" smtClean="0"/>
                        <a:t>1</a:t>
                      </a:r>
                      <a:endParaRPr lang="en-IN" sz="1700" dirty="0"/>
                    </a:p>
                  </a:txBody>
                  <a:tcPr>
                    <a:solidFill>
                      <a:schemeClr val="accent2">
                        <a:lumMod val="20000"/>
                        <a:lumOff val="80000"/>
                      </a:schemeClr>
                    </a:solidFill>
                  </a:tcPr>
                </a:tc>
                <a:tc>
                  <a:txBody>
                    <a:bodyPr/>
                    <a:lstStyle/>
                    <a:p>
                      <a:r>
                        <a:rPr lang="en-IN" sz="1700" b="1" i="0" kern="1200" dirty="0" smtClean="0">
                          <a:solidFill>
                            <a:schemeClr val="dk1"/>
                          </a:solidFill>
                          <a:effectLst/>
                          <a:latin typeface="+mn-lt"/>
                          <a:ea typeface="+mn-ea"/>
                          <a:cs typeface="+mn-cs"/>
                        </a:rPr>
                        <a:t>Affiliate Programs: </a:t>
                      </a:r>
                    </a:p>
                    <a:p>
                      <a:r>
                        <a:rPr lang="en-US" sz="1700" b="0" i="0" kern="1200" dirty="0" smtClean="0">
                          <a:solidFill>
                            <a:schemeClr val="dk1"/>
                          </a:solidFill>
                          <a:effectLst/>
                          <a:latin typeface="+mn-lt"/>
                          <a:ea typeface="+mn-ea"/>
                          <a:cs typeface="+mn-cs"/>
                        </a:rPr>
                        <a:t>Revenue through affiliate programs with registered Software, Hosting, AI, and Tutorial providers, earning commissions on successful referrals.</a:t>
                      </a:r>
                    </a:p>
                    <a:p>
                      <a:r>
                        <a:rPr lang="en-US" sz="1700" b="1" dirty="0" smtClean="0"/>
                        <a:t>Average affiliate commission 5% - 80% per successful sale</a:t>
                      </a:r>
                      <a:endParaRPr lang="en-IN" sz="1700" b="1" dirty="0"/>
                    </a:p>
                  </a:txBody>
                  <a:tcPr>
                    <a:solidFill>
                      <a:schemeClr val="accent2">
                        <a:lumMod val="20000"/>
                        <a:lumOff val="80000"/>
                      </a:schemeClr>
                    </a:solidFill>
                  </a:tcPr>
                </a:tc>
              </a:tr>
              <a:tr h="370840">
                <a:tc>
                  <a:txBody>
                    <a:bodyPr/>
                    <a:lstStyle/>
                    <a:p>
                      <a:r>
                        <a:rPr lang="en-US" sz="1700" dirty="0" smtClean="0"/>
                        <a:t>2</a:t>
                      </a:r>
                      <a:endParaRPr lang="en-IN" sz="1700" dirty="0"/>
                    </a:p>
                  </a:txBody>
                  <a:tcPr>
                    <a:solidFill>
                      <a:schemeClr val="accent4">
                        <a:lumMod val="40000"/>
                        <a:lumOff val="60000"/>
                      </a:schemeClr>
                    </a:solidFill>
                  </a:tcPr>
                </a:tc>
                <a:tc>
                  <a:txBody>
                    <a:bodyPr/>
                    <a:lstStyle/>
                    <a:p>
                      <a:r>
                        <a:rPr lang="en-US" sz="1700" b="1" i="0" kern="1200" dirty="0" smtClean="0">
                          <a:solidFill>
                            <a:schemeClr val="dk1"/>
                          </a:solidFill>
                          <a:effectLst/>
                          <a:latin typeface="+mn-lt"/>
                          <a:ea typeface="+mn-ea"/>
                          <a:cs typeface="+mn-cs"/>
                        </a:rPr>
                        <a:t>Advertisements:</a:t>
                      </a:r>
                      <a:endParaRPr lang="en-US" sz="1700" b="0" i="0" kern="1200" dirty="0" smtClean="0">
                        <a:solidFill>
                          <a:schemeClr val="dk1"/>
                        </a:solidFill>
                        <a:effectLst/>
                        <a:latin typeface="+mn-lt"/>
                        <a:ea typeface="+mn-ea"/>
                        <a:cs typeface="+mn-cs"/>
                      </a:endParaRPr>
                    </a:p>
                    <a:p>
                      <a:r>
                        <a:rPr lang="en-US" sz="1700" b="0" i="0" kern="1200" dirty="0" smtClean="0">
                          <a:solidFill>
                            <a:schemeClr val="dk1"/>
                          </a:solidFill>
                          <a:effectLst/>
                          <a:latin typeface="+mn-lt"/>
                          <a:ea typeface="+mn-ea"/>
                          <a:cs typeface="+mn-cs"/>
                        </a:rPr>
                        <a:t>Monetize advertising spaces on the platform, offering targeted exposure to companies looking to promote their products and services.</a:t>
                      </a:r>
                    </a:p>
                    <a:p>
                      <a:r>
                        <a:rPr lang="en-US" sz="1700" b="1" dirty="0" smtClean="0"/>
                        <a:t>Average advertising space cost</a:t>
                      </a:r>
                      <a:r>
                        <a:rPr lang="en-US" sz="1700" b="1" baseline="0" dirty="0" smtClean="0"/>
                        <a:t> 30K-50K (</a:t>
                      </a:r>
                      <a:r>
                        <a:rPr lang="en-US" sz="1700" b="1" i="0" kern="1200" dirty="0" smtClean="0">
                          <a:solidFill>
                            <a:schemeClr val="dk1"/>
                          </a:solidFill>
                          <a:effectLst/>
                          <a:latin typeface="+mn-lt"/>
                          <a:ea typeface="+mn-ea"/>
                          <a:cs typeface="+mn-cs"/>
                        </a:rPr>
                        <a:t>$</a:t>
                      </a:r>
                      <a:r>
                        <a:rPr lang="en-US" sz="1700" b="1" baseline="0" dirty="0" smtClean="0"/>
                        <a:t>300 to </a:t>
                      </a:r>
                      <a:r>
                        <a:rPr lang="en-US" sz="1700" b="1" i="0" kern="1200" dirty="0" smtClean="0">
                          <a:solidFill>
                            <a:schemeClr val="dk1"/>
                          </a:solidFill>
                          <a:effectLst/>
                          <a:latin typeface="+mn-lt"/>
                          <a:ea typeface="+mn-ea"/>
                          <a:cs typeface="+mn-cs"/>
                        </a:rPr>
                        <a:t>$</a:t>
                      </a:r>
                      <a:r>
                        <a:rPr lang="en-US" sz="1700" b="1" baseline="0" dirty="0" smtClean="0"/>
                        <a:t>600) per month</a:t>
                      </a:r>
                      <a:endParaRPr lang="en-IN" sz="1700" b="1" dirty="0"/>
                    </a:p>
                  </a:txBody>
                  <a:tcPr>
                    <a:solidFill>
                      <a:schemeClr val="accent4">
                        <a:lumMod val="40000"/>
                        <a:lumOff val="60000"/>
                      </a:schemeClr>
                    </a:solidFill>
                  </a:tcPr>
                </a:tc>
              </a:tr>
              <a:tr h="370840">
                <a:tc>
                  <a:txBody>
                    <a:bodyPr/>
                    <a:lstStyle/>
                    <a:p>
                      <a:r>
                        <a:rPr lang="en-US" sz="1700" dirty="0" smtClean="0"/>
                        <a:t>3</a:t>
                      </a:r>
                      <a:endParaRPr lang="en-IN" sz="1700" dirty="0"/>
                    </a:p>
                  </a:txBody>
                  <a:tcPr>
                    <a:solidFill>
                      <a:schemeClr val="accent6">
                        <a:lumMod val="40000"/>
                        <a:lumOff val="60000"/>
                      </a:schemeClr>
                    </a:solidFill>
                  </a:tcPr>
                </a:tc>
                <a:tc>
                  <a:txBody>
                    <a:bodyPr/>
                    <a:lstStyle/>
                    <a:p>
                      <a:r>
                        <a:rPr lang="en-US" sz="1700" b="1" i="0" kern="1200" dirty="0" smtClean="0">
                          <a:solidFill>
                            <a:schemeClr val="dk1"/>
                          </a:solidFill>
                          <a:effectLst/>
                          <a:latin typeface="+mn-lt"/>
                          <a:ea typeface="+mn-ea"/>
                          <a:cs typeface="+mn-cs"/>
                        </a:rPr>
                        <a:t>SEO and PPC Campaigns:</a:t>
                      </a:r>
                      <a:endParaRPr lang="en-US" sz="1700" b="0" i="0" kern="1200" dirty="0" smtClean="0">
                        <a:solidFill>
                          <a:schemeClr val="dk1"/>
                        </a:solidFill>
                        <a:effectLst/>
                        <a:latin typeface="+mn-lt"/>
                        <a:ea typeface="+mn-ea"/>
                        <a:cs typeface="+mn-cs"/>
                      </a:endParaRPr>
                    </a:p>
                    <a:p>
                      <a:r>
                        <a:rPr lang="en-US" sz="1700" b="0" i="0" kern="1200" dirty="0" smtClean="0">
                          <a:solidFill>
                            <a:schemeClr val="dk1"/>
                          </a:solidFill>
                          <a:effectLst/>
                          <a:latin typeface="+mn-lt"/>
                          <a:ea typeface="+mn-ea"/>
                          <a:cs typeface="+mn-cs"/>
                        </a:rPr>
                        <a:t>SEO and PPC strategies, attracting businesses seeking enhanced visibility and prominence on the platform.</a:t>
                      </a:r>
                    </a:p>
                    <a:p>
                      <a:r>
                        <a:rPr lang="en-US" sz="1700" b="1" i="0" kern="1200" dirty="0" smtClean="0">
                          <a:solidFill>
                            <a:schemeClr val="dk1"/>
                          </a:solidFill>
                          <a:effectLst/>
                          <a:latin typeface="+mn-lt"/>
                          <a:ea typeface="+mn-ea"/>
                          <a:cs typeface="+mn-cs"/>
                        </a:rPr>
                        <a:t>Average CPC</a:t>
                      </a:r>
                      <a:r>
                        <a:rPr lang="en-US" sz="1700" b="1" i="0" kern="1200" baseline="0" dirty="0" smtClean="0">
                          <a:solidFill>
                            <a:schemeClr val="dk1"/>
                          </a:solidFill>
                          <a:effectLst/>
                          <a:latin typeface="+mn-lt"/>
                          <a:ea typeface="+mn-ea"/>
                          <a:cs typeface="+mn-cs"/>
                        </a:rPr>
                        <a:t> (Cost Per Click)</a:t>
                      </a:r>
                      <a:r>
                        <a:rPr lang="en-US" sz="1700" b="1" i="0" kern="1200" dirty="0" smtClean="0">
                          <a:solidFill>
                            <a:schemeClr val="dk1"/>
                          </a:solidFill>
                          <a:effectLst/>
                          <a:latin typeface="+mn-lt"/>
                          <a:ea typeface="+mn-ea"/>
                          <a:cs typeface="+mn-cs"/>
                        </a:rPr>
                        <a:t> is 80-150 ($1 – $2) per click</a:t>
                      </a:r>
                      <a:r>
                        <a:rPr lang="en-US" sz="1700" b="0" i="0" kern="1200" dirty="0" smtClean="0">
                          <a:solidFill>
                            <a:schemeClr val="dk1"/>
                          </a:solidFill>
                          <a:effectLst/>
                          <a:latin typeface="+mn-lt"/>
                          <a:ea typeface="+mn-ea"/>
                          <a:cs typeface="+mn-cs"/>
                        </a:rPr>
                        <a:t>.</a:t>
                      </a:r>
                      <a:endParaRPr lang="en-IN" sz="1700" dirty="0"/>
                    </a:p>
                  </a:txBody>
                  <a:tcPr>
                    <a:solidFill>
                      <a:schemeClr val="accent6">
                        <a:lumMod val="40000"/>
                        <a:lumOff val="60000"/>
                      </a:schemeClr>
                    </a:solidFill>
                  </a:tcPr>
                </a:tc>
              </a:tr>
              <a:tr h="370840">
                <a:tc>
                  <a:txBody>
                    <a:bodyPr/>
                    <a:lstStyle/>
                    <a:p>
                      <a:r>
                        <a:rPr lang="en-US" sz="1700" dirty="0" smtClean="0"/>
                        <a:t>4</a:t>
                      </a:r>
                      <a:endParaRPr lang="en-IN" sz="1700" dirty="0"/>
                    </a:p>
                  </a:txBody>
                  <a:tcPr>
                    <a:solidFill>
                      <a:schemeClr val="accent5">
                        <a:lumMod val="40000"/>
                        <a:lumOff val="60000"/>
                      </a:schemeClr>
                    </a:solidFill>
                  </a:tcPr>
                </a:tc>
                <a:tc>
                  <a:txBody>
                    <a:bodyPr/>
                    <a:lstStyle/>
                    <a:p>
                      <a:r>
                        <a:rPr lang="en-US" sz="1700" b="1" i="0" kern="1200" dirty="0" smtClean="0">
                          <a:solidFill>
                            <a:schemeClr val="dk1"/>
                          </a:solidFill>
                          <a:effectLst/>
                          <a:latin typeface="+mn-lt"/>
                          <a:ea typeface="+mn-ea"/>
                          <a:cs typeface="+mn-cs"/>
                        </a:rPr>
                        <a:t>Premium Listings:</a:t>
                      </a:r>
                      <a:endParaRPr lang="en-US" sz="1700" b="0" i="0" kern="1200" dirty="0" smtClean="0">
                        <a:solidFill>
                          <a:schemeClr val="dk1"/>
                        </a:solidFill>
                        <a:effectLst/>
                        <a:latin typeface="+mn-lt"/>
                        <a:ea typeface="+mn-ea"/>
                        <a:cs typeface="+mn-cs"/>
                      </a:endParaRPr>
                    </a:p>
                    <a:p>
                      <a:r>
                        <a:rPr lang="en-US" sz="1700" b="0" i="0" kern="1200" dirty="0" smtClean="0">
                          <a:solidFill>
                            <a:schemeClr val="dk1"/>
                          </a:solidFill>
                          <a:effectLst/>
                          <a:latin typeface="+mn-lt"/>
                          <a:ea typeface="+mn-ea"/>
                          <a:cs typeface="+mn-cs"/>
                        </a:rPr>
                        <a:t>Premium listing options for companies, allowing them to showcase their products prominently on the front page for increased visibility.</a:t>
                      </a:r>
                    </a:p>
                    <a:p>
                      <a:r>
                        <a:rPr lang="en-US" sz="1700" b="1" dirty="0" smtClean="0"/>
                        <a:t>Average Premium listing cost 800-8000 (</a:t>
                      </a:r>
                      <a:r>
                        <a:rPr lang="en-US" sz="1700" b="1" i="0" kern="1200" dirty="0" smtClean="0">
                          <a:solidFill>
                            <a:schemeClr val="dk1"/>
                          </a:solidFill>
                          <a:effectLst/>
                          <a:latin typeface="+mn-lt"/>
                          <a:ea typeface="+mn-ea"/>
                          <a:cs typeface="+mn-cs"/>
                        </a:rPr>
                        <a:t>$</a:t>
                      </a:r>
                      <a:r>
                        <a:rPr lang="en-US" sz="1700" b="1" dirty="0" smtClean="0"/>
                        <a:t>10-</a:t>
                      </a:r>
                      <a:r>
                        <a:rPr lang="en-US" sz="1700" b="1" i="0" kern="1200" dirty="0" smtClean="0">
                          <a:solidFill>
                            <a:schemeClr val="dk1"/>
                          </a:solidFill>
                          <a:effectLst/>
                          <a:latin typeface="+mn-lt"/>
                          <a:ea typeface="+mn-ea"/>
                          <a:cs typeface="+mn-cs"/>
                        </a:rPr>
                        <a:t>$</a:t>
                      </a:r>
                      <a:r>
                        <a:rPr lang="en-US" sz="1700" b="1" dirty="0" smtClean="0"/>
                        <a:t>100) for 7 days to 60 days</a:t>
                      </a:r>
                      <a:endParaRPr lang="en-IN" sz="1700" b="1" dirty="0"/>
                    </a:p>
                  </a:txBody>
                  <a:tcPr>
                    <a:solidFill>
                      <a:schemeClr val="accent5">
                        <a:lumMod val="40000"/>
                        <a:lumOff val="60000"/>
                      </a:schemeClr>
                    </a:solidFill>
                  </a:tcPr>
                </a:tc>
              </a:tr>
              <a:tr h="370840">
                <a:tc>
                  <a:txBody>
                    <a:bodyPr/>
                    <a:lstStyle/>
                    <a:p>
                      <a:r>
                        <a:rPr lang="en-US" sz="1700" dirty="0" smtClean="0"/>
                        <a:t>5</a:t>
                      </a:r>
                      <a:endParaRPr lang="en-IN" sz="1700" dirty="0"/>
                    </a:p>
                  </a:txBody>
                  <a:tcPr>
                    <a:solidFill>
                      <a:schemeClr val="bg2">
                        <a:lumMod val="75000"/>
                      </a:schemeClr>
                    </a:solidFill>
                  </a:tcPr>
                </a:tc>
                <a:tc>
                  <a:txBody>
                    <a:bodyPr/>
                    <a:lstStyle/>
                    <a:p>
                      <a:r>
                        <a:rPr lang="en-US" sz="1700" b="1" i="0" kern="1200" dirty="0" smtClean="0">
                          <a:solidFill>
                            <a:schemeClr val="dk1"/>
                          </a:solidFill>
                          <a:effectLst/>
                          <a:latin typeface="+mn-lt"/>
                          <a:ea typeface="+mn-ea"/>
                          <a:cs typeface="+mn-cs"/>
                        </a:rPr>
                        <a:t>Subscription-based Dashboard:</a:t>
                      </a:r>
                      <a:endParaRPr lang="en-US" sz="1700" b="0" i="0" kern="1200" dirty="0" smtClean="0">
                        <a:solidFill>
                          <a:schemeClr val="dk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700" b="0" i="0" kern="1200" dirty="0" smtClean="0">
                          <a:solidFill>
                            <a:schemeClr val="dk1"/>
                          </a:solidFill>
                          <a:effectLst/>
                          <a:latin typeface="+mn-lt"/>
                          <a:ea typeface="+mn-ea"/>
                          <a:cs typeface="+mn-cs"/>
                        </a:rPr>
                        <a:t>A subscription model for the user dashboard, offering a centralized space for digital product owners to monitor health and prediction</a:t>
                      </a:r>
                      <a:r>
                        <a:rPr lang="en-US" sz="1700" b="0" i="0" kern="1200" baseline="0" dirty="0" smtClean="0">
                          <a:solidFill>
                            <a:schemeClr val="dk1"/>
                          </a:solidFill>
                          <a:effectLst/>
                          <a:latin typeface="+mn-lt"/>
                          <a:ea typeface="+mn-ea"/>
                          <a:cs typeface="+mn-cs"/>
                        </a:rPr>
                        <a:t> of</a:t>
                      </a:r>
                      <a:r>
                        <a:rPr lang="en-US" sz="1700" b="0" i="0" kern="1200" dirty="0" smtClean="0">
                          <a:solidFill>
                            <a:schemeClr val="dk1"/>
                          </a:solidFill>
                          <a:effectLst/>
                          <a:latin typeface="+mn-lt"/>
                          <a:ea typeface="+mn-ea"/>
                          <a:cs typeface="+mn-cs"/>
                        </a:rPr>
                        <a:t> recourse requirement before digital product get over</a:t>
                      </a:r>
                      <a:r>
                        <a:rPr lang="en-US" sz="1700" b="0" i="0" kern="1200" baseline="0" dirty="0" smtClean="0">
                          <a:solidFill>
                            <a:schemeClr val="dk1"/>
                          </a:solidFill>
                          <a:effectLst/>
                          <a:latin typeface="+mn-lt"/>
                          <a:ea typeface="+mn-ea"/>
                          <a:cs typeface="+mn-cs"/>
                        </a:rPr>
                        <a:t> burden</a:t>
                      </a:r>
                      <a:r>
                        <a:rPr lang="en-US" sz="1700" b="0" i="0" kern="1200" dirty="0" smtClean="0">
                          <a:solidFill>
                            <a:schemeClr val="dk1"/>
                          </a:solidFill>
                          <a:effectLst/>
                          <a:latin typeface="+mn-lt"/>
                          <a:ea typeface="+mn-ea"/>
                          <a:cs typeface="+mn-cs"/>
                        </a:rPr>
                        <a:t> and to</a:t>
                      </a:r>
                    </a:p>
                    <a:p>
                      <a:r>
                        <a:rPr lang="en-US" sz="1700" b="0" i="0" kern="1200" dirty="0" smtClean="0">
                          <a:solidFill>
                            <a:schemeClr val="dk1"/>
                          </a:solidFill>
                          <a:effectLst/>
                          <a:latin typeface="+mn-lt"/>
                          <a:ea typeface="+mn-ea"/>
                          <a:cs typeface="+mn-cs"/>
                        </a:rPr>
                        <a:t>manage subscriptions, licenses, and updates of other IT Services.</a:t>
                      </a:r>
                    </a:p>
                    <a:p>
                      <a:r>
                        <a:rPr lang="en-US" sz="1700" b="1" dirty="0" smtClean="0"/>
                        <a:t>Average subscription cost 2500-9500 (</a:t>
                      </a:r>
                      <a:r>
                        <a:rPr lang="en-US" sz="1700" b="1" i="0" kern="1200" dirty="0" smtClean="0">
                          <a:solidFill>
                            <a:schemeClr val="dk1"/>
                          </a:solidFill>
                          <a:effectLst/>
                          <a:latin typeface="+mn-lt"/>
                          <a:ea typeface="+mn-ea"/>
                          <a:cs typeface="+mn-cs"/>
                        </a:rPr>
                        <a:t>$</a:t>
                      </a:r>
                      <a:r>
                        <a:rPr lang="en-US" sz="1700" b="1" dirty="0" smtClean="0"/>
                        <a:t>30-</a:t>
                      </a:r>
                      <a:r>
                        <a:rPr lang="en-US" sz="1700" b="1" i="0" kern="1200" dirty="0" smtClean="0">
                          <a:solidFill>
                            <a:schemeClr val="dk1"/>
                          </a:solidFill>
                          <a:effectLst/>
                          <a:latin typeface="+mn-lt"/>
                          <a:ea typeface="+mn-ea"/>
                          <a:cs typeface="+mn-cs"/>
                        </a:rPr>
                        <a:t>$</a:t>
                      </a:r>
                      <a:r>
                        <a:rPr lang="en-US" sz="1700" b="1" dirty="0" smtClean="0"/>
                        <a:t>115) </a:t>
                      </a:r>
                      <a:r>
                        <a:rPr lang="en-US" sz="1700" b="1" baseline="0" dirty="0" smtClean="0"/>
                        <a:t>per month</a:t>
                      </a:r>
                      <a:endParaRPr lang="en-IN" sz="1700" b="1" dirty="0"/>
                    </a:p>
                  </a:txBody>
                  <a:tcPr>
                    <a:solidFill>
                      <a:schemeClr val="bg2">
                        <a:lumMod val="75000"/>
                      </a:schemeClr>
                    </a:solidFill>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050099138"/>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8" name="TextBox 7"/>
          <p:cNvSpPr txBox="1"/>
          <p:nvPr/>
        </p:nvSpPr>
        <p:spPr>
          <a:xfrm>
            <a:off x="11658600" y="143501"/>
            <a:ext cx="409669" cy="307777"/>
          </a:xfrm>
          <a:prstGeom prst="rect">
            <a:avLst/>
          </a:prstGeom>
          <a:noFill/>
        </p:spPr>
        <p:txBody>
          <a:bodyPr wrap="square" rtlCol="0">
            <a:spAutoFit/>
          </a:bodyPr>
          <a:lstStyle/>
          <a:p>
            <a:r>
              <a:rPr lang="en-US" sz="1400" dirty="0" smtClean="0"/>
              <a:t>22</a:t>
            </a:r>
            <a:endParaRPr lang="en-IN" sz="1400" dirty="0"/>
          </a:p>
        </p:txBody>
      </p:sp>
    </p:spTree>
    <p:extLst>
      <p:ext uri="{BB962C8B-B14F-4D97-AF65-F5344CB8AC3E}">
        <p14:creationId xmlns:p14="http://schemas.microsoft.com/office/powerpoint/2010/main" val="39459681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55" name="Freeform 54"/>
          <p:cNvSpPr/>
          <p:nvPr/>
        </p:nvSpPr>
        <p:spPr>
          <a:xfrm>
            <a:off x="4787603" y="2644307"/>
            <a:ext cx="3705366" cy="621722"/>
          </a:xfrm>
          <a:custGeom>
            <a:avLst/>
            <a:gdLst>
              <a:gd name="connsiteX0" fmla="*/ 0 w 2971800"/>
              <a:gd name="connsiteY0" fmla="*/ 0 h 621722"/>
              <a:gd name="connsiteX1" fmla="*/ 1110343 w 2971800"/>
              <a:gd name="connsiteY1" fmla="*/ 620485 h 621722"/>
              <a:gd name="connsiteX2" fmla="*/ 1785257 w 2971800"/>
              <a:gd name="connsiteY2" fmla="*/ 163285 h 621722"/>
              <a:gd name="connsiteX3" fmla="*/ 2971800 w 2971800"/>
              <a:gd name="connsiteY3" fmla="*/ 293914 h 621722"/>
            </a:gdLst>
            <a:ahLst/>
            <a:cxnLst>
              <a:cxn ang="0">
                <a:pos x="connsiteX0" y="connsiteY0"/>
              </a:cxn>
              <a:cxn ang="0">
                <a:pos x="connsiteX1" y="connsiteY1"/>
              </a:cxn>
              <a:cxn ang="0">
                <a:pos x="connsiteX2" y="connsiteY2"/>
              </a:cxn>
              <a:cxn ang="0">
                <a:pos x="connsiteX3" y="connsiteY3"/>
              </a:cxn>
            </a:cxnLst>
            <a:rect l="l" t="t" r="r" b="b"/>
            <a:pathLst>
              <a:path w="2971800" h="621722">
                <a:moveTo>
                  <a:pt x="0" y="0"/>
                </a:moveTo>
                <a:cubicBezTo>
                  <a:pt x="406400" y="296635"/>
                  <a:pt x="812800" y="593271"/>
                  <a:pt x="1110343" y="620485"/>
                </a:cubicBezTo>
                <a:cubicBezTo>
                  <a:pt x="1407886" y="647699"/>
                  <a:pt x="1475014" y="217714"/>
                  <a:pt x="1785257" y="163285"/>
                </a:cubicBezTo>
                <a:cubicBezTo>
                  <a:pt x="2095500" y="108857"/>
                  <a:pt x="2761343" y="248557"/>
                  <a:pt x="2971800" y="293914"/>
                </a:cubicBezTo>
              </a:path>
            </a:pathLst>
          </a:cu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55"/>
          <p:cNvSpPr/>
          <p:nvPr/>
        </p:nvSpPr>
        <p:spPr>
          <a:xfrm>
            <a:off x="4828572" y="4894105"/>
            <a:ext cx="3705366" cy="1005536"/>
          </a:xfrm>
          <a:custGeom>
            <a:avLst/>
            <a:gdLst>
              <a:gd name="connsiteX0" fmla="*/ 0 w 2971800"/>
              <a:gd name="connsiteY0" fmla="*/ 0 h 621722"/>
              <a:gd name="connsiteX1" fmla="*/ 1110343 w 2971800"/>
              <a:gd name="connsiteY1" fmla="*/ 620485 h 621722"/>
              <a:gd name="connsiteX2" fmla="*/ 1785257 w 2971800"/>
              <a:gd name="connsiteY2" fmla="*/ 163285 h 621722"/>
              <a:gd name="connsiteX3" fmla="*/ 2971800 w 2971800"/>
              <a:gd name="connsiteY3" fmla="*/ 293914 h 621722"/>
            </a:gdLst>
            <a:ahLst/>
            <a:cxnLst>
              <a:cxn ang="0">
                <a:pos x="connsiteX0" y="connsiteY0"/>
              </a:cxn>
              <a:cxn ang="0">
                <a:pos x="connsiteX1" y="connsiteY1"/>
              </a:cxn>
              <a:cxn ang="0">
                <a:pos x="connsiteX2" y="connsiteY2"/>
              </a:cxn>
              <a:cxn ang="0">
                <a:pos x="connsiteX3" y="connsiteY3"/>
              </a:cxn>
            </a:cxnLst>
            <a:rect l="l" t="t" r="r" b="b"/>
            <a:pathLst>
              <a:path w="2971800" h="621722">
                <a:moveTo>
                  <a:pt x="0" y="0"/>
                </a:moveTo>
                <a:cubicBezTo>
                  <a:pt x="406400" y="296635"/>
                  <a:pt x="812800" y="593271"/>
                  <a:pt x="1110343" y="620485"/>
                </a:cubicBezTo>
                <a:cubicBezTo>
                  <a:pt x="1407886" y="647699"/>
                  <a:pt x="1475014" y="217714"/>
                  <a:pt x="1785257" y="163285"/>
                </a:cubicBezTo>
                <a:cubicBezTo>
                  <a:pt x="2095500" y="108857"/>
                  <a:pt x="2761343" y="248557"/>
                  <a:pt x="2971800" y="293914"/>
                </a:cubicBezTo>
              </a:path>
            </a:pathLst>
          </a:cu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Freeform 56"/>
          <p:cNvSpPr/>
          <p:nvPr/>
        </p:nvSpPr>
        <p:spPr>
          <a:xfrm rot="16796417">
            <a:off x="9041901" y="2905868"/>
            <a:ext cx="2598241" cy="1005536"/>
          </a:xfrm>
          <a:custGeom>
            <a:avLst/>
            <a:gdLst>
              <a:gd name="connsiteX0" fmla="*/ 0 w 2971800"/>
              <a:gd name="connsiteY0" fmla="*/ 0 h 621722"/>
              <a:gd name="connsiteX1" fmla="*/ 1110343 w 2971800"/>
              <a:gd name="connsiteY1" fmla="*/ 620485 h 621722"/>
              <a:gd name="connsiteX2" fmla="*/ 1785257 w 2971800"/>
              <a:gd name="connsiteY2" fmla="*/ 163285 h 621722"/>
              <a:gd name="connsiteX3" fmla="*/ 2971800 w 2971800"/>
              <a:gd name="connsiteY3" fmla="*/ 293914 h 621722"/>
            </a:gdLst>
            <a:ahLst/>
            <a:cxnLst>
              <a:cxn ang="0">
                <a:pos x="connsiteX0" y="connsiteY0"/>
              </a:cxn>
              <a:cxn ang="0">
                <a:pos x="connsiteX1" y="connsiteY1"/>
              </a:cxn>
              <a:cxn ang="0">
                <a:pos x="connsiteX2" y="connsiteY2"/>
              </a:cxn>
              <a:cxn ang="0">
                <a:pos x="connsiteX3" y="connsiteY3"/>
              </a:cxn>
            </a:cxnLst>
            <a:rect l="l" t="t" r="r" b="b"/>
            <a:pathLst>
              <a:path w="2971800" h="621722">
                <a:moveTo>
                  <a:pt x="0" y="0"/>
                </a:moveTo>
                <a:cubicBezTo>
                  <a:pt x="406400" y="296635"/>
                  <a:pt x="812800" y="593271"/>
                  <a:pt x="1110343" y="620485"/>
                </a:cubicBezTo>
                <a:cubicBezTo>
                  <a:pt x="1407886" y="647699"/>
                  <a:pt x="1475014" y="217714"/>
                  <a:pt x="1785257" y="163285"/>
                </a:cubicBezTo>
                <a:cubicBezTo>
                  <a:pt x="2095500" y="108857"/>
                  <a:pt x="2761343" y="248557"/>
                  <a:pt x="2971800" y="293914"/>
                </a:cubicBezTo>
              </a:path>
            </a:pathLst>
          </a:custGeom>
          <a:noFill/>
          <a:ln>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Freeform 52"/>
          <p:cNvSpPr/>
          <p:nvPr/>
        </p:nvSpPr>
        <p:spPr>
          <a:xfrm>
            <a:off x="6781800" y="4212242"/>
            <a:ext cx="5072743" cy="2308302"/>
          </a:xfrm>
          <a:custGeom>
            <a:avLst/>
            <a:gdLst>
              <a:gd name="connsiteX0" fmla="*/ 304800 w 5072743"/>
              <a:gd name="connsiteY0" fmla="*/ 76731 h 2308302"/>
              <a:gd name="connsiteX1" fmla="*/ 304800 w 5072743"/>
              <a:gd name="connsiteY1" fmla="*/ 76731 h 2308302"/>
              <a:gd name="connsiteX2" fmla="*/ 522514 w 5072743"/>
              <a:gd name="connsiteY2" fmla="*/ 531 h 2308302"/>
              <a:gd name="connsiteX3" fmla="*/ 4201886 w 5072743"/>
              <a:gd name="connsiteY3" fmla="*/ 22302 h 2308302"/>
              <a:gd name="connsiteX4" fmla="*/ 4299857 w 5072743"/>
              <a:gd name="connsiteY4" fmla="*/ 33188 h 2308302"/>
              <a:gd name="connsiteX5" fmla="*/ 4397829 w 5072743"/>
              <a:gd name="connsiteY5" fmla="*/ 54959 h 2308302"/>
              <a:gd name="connsiteX6" fmla="*/ 4463143 w 5072743"/>
              <a:gd name="connsiteY6" fmla="*/ 76731 h 2308302"/>
              <a:gd name="connsiteX7" fmla="*/ 4517571 w 5072743"/>
              <a:gd name="connsiteY7" fmla="*/ 98502 h 2308302"/>
              <a:gd name="connsiteX8" fmla="*/ 4572000 w 5072743"/>
              <a:gd name="connsiteY8" fmla="*/ 109388 h 2308302"/>
              <a:gd name="connsiteX9" fmla="*/ 4604657 w 5072743"/>
              <a:gd name="connsiteY9" fmla="*/ 131159 h 2308302"/>
              <a:gd name="connsiteX10" fmla="*/ 4637314 w 5072743"/>
              <a:gd name="connsiteY10" fmla="*/ 142045 h 2308302"/>
              <a:gd name="connsiteX11" fmla="*/ 4659086 w 5072743"/>
              <a:gd name="connsiteY11" fmla="*/ 163817 h 2308302"/>
              <a:gd name="connsiteX12" fmla="*/ 4691743 w 5072743"/>
              <a:gd name="connsiteY12" fmla="*/ 185588 h 2308302"/>
              <a:gd name="connsiteX13" fmla="*/ 4735286 w 5072743"/>
              <a:gd name="connsiteY13" fmla="*/ 250902 h 2308302"/>
              <a:gd name="connsiteX14" fmla="*/ 4757057 w 5072743"/>
              <a:gd name="connsiteY14" fmla="*/ 283559 h 2308302"/>
              <a:gd name="connsiteX15" fmla="*/ 4789714 w 5072743"/>
              <a:gd name="connsiteY15" fmla="*/ 327102 h 2308302"/>
              <a:gd name="connsiteX16" fmla="*/ 4811486 w 5072743"/>
              <a:gd name="connsiteY16" fmla="*/ 392417 h 2308302"/>
              <a:gd name="connsiteX17" fmla="*/ 4833257 w 5072743"/>
              <a:gd name="connsiteY17" fmla="*/ 425074 h 2308302"/>
              <a:gd name="connsiteX18" fmla="*/ 4865914 w 5072743"/>
              <a:gd name="connsiteY18" fmla="*/ 490388 h 2308302"/>
              <a:gd name="connsiteX19" fmla="*/ 4887686 w 5072743"/>
              <a:gd name="connsiteY19" fmla="*/ 523045 h 2308302"/>
              <a:gd name="connsiteX20" fmla="*/ 4931229 w 5072743"/>
              <a:gd name="connsiteY20" fmla="*/ 599245 h 2308302"/>
              <a:gd name="connsiteX21" fmla="*/ 4974771 w 5072743"/>
              <a:gd name="connsiteY21" fmla="*/ 697217 h 2308302"/>
              <a:gd name="connsiteX22" fmla="*/ 5029200 w 5072743"/>
              <a:gd name="connsiteY22" fmla="*/ 795188 h 2308302"/>
              <a:gd name="connsiteX23" fmla="*/ 5050971 w 5072743"/>
              <a:gd name="connsiteY23" fmla="*/ 925817 h 2308302"/>
              <a:gd name="connsiteX24" fmla="*/ 5072743 w 5072743"/>
              <a:gd name="connsiteY24" fmla="*/ 958474 h 2308302"/>
              <a:gd name="connsiteX25" fmla="*/ 5061857 w 5072743"/>
              <a:gd name="connsiteY25" fmla="*/ 1720474 h 2308302"/>
              <a:gd name="connsiteX26" fmla="*/ 5029200 w 5072743"/>
              <a:gd name="connsiteY26" fmla="*/ 1818445 h 2308302"/>
              <a:gd name="connsiteX27" fmla="*/ 5007429 w 5072743"/>
              <a:gd name="connsiteY27" fmla="*/ 1916417 h 2308302"/>
              <a:gd name="connsiteX28" fmla="*/ 4974771 w 5072743"/>
              <a:gd name="connsiteY28" fmla="*/ 1970845 h 2308302"/>
              <a:gd name="connsiteX29" fmla="*/ 4963886 w 5072743"/>
              <a:gd name="connsiteY29" fmla="*/ 2047045 h 2308302"/>
              <a:gd name="connsiteX30" fmla="*/ 4920343 w 5072743"/>
              <a:gd name="connsiteY30" fmla="*/ 2123245 h 2308302"/>
              <a:gd name="connsiteX31" fmla="*/ 4898571 w 5072743"/>
              <a:gd name="connsiteY31" fmla="*/ 2166788 h 2308302"/>
              <a:gd name="connsiteX32" fmla="*/ 4887686 w 5072743"/>
              <a:gd name="connsiteY32" fmla="*/ 2199445 h 2308302"/>
              <a:gd name="connsiteX33" fmla="*/ 4865914 w 5072743"/>
              <a:gd name="connsiteY33" fmla="*/ 2221217 h 2308302"/>
              <a:gd name="connsiteX34" fmla="*/ 4778829 w 5072743"/>
              <a:gd name="connsiteY34" fmla="*/ 2308302 h 2308302"/>
              <a:gd name="connsiteX35" fmla="*/ 4278086 w 5072743"/>
              <a:gd name="connsiteY35" fmla="*/ 2286531 h 2308302"/>
              <a:gd name="connsiteX36" fmla="*/ 4114800 w 5072743"/>
              <a:gd name="connsiteY36" fmla="*/ 2264759 h 2308302"/>
              <a:gd name="connsiteX37" fmla="*/ 3962400 w 5072743"/>
              <a:gd name="connsiteY37" fmla="*/ 2253874 h 2308302"/>
              <a:gd name="connsiteX38" fmla="*/ 3875314 w 5072743"/>
              <a:gd name="connsiteY38" fmla="*/ 2221217 h 2308302"/>
              <a:gd name="connsiteX39" fmla="*/ 3570514 w 5072743"/>
              <a:gd name="connsiteY39" fmla="*/ 2199445 h 2308302"/>
              <a:gd name="connsiteX40" fmla="*/ 3418114 w 5072743"/>
              <a:gd name="connsiteY40" fmla="*/ 2166788 h 2308302"/>
              <a:gd name="connsiteX41" fmla="*/ 3374571 w 5072743"/>
              <a:gd name="connsiteY41" fmla="*/ 2155902 h 2308302"/>
              <a:gd name="connsiteX42" fmla="*/ 3222171 w 5072743"/>
              <a:gd name="connsiteY42" fmla="*/ 2145017 h 2308302"/>
              <a:gd name="connsiteX43" fmla="*/ 3124200 w 5072743"/>
              <a:gd name="connsiteY43" fmla="*/ 2112359 h 2308302"/>
              <a:gd name="connsiteX44" fmla="*/ 2982686 w 5072743"/>
              <a:gd name="connsiteY44" fmla="*/ 2101474 h 2308302"/>
              <a:gd name="connsiteX45" fmla="*/ 2895600 w 5072743"/>
              <a:gd name="connsiteY45" fmla="*/ 2090588 h 2308302"/>
              <a:gd name="connsiteX46" fmla="*/ 2786743 w 5072743"/>
              <a:gd name="connsiteY46" fmla="*/ 2068817 h 2308302"/>
              <a:gd name="connsiteX47" fmla="*/ 2754086 w 5072743"/>
              <a:gd name="connsiteY47" fmla="*/ 2057931 h 2308302"/>
              <a:gd name="connsiteX48" fmla="*/ 2677886 w 5072743"/>
              <a:gd name="connsiteY48" fmla="*/ 2047045 h 2308302"/>
              <a:gd name="connsiteX49" fmla="*/ 2645229 w 5072743"/>
              <a:gd name="connsiteY49" fmla="*/ 2036159 h 2308302"/>
              <a:gd name="connsiteX50" fmla="*/ 2623457 w 5072743"/>
              <a:gd name="connsiteY50" fmla="*/ 2014388 h 2308302"/>
              <a:gd name="connsiteX51" fmla="*/ 2590800 w 5072743"/>
              <a:gd name="connsiteY51" fmla="*/ 1992617 h 2308302"/>
              <a:gd name="connsiteX52" fmla="*/ 2536371 w 5072743"/>
              <a:gd name="connsiteY52" fmla="*/ 1916417 h 2308302"/>
              <a:gd name="connsiteX53" fmla="*/ 2514600 w 5072743"/>
              <a:gd name="connsiteY53" fmla="*/ 1872874 h 2308302"/>
              <a:gd name="connsiteX54" fmla="*/ 2449286 w 5072743"/>
              <a:gd name="connsiteY54" fmla="*/ 1829331 h 2308302"/>
              <a:gd name="connsiteX55" fmla="*/ 2405743 w 5072743"/>
              <a:gd name="connsiteY55" fmla="*/ 1774902 h 2308302"/>
              <a:gd name="connsiteX56" fmla="*/ 2383971 w 5072743"/>
              <a:gd name="connsiteY56" fmla="*/ 1753131 h 2308302"/>
              <a:gd name="connsiteX57" fmla="*/ 2340429 w 5072743"/>
              <a:gd name="connsiteY57" fmla="*/ 1687817 h 2308302"/>
              <a:gd name="connsiteX58" fmla="*/ 2286000 w 5072743"/>
              <a:gd name="connsiteY58" fmla="*/ 1622502 h 2308302"/>
              <a:gd name="connsiteX59" fmla="*/ 2253343 w 5072743"/>
              <a:gd name="connsiteY59" fmla="*/ 1611617 h 2308302"/>
              <a:gd name="connsiteX60" fmla="*/ 2220686 w 5072743"/>
              <a:gd name="connsiteY60" fmla="*/ 1589845 h 2308302"/>
              <a:gd name="connsiteX61" fmla="*/ 2188029 w 5072743"/>
              <a:gd name="connsiteY61" fmla="*/ 1578959 h 2308302"/>
              <a:gd name="connsiteX62" fmla="*/ 2035629 w 5072743"/>
              <a:gd name="connsiteY62" fmla="*/ 1557188 h 2308302"/>
              <a:gd name="connsiteX63" fmla="*/ 1948543 w 5072743"/>
              <a:gd name="connsiteY63" fmla="*/ 1535417 h 2308302"/>
              <a:gd name="connsiteX64" fmla="*/ 1328057 w 5072743"/>
              <a:gd name="connsiteY64" fmla="*/ 1557188 h 2308302"/>
              <a:gd name="connsiteX65" fmla="*/ 1240971 w 5072743"/>
              <a:gd name="connsiteY65" fmla="*/ 1589845 h 2308302"/>
              <a:gd name="connsiteX66" fmla="*/ 1066800 w 5072743"/>
              <a:gd name="connsiteY66" fmla="*/ 1611617 h 2308302"/>
              <a:gd name="connsiteX67" fmla="*/ 957943 w 5072743"/>
              <a:gd name="connsiteY67" fmla="*/ 1633388 h 2308302"/>
              <a:gd name="connsiteX68" fmla="*/ 892629 w 5072743"/>
              <a:gd name="connsiteY68" fmla="*/ 1644274 h 2308302"/>
              <a:gd name="connsiteX69" fmla="*/ 413657 w 5072743"/>
              <a:gd name="connsiteY69" fmla="*/ 1633388 h 2308302"/>
              <a:gd name="connsiteX70" fmla="*/ 381000 w 5072743"/>
              <a:gd name="connsiteY70" fmla="*/ 1622502 h 2308302"/>
              <a:gd name="connsiteX71" fmla="*/ 293914 w 5072743"/>
              <a:gd name="connsiteY71" fmla="*/ 1589845 h 2308302"/>
              <a:gd name="connsiteX72" fmla="*/ 261257 w 5072743"/>
              <a:gd name="connsiteY72" fmla="*/ 1546302 h 2308302"/>
              <a:gd name="connsiteX73" fmla="*/ 206829 w 5072743"/>
              <a:gd name="connsiteY73" fmla="*/ 1459217 h 2308302"/>
              <a:gd name="connsiteX74" fmla="*/ 195943 w 5072743"/>
              <a:gd name="connsiteY74" fmla="*/ 1426559 h 2308302"/>
              <a:gd name="connsiteX75" fmla="*/ 163286 w 5072743"/>
              <a:gd name="connsiteY75" fmla="*/ 1383017 h 2308302"/>
              <a:gd name="connsiteX76" fmla="*/ 119743 w 5072743"/>
              <a:gd name="connsiteY76" fmla="*/ 1285045 h 2308302"/>
              <a:gd name="connsiteX77" fmla="*/ 65314 w 5072743"/>
              <a:gd name="connsiteY77" fmla="*/ 1197959 h 2308302"/>
              <a:gd name="connsiteX78" fmla="*/ 32657 w 5072743"/>
              <a:gd name="connsiteY78" fmla="*/ 1067331 h 2308302"/>
              <a:gd name="connsiteX79" fmla="*/ 0 w 5072743"/>
              <a:gd name="connsiteY79" fmla="*/ 969359 h 2308302"/>
              <a:gd name="connsiteX80" fmla="*/ 10886 w 5072743"/>
              <a:gd name="connsiteY80" fmla="*/ 599245 h 2308302"/>
              <a:gd name="connsiteX81" fmla="*/ 21771 w 5072743"/>
              <a:gd name="connsiteY81" fmla="*/ 566588 h 2308302"/>
              <a:gd name="connsiteX82" fmla="*/ 32657 w 5072743"/>
              <a:gd name="connsiteY82" fmla="*/ 523045 h 2308302"/>
              <a:gd name="connsiteX83" fmla="*/ 65314 w 5072743"/>
              <a:gd name="connsiteY83" fmla="*/ 490388 h 2308302"/>
              <a:gd name="connsiteX84" fmla="*/ 97971 w 5072743"/>
              <a:gd name="connsiteY84" fmla="*/ 435959 h 2308302"/>
              <a:gd name="connsiteX85" fmla="*/ 108857 w 5072743"/>
              <a:gd name="connsiteY85" fmla="*/ 392417 h 2308302"/>
              <a:gd name="connsiteX86" fmla="*/ 163286 w 5072743"/>
              <a:gd name="connsiteY86" fmla="*/ 327102 h 2308302"/>
              <a:gd name="connsiteX87" fmla="*/ 195943 w 5072743"/>
              <a:gd name="connsiteY87" fmla="*/ 261788 h 2308302"/>
              <a:gd name="connsiteX88" fmla="*/ 228600 w 5072743"/>
              <a:gd name="connsiteY88" fmla="*/ 185588 h 2308302"/>
              <a:gd name="connsiteX89" fmla="*/ 250371 w 5072743"/>
              <a:gd name="connsiteY89" fmla="*/ 142045 h 2308302"/>
              <a:gd name="connsiteX90" fmla="*/ 304800 w 5072743"/>
              <a:gd name="connsiteY90" fmla="*/ 76731 h 2308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072743" h="2308302">
                <a:moveTo>
                  <a:pt x="304800" y="76731"/>
                </a:moveTo>
                <a:lnTo>
                  <a:pt x="304800" y="76731"/>
                </a:lnTo>
                <a:cubicBezTo>
                  <a:pt x="405451" y="-9541"/>
                  <a:pt x="363866" y="79"/>
                  <a:pt x="522514" y="531"/>
                </a:cubicBezTo>
                <a:lnTo>
                  <a:pt x="4201886" y="22302"/>
                </a:lnTo>
                <a:cubicBezTo>
                  <a:pt x="4234543" y="25931"/>
                  <a:pt x="4267329" y="28541"/>
                  <a:pt x="4299857" y="33188"/>
                </a:cubicBezTo>
                <a:cubicBezTo>
                  <a:pt x="4319623" y="36012"/>
                  <a:pt x="4376227" y="48479"/>
                  <a:pt x="4397829" y="54959"/>
                </a:cubicBezTo>
                <a:cubicBezTo>
                  <a:pt x="4419810" y="61553"/>
                  <a:pt x="4441576" y="68888"/>
                  <a:pt x="4463143" y="76731"/>
                </a:cubicBezTo>
                <a:cubicBezTo>
                  <a:pt x="4481507" y="83409"/>
                  <a:pt x="4498855" y="92887"/>
                  <a:pt x="4517571" y="98502"/>
                </a:cubicBezTo>
                <a:cubicBezTo>
                  <a:pt x="4535293" y="103819"/>
                  <a:pt x="4553857" y="105759"/>
                  <a:pt x="4572000" y="109388"/>
                </a:cubicBezTo>
                <a:cubicBezTo>
                  <a:pt x="4582886" y="116645"/>
                  <a:pt x="4592955" y="125308"/>
                  <a:pt x="4604657" y="131159"/>
                </a:cubicBezTo>
                <a:cubicBezTo>
                  <a:pt x="4614920" y="136291"/>
                  <a:pt x="4627475" y="136141"/>
                  <a:pt x="4637314" y="142045"/>
                </a:cubicBezTo>
                <a:cubicBezTo>
                  <a:pt x="4646115" y="147326"/>
                  <a:pt x="4651072" y="157406"/>
                  <a:pt x="4659086" y="163817"/>
                </a:cubicBezTo>
                <a:cubicBezTo>
                  <a:pt x="4669302" y="171990"/>
                  <a:pt x="4680857" y="178331"/>
                  <a:pt x="4691743" y="185588"/>
                </a:cubicBezTo>
                <a:cubicBezTo>
                  <a:pt x="4710874" y="242980"/>
                  <a:pt x="4689985" y="196540"/>
                  <a:pt x="4735286" y="250902"/>
                </a:cubicBezTo>
                <a:cubicBezTo>
                  <a:pt x="4743661" y="260953"/>
                  <a:pt x="4749453" y="272913"/>
                  <a:pt x="4757057" y="283559"/>
                </a:cubicBezTo>
                <a:cubicBezTo>
                  <a:pt x="4767602" y="298323"/>
                  <a:pt x="4778828" y="312588"/>
                  <a:pt x="4789714" y="327102"/>
                </a:cubicBezTo>
                <a:cubicBezTo>
                  <a:pt x="4796971" y="348874"/>
                  <a:pt x="4802165" y="371446"/>
                  <a:pt x="4811486" y="392417"/>
                </a:cubicBezTo>
                <a:cubicBezTo>
                  <a:pt x="4816799" y="404372"/>
                  <a:pt x="4826903" y="413637"/>
                  <a:pt x="4833257" y="425074"/>
                </a:cubicBezTo>
                <a:cubicBezTo>
                  <a:pt x="4845078" y="446352"/>
                  <a:pt x="4854093" y="469110"/>
                  <a:pt x="4865914" y="490388"/>
                </a:cubicBezTo>
                <a:cubicBezTo>
                  <a:pt x="4872268" y="501825"/>
                  <a:pt x="4881195" y="511686"/>
                  <a:pt x="4887686" y="523045"/>
                </a:cubicBezTo>
                <a:cubicBezTo>
                  <a:pt x="4942931" y="619723"/>
                  <a:pt x="4878185" y="519681"/>
                  <a:pt x="4931229" y="599245"/>
                </a:cubicBezTo>
                <a:cubicBezTo>
                  <a:pt x="4955698" y="697128"/>
                  <a:pt x="4922463" y="582139"/>
                  <a:pt x="4974771" y="697217"/>
                </a:cubicBezTo>
                <a:cubicBezTo>
                  <a:pt x="5019170" y="794894"/>
                  <a:pt x="4968403" y="734391"/>
                  <a:pt x="5029200" y="795188"/>
                </a:cubicBezTo>
                <a:cubicBezTo>
                  <a:pt x="5030815" y="806495"/>
                  <a:pt x="5043627" y="906232"/>
                  <a:pt x="5050971" y="925817"/>
                </a:cubicBezTo>
                <a:cubicBezTo>
                  <a:pt x="5055565" y="938067"/>
                  <a:pt x="5065486" y="947588"/>
                  <a:pt x="5072743" y="958474"/>
                </a:cubicBezTo>
                <a:cubicBezTo>
                  <a:pt x="5069114" y="1212474"/>
                  <a:pt x="5071876" y="1466646"/>
                  <a:pt x="5061857" y="1720474"/>
                </a:cubicBezTo>
                <a:cubicBezTo>
                  <a:pt x="5060786" y="1747606"/>
                  <a:pt x="5035179" y="1788551"/>
                  <a:pt x="5029200" y="1818445"/>
                </a:cubicBezTo>
                <a:cubicBezTo>
                  <a:pt x="5027480" y="1827045"/>
                  <a:pt x="5013017" y="1903844"/>
                  <a:pt x="5007429" y="1916417"/>
                </a:cubicBezTo>
                <a:cubicBezTo>
                  <a:pt x="4998836" y="1935751"/>
                  <a:pt x="4985657" y="1952702"/>
                  <a:pt x="4974771" y="1970845"/>
                </a:cubicBezTo>
                <a:cubicBezTo>
                  <a:pt x="4971143" y="1996245"/>
                  <a:pt x="4970637" y="2022291"/>
                  <a:pt x="4963886" y="2047045"/>
                </a:cubicBezTo>
                <a:cubicBezTo>
                  <a:pt x="4955306" y="2078506"/>
                  <a:pt x="4935763" y="2096260"/>
                  <a:pt x="4920343" y="2123245"/>
                </a:cubicBezTo>
                <a:cubicBezTo>
                  <a:pt x="4912292" y="2137334"/>
                  <a:pt x="4904963" y="2151872"/>
                  <a:pt x="4898571" y="2166788"/>
                </a:cubicBezTo>
                <a:cubicBezTo>
                  <a:pt x="4894051" y="2177335"/>
                  <a:pt x="4893589" y="2189606"/>
                  <a:pt x="4887686" y="2199445"/>
                </a:cubicBezTo>
                <a:cubicBezTo>
                  <a:pt x="4882406" y="2208246"/>
                  <a:pt x="4872072" y="2213006"/>
                  <a:pt x="4865914" y="2221217"/>
                </a:cubicBezTo>
                <a:cubicBezTo>
                  <a:pt x="4802861" y="2305287"/>
                  <a:pt x="4852292" y="2271571"/>
                  <a:pt x="4778829" y="2308302"/>
                </a:cubicBezTo>
                <a:lnTo>
                  <a:pt x="4278086" y="2286531"/>
                </a:lnTo>
                <a:cubicBezTo>
                  <a:pt x="4094002" y="2276490"/>
                  <a:pt x="4255633" y="2278842"/>
                  <a:pt x="4114800" y="2264759"/>
                </a:cubicBezTo>
                <a:cubicBezTo>
                  <a:pt x="4064123" y="2259691"/>
                  <a:pt x="4013200" y="2257502"/>
                  <a:pt x="3962400" y="2253874"/>
                </a:cubicBezTo>
                <a:cubicBezTo>
                  <a:pt x="3933371" y="2242988"/>
                  <a:pt x="3906022" y="2225482"/>
                  <a:pt x="3875314" y="2221217"/>
                </a:cubicBezTo>
                <a:cubicBezTo>
                  <a:pt x="3774424" y="2207204"/>
                  <a:pt x="3570514" y="2199445"/>
                  <a:pt x="3570514" y="2199445"/>
                </a:cubicBezTo>
                <a:cubicBezTo>
                  <a:pt x="3430122" y="2159334"/>
                  <a:pt x="3558851" y="2192377"/>
                  <a:pt x="3418114" y="2166788"/>
                </a:cubicBezTo>
                <a:cubicBezTo>
                  <a:pt x="3403394" y="2164112"/>
                  <a:pt x="3389441" y="2157554"/>
                  <a:pt x="3374571" y="2155902"/>
                </a:cubicBezTo>
                <a:cubicBezTo>
                  <a:pt x="3323953" y="2150278"/>
                  <a:pt x="3272971" y="2148645"/>
                  <a:pt x="3222171" y="2145017"/>
                </a:cubicBezTo>
                <a:cubicBezTo>
                  <a:pt x="3189514" y="2134131"/>
                  <a:pt x="3158068" y="2118517"/>
                  <a:pt x="3124200" y="2112359"/>
                </a:cubicBezTo>
                <a:cubicBezTo>
                  <a:pt x="3077652" y="2103896"/>
                  <a:pt x="3029784" y="2105959"/>
                  <a:pt x="2982686" y="2101474"/>
                </a:cubicBezTo>
                <a:cubicBezTo>
                  <a:pt x="2953563" y="2098700"/>
                  <a:pt x="2924457" y="2095397"/>
                  <a:pt x="2895600" y="2090588"/>
                </a:cubicBezTo>
                <a:cubicBezTo>
                  <a:pt x="2859099" y="2084505"/>
                  <a:pt x="2822800" y="2077138"/>
                  <a:pt x="2786743" y="2068817"/>
                </a:cubicBezTo>
                <a:cubicBezTo>
                  <a:pt x="2775562" y="2066237"/>
                  <a:pt x="2765338" y="2060181"/>
                  <a:pt x="2754086" y="2057931"/>
                </a:cubicBezTo>
                <a:cubicBezTo>
                  <a:pt x="2728926" y="2052899"/>
                  <a:pt x="2703286" y="2050674"/>
                  <a:pt x="2677886" y="2047045"/>
                </a:cubicBezTo>
                <a:cubicBezTo>
                  <a:pt x="2667000" y="2043416"/>
                  <a:pt x="2655068" y="2042063"/>
                  <a:pt x="2645229" y="2036159"/>
                </a:cubicBezTo>
                <a:cubicBezTo>
                  <a:pt x="2636428" y="2030879"/>
                  <a:pt x="2631471" y="2020799"/>
                  <a:pt x="2623457" y="2014388"/>
                </a:cubicBezTo>
                <a:cubicBezTo>
                  <a:pt x="2613241" y="2006215"/>
                  <a:pt x="2601686" y="1999874"/>
                  <a:pt x="2590800" y="1992617"/>
                </a:cubicBezTo>
                <a:cubicBezTo>
                  <a:pt x="2567647" y="1923158"/>
                  <a:pt x="2598360" y="1999069"/>
                  <a:pt x="2536371" y="1916417"/>
                </a:cubicBezTo>
                <a:cubicBezTo>
                  <a:pt x="2526635" y="1903435"/>
                  <a:pt x="2524032" y="1886079"/>
                  <a:pt x="2514600" y="1872874"/>
                </a:cubicBezTo>
                <a:cubicBezTo>
                  <a:pt x="2489119" y="1837200"/>
                  <a:pt x="2485151" y="1841287"/>
                  <a:pt x="2449286" y="1829331"/>
                </a:cubicBezTo>
                <a:cubicBezTo>
                  <a:pt x="2396713" y="1776758"/>
                  <a:pt x="2460677" y="1843569"/>
                  <a:pt x="2405743" y="1774902"/>
                </a:cubicBezTo>
                <a:cubicBezTo>
                  <a:pt x="2399332" y="1766888"/>
                  <a:pt x="2390129" y="1761342"/>
                  <a:pt x="2383971" y="1753131"/>
                </a:cubicBezTo>
                <a:cubicBezTo>
                  <a:pt x="2368272" y="1732198"/>
                  <a:pt x="2354943" y="1709588"/>
                  <a:pt x="2340429" y="1687817"/>
                </a:cubicBezTo>
                <a:cubicBezTo>
                  <a:pt x="2324365" y="1663720"/>
                  <a:pt x="2311144" y="1639265"/>
                  <a:pt x="2286000" y="1622502"/>
                </a:cubicBezTo>
                <a:cubicBezTo>
                  <a:pt x="2276453" y="1616137"/>
                  <a:pt x="2264229" y="1615245"/>
                  <a:pt x="2253343" y="1611617"/>
                </a:cubicBezTo>
                <a:cubicBezTo>
                  <a:pt x="2242457" y="1604360"/>
                  <a:pt x="2232388" y="1595696"/>
                  <a:pt x="2220686" y="1589845"/>
                </a:cubicBezTo>
                <a:cubicBezTo>
                  <a:pt x="2210423" y="1584713"/>
                  <a:pt x="2199329" y="1580953"/>
                  <a:pt x="2188029" y="1578959"/>
                </a:cubicBezTo>
                <a:cubicBezTo>
                  <a:pt x="2137494" y="1570041"/>
                  <a:pt x="2086117" y="1566367"/>
                  <a:pt x="2035629" y="1557188"/>
                </a:cubicBezTo>
                <a:cubicBezTo>
                  <a:pt x="2006190" y="1551835"/>
                  <a:pt x="1948543" y="1535417"/>
                  <a:pt x="1948543" y="1535417"/>
                </a:cubicBezTo>
                <a:cubicBezTo>
                  <a:pt x="1929765" y="1535817"/>
                  <a:pt x="1493494" y="1531735"/>
                  <a:pt x="1328057" y="1557188"/>
                </a:cubicBezTo>
                <a:cubicBezTo>
                  <a:pt x="1313867" y="1559371"/>
                  <a:pt x="1243037" y="1589156"/>
                  <a:pt x="1240971" y="1589845"/>
                </a:cubicBezTo>
                <a:cubicBezTo>
                  <a:pt x="1183680" y="1608942"/>
                  <a:pt x="1128693" y="1606459"/>
                  <a:pt x="1066800" y="1611617"/>
                </a:cubicBezTo>
                <a:lnTo>
                  <a:pt x="957943" y="1633388"/>
                </a:lnTo>
                <a:cubicBezTo>
                  <a:pt x="936249" y="1637456"/>
                  <a:pt x="914701" y="1644274"/>
                  <a:pt x="892629" y="1644274"/>
                </a:cubicBezTo>
                <a:cubicBezTo>
                  <a:pt x="732930" y="1644274"/>
                  <a:pt x="573314" y="1637017"/>
                  <a:pt x="413657" y="1633388"/>
                </a:cubicBezTo>
                <a:cubicBezTo>
                  <a:pt x="402771" y="1629759"/>
                  <a:pt x="392132" y="1625285"/>
                  <a:pt x="381000" y="1622502"/>
                </a:cubicBezTo>
                <a:cubicBezTo>
                  <a:pt x="339458" y="1612117"/>
                  <a:pt x="323781" y="1619713"/>
                  <a:pt x="293914" y="1589845"/>
                </a:cubicBezTo>
                <a:cubicBezTo>
                  <a:pt x="281085" y="1577016"/>
                  <a:pt x="271802" y="1561066"/>
                  <a:pt x="261257" y="1546302"/>
                </a:cubicBezTo>
                <a:cubicBezTo>
                  <a:pt x="246867" y="1526155"/>
                  <a:pt x="215301" y="1476162"/>
                  <a:pt x="206829" y="1459217"/>
                </a:cubicBezTo>
                <a:cubicBezTo>
                  <a:pt x="201697" y="1448954"/>
                  <a:pt x="201636" y="1436522"/>
                  <a:pt x="195943" y="1426559"/>
                </a:cubicBezTo>
                <a:cubicBezTo>
                  <a:pt x="186942" y="1410807"/>
                  <a:pt x="174172" y="1397531"/>
                  <a:pt x="163286" y="1383017"/>
                </a:cubicBezTo>
                <a:cubicBezTo>
                  <a:pt x="122247" y="1259901"/>
                  <a:pt x="162869" y="1362673"/>
                  <a:pt x="119743" y="1285045"/>
                </a:cubicBezTo>
                <a:cubicBezTo>
                  <a:pt x="73185" y="1201240"/>
                  <a:pt x="108224" y="1240869"/>
                  <a:pt x="65314" y="1197959"/>
                </a:cubicBezTo>
                <a:cubicBezTo>
                  <a:pt x="31366" y="1096108"/>
                  <a:pt x="93318" y="1285710"/>
                  <a:pt x="32657" y="1067331"/>
                </a:cubicBezTo>
                <a:cubicBezTo>
                  <a:pt x="23444" y="1034163"/>
                  <a:pt x="0" y="969359"/>
                  <a:pt x="0" y="969359"/>
                </a:cubicBezTo>
                <a:cubicBezTo>
                  <a:pt x="3629" y="845988"/>
                  <a:pt x="4224" y="722490"/>
                  <a:pt x="10886" y="599245"/>
                </a:cubicBezTo>
                <a:cubicBezTo>
                  <a:pt x="11505" y="587787"/>
                  <a:pt x="18619" y="577621"/>
                  <a:pt x="21771" y="566588"/>
                </a:cubicBezTo>
                <a:cubicBezTo>
                  <a:pt x="25881" y="552203"/>
                  <a:pt x="25234" y="536035"/>
                  <a:pt x="32657" y="523045"/>
                </a:cubicBezTo>
                <a:cubicBezTo>
                  <a:pt x="40295" y="509679"/>
                  <a:pt x="56077" y="502704"/>
                  <a:pt x="65314" y="490388"/>
                </a:cubicBezTo>
                <a:cubicBezTo>
                  <a:pt x="78009" y="473461"/>
                  <a:pt x="87085" y="454102"/>
                  <a:pt x="97971" y="435959"/>
                </a:cubicBezTo>
                <a:cubicBezTo>
                  <a:pt x="101600" y="421445"/>
                  <a:pt x="102964" y="406168"/>
                  <a:pt x="108857" y="392417"/>
                </a:cubicBezTo>
                <a:cubicBezTo>
                  <a:pt x="120224" y="365894"/>
                  <a:pt x="143668" y="346720"/>
                  <a:pt x="163286" y="327102"/>
                </a:cubicBezTo>
                <a:cubicBezTo>
                  <a:pt x="186091" y="235874"/>
                  <a:pt x="157122" y="320019"/>
                  <a:pt x="195943" y="261788"/>
                </a:cubicBezTo>
                <a:cubicBezTo>
                  <a:pt x="224821" y="218471"/>
                  <a:pt x="211185" y="226223"/>
                  <a:pt x="228600" y="185588"/>
                </a:cubicBezTo>
                <a:cubicBezTo>
                  <a:pt x="234992" y="170673"/>
                  <a:pt x="243780" y="156874"/>
                  <a:pt x="250371" y="142045"/>
                </a:cubicBezTo>
                <a:cubicBezTo>
                  <a:pt x="258307" y="124189"/>
                  <a:pt x="295728" y="87617"/>
                  <a:pt x="304800" y="76731"/>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reeform 46"/>
          <p:cNvSpPr/>
          <p:nvPr/>
        </p:nvSpPr>
        <p:spPr>
          <a:xfrm>
            <a:off x="2438400" y="4354287"/>
            <a:ext cx="4201886" cy="1922865"/>
          </a:xfrm>
          <a:custGeom>
            <a:avLst/>
            <a:gdLst>
              <a:gd name="connsiteX0" fmla="*/ 1513115 w 4201886"/>
              <a:gd name="connsiteY0" fmla="*/ 32657 h 1922865"/>
              <a:gd name="connsiteX1" fmla="*/ 1513115 w 4201886"/>
              <a:gd name="connsiteY1" fmla="*/ 32657 h 1922865"/>
              <a:gd name="connsiteX2" fmla="*/ 1676400 w 4201886"/>
              <a:gd name="connsiteY2" fmla="*/ 0 h 1922865"/>
              <a:gd name="connsiteX3" fmla="*/ 1959429 w 4201886"/>
              <a:gd name="connsiteY3" fmla="*/ 10885 h 1922865"/>
              <a:gd name="connsiteX4" fmla="*/ 2046515 w 4201886"/>
              <a:gd name="connsiteY4" fmla="*/ 32657 h 1922865"/>
              <a:gd name="connsiteX5" fmla="*/ 2100943 w 4201886"/>
              <a:gd name="connsiteY5" fmla="*/ 43542 h 1922865"/>
              <a:gd name="connsiteX6" fmla="*/ 2133600 w 4201886"/>
              <a:gd name="connsiteY6" fmla="*/ 54428 h 1922865"/>
              <a:gd name="connsiteX7" fmla="*/ 2177143 w 4201886"/>
              <a:gd name="connsiteY7" fmla="*/ 65314 h 1922865"/>
              <a:gd name="connsiteX8" fmla="*/ 2242457 w 4201886"/>
              <a:gd name="connsiteY8" fmla="*/ 87085 h 1922865"/>
              <a:gd name="connsiteX9" fmla="*/ 2286000 w 4201886"/>
              <a:gd name="connsiteY9" fmla="*/ 97971 h 1922865"/>
              <a:gd name="connsiteX10" fmla="*/ 2351315 w 4201886"/>
              <a:gd name="connsiteY10" fmla="*/ 119742 h 1922865"/>
              <a:gd name="connsiteX11" fmla="*/ 2492829 w 4201886"/>
              <a:gd name="connsiteY11" fmla="*/ 152400 h 1922865"/>
              <a:gd name="connsiteX12" fmla="*/ 2536372 w 4201886"/>
              <a:gd name="connsiteY12" fmla="*/ 163285 h 1922865"/>
              <a:gd name="connsiteX13" fmla="*/ 2634343 w 4201886"/>
              <a:gd name="connsiteY13" fmla="*/ 174171 h 1922865"/>
              <a:gd name="connsiteX14" fmla="*/ 2699657 w 4201886"/>
              <a:gd name="connsiteY14" fmla="*/ 185057 h 1922865"/>
              <a:gd name="connsiteX15" fmla="*/ 2797629 w 4201886"/>
              <a:gd name="connsiteY15" fmla="*/ 195942 h 1922865"/>
              <a:gd name="connsiteX16" fmla="*/ 2830286 w 4201886"/>
              <a:gd name="connsiteY16" fmla="*/ 206828 h 1922865"/>
              <a:gd name="connsiteX17" fmla="*/ 3614057 w 4201886"/>
              <a:gd name="connsiteY17" fmla="*/ 206828 h 1922865"/>
              <a:gd name="connsiteX18" fmla="*/ 3690257 w 4201886"/>
              <a:gd name="connsiteY18" fmla="*/ 185057 h 1922865"/>
              <a:gd name="connsiteX19" fmla="*/ 3897086 w 4201886"/>
              <a:gd name="connsiteY19" fmla="*/ 206828 h 1922865"/>
              <a:gd name="connsiteX20" fmla="*/ 3929743 w 4201886"/>
              <a:gd name="connsiteY20" fmla="*/ 228600 h 1922865"/>
              <a:gd name="connsiteX21" fmla="*/ 4005943 w 4201886"/>
              <a:gd name="connsiteY21" fmla="*/ 272142 h 1922865"/>
              <a:gd name="connsiteX22" fmla="*/ 4027715 w 4201886"/>
              <a:gd name="connsiteY22" fmla="*/ 293914 h 1922865"/>
              <a:gd name="connsiteX23" fmla="*/ 4114800 w 4201886"/>
              <a:gd name="connsiteY23" fmla="*/ 370114 h 1922865"/>
              <a:gd name="connsiteX24" fmla="*/ 4136572 w 4201886"/>
              <a:gd name="connsiteY24" fmla="*/ 391885 h 1922865"/>
              <a:gd name="connsiteX25" fmla="*/ 4180115 w 4201886"/>
              <a:gd name="connsiteY25" fmla="*/ 489857 h 1922865"/>
              <a:gd name="connsiteX26" fmla="*/ 4191000 w 4201886"/>
              <a:gd name="connsiteY26" fmla="*/ 522514 h 1922865"/>
              <a:gd name="connsiteX27" fmla="*/ 4201886 w 4201886"/>
              <a:gd name="connsiteY27" fmla="*/ 555171 h 1922865"/>
              <a:gd name="connsiteX28" fmla="*/ 4180115 w 4201886"/>
              <a:gd name="connsiteY28" fmla="*/ 1186542 h 1922865"/>
              <a:gd name="connsiteX29" fmla="*/ 4158343 w 4201886"/>
              <a:gd name="connsiteY29" fmla="*/ 1262742 h 1922865"/>
              <a:gd name="connsiteX30" fmla="*/ 4136572 w 4201886"/>
              <a:gd name="connsiteY30" fmla="*/ 1306285 h 1922865"/>
              <a:gd name="connsiteX31" fmla="*/ 4093029 w 4201886"/>
              <a:gd name="connsiteY31" fmla="*/ 1393371 h 1922865"/>
              <a:gd name="connsiteX32" fmla="*/ 4038600 w 4201886"/>
              <a:gd name="connsiteY32" fmla="*/ 1480457 h 1922865"/>
              <a:gd name="connsiteX33" fmla="*/ 4027715 w 4201886"/>
              <a:gd name="connsiteY33" fmla="*/ 1513114 h 1922865"/>
              <a:gd name="connsiteX34" fmla="*/ 3951515 w 4201886"/>
              <a:gd name="connsiteY34" fmla="*/ 1611085 h 1922865"/>
              <a:gd name="connsiteX35" fmla="*/ 3907972 w 4201886"/>
              <a:gd name="connsiteY35" fmla="*/ 1665514 h 1922865"/>
              <a:gd name="connsiteX36" fmla="*/ 3864429 w 4201886"/>
              <a:gd name="connsiteY36" fmla="*/ 1709057 h 1922865"/>
              <a:gd name="connsiteX37" fmla="*/ 3788229 w 4201886"/>
              <a:gd name="connsiteY37" fmla="*/ 1763485 h 1922865"/>
              <a:gd name="connsiteX38" fmla="*/ 3701143 w 4201886"/>
              <a:gd name="connsiteY38" fmla="*/ 1817914 h 1922865"/>
              <a:gd name="connsiteX39" fmla="*/ 3668486 w 4201886"/>
              <a:gd name="connsiteY39" fmla="*/ 1828800 h 1922865"/>
              <a:gd name="connsiteX40" fmla="*/ 3635829 w 4201886"/>
              <a:gd name="connsiteY40" fmla="*/ 1861457 h 1922865"/>
              <a:gd name="connsiteX41" fmla="*/ 3581400 w 4201886"/>
              <a:gd name="connsiteY41" fmla="*/ 1872342 h 1922865"/>
              <a:gd name="connsiteX42" fmla="*/ 3537857 w 4201886"/>
              <a:gd name="connsiteY42" fmla="*/ 1883228 h 1922865"/>
              <a:gd name="connsiteX43" fmla="*/ 3276600 w 4201886"/>
              <a:gd name="connsiteY43" fmla="*/ 1915885 h 1922865"/>
              <a:gd name="connsiteX44" fmla="*/ 1763486 w 4201886"/>
              <a:gd name="connsiteY44" fmla="*/ 1905000 h 1922865"/>
              <a:gd name="connsiteX45" fmla="*/ 1654629 w 4201886"/>
              <a:gd name="connsiteY45" fmla="*/ 1872342 h 1922865"/>
              <a:gd name="connsiteX46" fmla="*/ 1567543 w 4201886"/>
              <a:gd name="connsiteY46" fmla="*/ 1839685 h 1922865"/>
              <a:gd name="connsiteX47" fmla="*/ 1524000 w 4201886"/>
              <a:gd name="connsiteY47" fmla="*/ 1828800 h 1922865"/>
              <a:gd name="connsiteX48" fmla="*/ 1458686 w 4201886"/>
              <a:gd name="connsiteY48" fmla="*/ 1807028 h 1922865"/>
              <a:gd name="connsiteX49" fmla="*/ 1415143 w 4201886"/>
              <a:gd name="connsiteY49" fmla="*/ 1796142 h 1922865"/>
              <a:gd name="connsiteX50" fmla="*/ 1360715 w 4201886"/>
              <a:gd name="connsiteY50" fmla="*/ 1774371 h 1922865"/>
              <a:gd name="connsiteX51" fmla="*/ 1273629 w 4201886"/>
              <a:gd name="connsiteY51" fmla="*/ 1763485 h 1922865"/>
              <a:gd name="connsiteX52" fmla="*/ 1230086 w 4201886"/>
              <a:gd name="connsiteY52" fmla="*/ 1730828 h 1922865"/>
              <a:gd name="connsiteX53" fmla="*/ 1186543 w 4201886"/>
              <a:gd name="connsiteY53" fmla="*/ 1719942 h 1922865"/>
              <a:gd name="connsiteX54" fmla="*/ 990600 w 4201886"/>
              <a:gd name="connsiteY54" fmla="*/ 1698171 h 1922865"/>
              <a:gd name="connsiteX55" fmla="*/ 664029 w 4201886"/>
              <a:gd name="connsiteY55" fmla="*/ 1665514 h 1922865"/>
              <a:gd name="connsiteX56" fmla="*/ 446315 w 4201886"/>
              <a:gd name="connsiteY56" fmla="*/ 1643742 h 1922865"/>
              <a:gd name="connsiteX57" fmla="*/ 413657 w 4201886"/>
              <a:gd name="connsiteY57" fmla="*/ 1632857 h 1922865"/>
              <a:gd name="connsiteX58" fmla="*/ 304800 w 4201886"/>
              <a:gd name="connsiteY58" fmla="*/ 1621971 h 1922865"/>
              <a:gd name="connsiteX59" fmla="*/ 217715 w 4201886"/>
              <a:gd name="connsiteY59" fmla="*/ 1600200 h 1922865"/>
              <a:gd name="connsiteX60" fmla="*/ 185057 w 4201886"/>
              <a:gd name="connsiteY60" fmla="*/ 1589314 h 1922865"/>
              <a:gd name="connsiteX61" fmla="*/ 130629 w 4201886"/>
              <a:gd name="connsiteY61" fmla="*/ 1534885 h 1922865"/>
              <a:gd name="connsiteX62" fmla="*/ 97972 w 4201886"/>
              <a:gd name="connsiteY62" fmla="*/ 1502228 h 1922865"/>
              <a:gd name="connsiteX63" fmla="*/ 87086 w 4201886"/>
              <a:gd name="connsiteY63" fmla="*/ 1458685 h 1922865"/>
              <a:gd name="connsiteX64" fmla="*/ 43543 w 4201886"/>
              <a:gd name="connsiteY64" fmla="*/ 1382485 h 1922865"/>
              <a:gd name="connsiteX65" fmla="*/ 32657 w 4201886"/>
              <a:gd name="connsiteY65" fmla="*/ 1273628 h 1922865"/>
              <a:gd name="connsiteX66" fmla="*/ 0 w 4201886"/>
              <a:gd name="connsiteY66" fmla="*/ 1121228 h 1922865"/>
              <a:gd name="connsiteX67" fmla="*/ 10886 w 4201886"/>
              <a:gd name="connsiteY67" fmla="*/ 653142 h 1922865"/>
              <a:gd name="connsiteX68" fmla="*/ 54429 w 4201886"/>
              <a:gd name="connsiteY68" fmla="*/ 555171 h 1922865"/>
              <a:gd name="connsiteX69" fmla="*/ 76200 w 4201886"/>
              <a:gd name="connsiteY69" fmla="*/ 489857 h 1922865"/>
              <a:gd name="connsiteX70" fmla="*/ 119743 w 4201886"/>
              <a:gd name="connsiteY70" fmla="*/ 402771 h 1922865"/>
              <a:gd name="connsiteX71" fmla="*/ 141515 w 4201886"/>
              <a:gd name="connsiteY71" fmla="*/ 359228 h 1922865"/>
              <a:gd name="connsiteX72" fmla="*/ 185057 w 4201886"/>
              <a:gd name="connsiteY72" fmla="*/ 261257 h 1922865"/>
              <a:gd name="connsiteX73" fmla="*/ 217715 w 4201886"/>
              <a:gd name="connsiteY73" fmla="*/ 185057 h 1922865"/>
              <a:gd name="connsiteX74" fmla="*/ 228600 w 4201886"/>
              <a:gd name="connsiteY74" fmla="*/ 152400 h 1922865"/>
              <a:gd name="connsiteX75" fmla="*/ 283029 w 4201886"/>
              <a:gd name="connsiteY75" fmla="*/ 87085 h 1922865"/>
              <a:gd name="connsiteX76" fmla="*/ 315686 w 4201886"/>
              <a:gd name="connsiteY76" fmla="*/ 76200 h 1922865"/>
              <a:gd name="connsiteX77" fmla="*/ 337457 w 4201886"/>
              <a:gd name="connsiteY77" fmla="*/ 54428 h 1922865"/>
              <a:gd name="connsiteX78" fmla="*/ 370115 w 4201886"/>
              <a:gd name="connsiteY78" fmla="*/ 43542 h 1922865"/>
              <a:gd name="connsiteX79" fmla="*/ 489857 w 4201886"/>
              <a:gd name="connsiteY79" fmla="*/ 10885 h 1922865"/>
              <a:gd name="connsiteX80" fmla="*/ 1066800 w 4201886"/>
              <a:gd name="connsiteY80" fmla="*/ 21771 h 1922865"/>
              <a:gd name="connsiteX81" fmla="*/ 1284515 w 4201886"/>
              <a:gd name="connsiteY81" fmla="*/ 54428 h 1922865"/>
              <a:gd name="connsiteX82" fmla="*/ 1513115 w 4201886"/>
              <a:gd name="connsiteY82" fmla="*/ 32657 h 1922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4201886" h="1922865">
                <a:moveTo>
                  <a:pt x="1513115" y="32657"/>
                </a:moveTo>
                <a:lnTo>
                  <a:pt x="1513115" y="32657"/>
                </a:lnTo>
                <a:cubicBezTo>
                  <a:pt x="1520884" y="30931"/>
                  <a:pt x="1651815" y="0"/>
                  <a:pt x="1676400" y="0"/>
                </a:cubicBezTo>
                <a:cubicBezTo>
                  <a:pt x="1770813" y="0"/>
                  <a:pt x="1865086" y="7257"/>
                  <a:pt x="1959429" y="10885"/>
                </a:cubicBezTo>
                <a:cubicBezTo>
                  <a:pt x="1988458" y="18142"/>
                  <a:pt x="2017174" y="26789"/>
                  <a:pt x="2046515" y="32657"/>
                </a:cubicBezTo>
                <a:cubicBezTo>
                  <a:pt x="2064658" y="36285"/>
                  <a:pt x="2082993" y="39055"/>
                  <a:pt x="2100943" y="43542"/>
                </a:cubicBezTo>
                <a:cubicBezTo>
                  <a:pt x="2112075" y="46325"/>
                  <a:pt x="2122567" y="51276"/>
                  <a:pt x="2133600" y="54428"/>
                </a:cubicBezTo>
                <a:cubicBezTo>
                  <a:pt x="2147985" y="58538"/>
                  <a:pt x="2162813" y="61015"/>
                  <a:pt x="2177143" y="65314"/>
                </a:cubicBezTo>
                <a:cubicBezTo>
                  <a:pt x="2199124" y="71908"/>
                  <a:pt x="2220193" y="81519"/>
                  <a:pt x="2242457" y="87085"/>
                </a:cubicBezTo>
                <a:cubicBezTo>
                  <a:pt x="2256971" y="90714"/>
                  <a:pt x="2271670" y="93672"/>
                  <a:pt x="2286000" y="97971"/>
                </a:cubicBezTo>
                <a:cubicBezTo>
                  <a:pt x="2307981" y="104565"/>
                  <a:pt x="2329051" y="114176"/>
                  <a:pt x="2351315" y="119742"/>
                </a:cubicBezTo>
                <a:cubicBezTo>
                  <a:pt x="2564626" y="173072"/>
                  <a:pt x="2342106" y="118907"/>
                  <a:pt x="2492829" y="152400"/>
                </a:cubicBezTo>
                <a:cubicBezTo>
                  <a:pt x="2507434" y="155645"/>
                  <a:pt x="2521585" y="161010"/>
                  <a:pt x="2536372" y="163285"/>
                </a:cubicBezTo>
                <a:cubicBezTo>
                  <a:pt x="2568848" y="168281"/>
                  <a:pt x="2601773" y="169828"/>
                  <a:pt x="2634343" y="174171"/>
                </a:cubicBezTo>
                <a:cubicBezTo>
                  <a:pt x="2656221" y="177088"/>
                  <a:pt x="2677779" y="182140"/>
                  <a:pt x="2699657" y="185057"/>
                </a:cubicBezTo>
                <a:cubicBezTo>
                  <a:pt x="2732227" y="189400"/>
                  <a:pt x="2764972" y="192314"/>
                  <a:pt x="2797629" y="195942"/>
                </a:cubicBezTo>
                <a:cubicBezTo>
                  <a:pt x="2808515" y="199571"/>
                  <a:pt x="2818830" y="206173"/>
                  <a:pt x="2830286" y="206828"/>
                </a:cubicBezTo>
                <a:cubicBezTo>
                  <a:pt x="3168199" y="226138"/>
                  <a:pt x="3256894" y="215757"/>
                  <a:pt x="3614057" y="206828"/>
                </a:cubicBezTo>
                <a:cubicBezTo>
                  <a:pt x="3639457" y="199571"/>
                  <a:pt x="3663868" y="186257"/>
                  <a:pt x="3690257" y="185057"/>
                </a:cubicBezTo>
                <a:cubicBezTo>
                  <a:pt x="3800845" y="180030"/>
                  <a:pt x="3819170" y="187349"/>
                  <a:pt x="3897086" y="206828"/>
                </a:cubicBezTo>
                <a:cubicBezTo>
                  <a:pt x="3907972" y="214085"/>
                  <a:pt x="3918384" y="222109"/>
                  <a:pt x="3929743" y="228600"/>
                </a:cubicBezTo>
                <a:cubicBezTo>
                  <a:pt x="3968855" y="250950"/>
                  <a:pt x="3972791" y="245620"/>
                  <a:pt x="4005943" y="272142"/>
                </a:cubicBezTo>
                <a:cubicBezTo>
                  <a:pt x="4013957" y="278553"/>
                  <a:pt x="4019701" y="287503"/>
                  <a:pt x="4027715" y="293914"/>
                </a:cubicBezTo>
                <a:cubicBezTo>
                  <a:pt x="4117729" y="365925"/>
                  <a:pt x="3980503" y="235817"/>
                  <a:pt x="4114800" y="370114"/>
                </a:cubicBezTo>
                <a:cubicBezTo>
                  <a:pt x="4122057" y="377371"/>
                  <a:pt x="4130879" y="383345"/>
                  <a:pt x="4136572" y="391885"/>
                </a:cubicBezTo>
                <a:cubicBezTo>
                  <a:pt x="4171072" y="443636"/>
                  <a:pt x="4154207" y="412132"/>
                  <a:pt x="4180115" y="489857"/>
                </a:cubicBezTo>
                <a:lnTo>
                  <a:pt x="4191000" y="522514"/>
                </a:lnTo>
                <a:lnTo>
                  <a:pt x="4201886" y="555171"/>
                </a:lnTo>
                <a:cubicBezTo>
                  <a:pt x="4194629" y="765628"/>
                  <a:pt x="4190293" y="976206"/>
                  <a:pt x="4180115" y="1186542"/>
                </a:cubicBezTo>
                <a:cubicBezTo>
                  <a:pt x="4179613" y="1196921"/>
                  <a:pt x="4163862" y="1249865"/>
                  <a:pt x="4158343" y="1262742"/>
                </a:cubicBezTo>
                <a:cubicBezTo>
                  <a:pt x="4151951" y="1277657"/>
                  <a:pt x="4142270" y="1291091"/>
                  <a:pt x="4136572" y="1306285"/>
                </a:cubicBezTo>
                <a:cubicBezTo>
                  <a:pt x="4106001" y="1387809"/>
                  <a:pt x="4153198" y="1313145"/>
                  <a:pt x="4093029" y="1393371"/>
                </a:cubicBezTo>
                <a:cubicBezTo>
                  <a:pt x="4071095" y="1481104"/>
                  <a:pt x="4101049" y="1393027"/>
                  <a:pt x="4038600" y="1480457"/>
                </a:cubicBezTo>
                <a:cubicBezTo>
                  <a:pt x="4031931" y="1489794"/>
                  <a:pt x="4033287" y="1503084"/>
                  <a:pt x="4027715" y="1513114"/>
                </a:cubicBezTo>
                <a:cubicBezTo>
                  <a:pt x="3972693" y="1612154"/>
                  <a:pt x="4004403" y="1547620"/>
                  <a:pt x="3951515" y="1611085"/>
                </a:cubicBezTo>
                <a:cubicBezTo>
                  <a:pt x="3882844" y="1693489"/>
                  <a:pt x="3971318" y="1602165"/>
                  <a:pt x="3907972" y="1665514"/>
                </a:cubicBezTo>
                <a:cubicBezTo>
                  <a:pt x="3886200" y="1730828"/>
                  <a:pt x="3915229" y="1672771"/>
                  <a:pt x="3864429" y="1709057"/>
                </a:cubicBezTo>
                <a:cubicBezTo>
                  <a:pt x="3774033" y="1773626"/>
                  <a:pt x="3862015" y="1738891"/>
                  <a:pt x="3788229" y="1763485"/>
                </a:cubicBezTo>
                <a:cubicBezTo>
                  <a:pt x="3762319" y="1780759"/>
                  <a:pt x="3727410" y="1804781"/>
                  <a:pt x="3701143" y="1817914"/>
                </a:cubicBezTo>
                <a:cubicBezTo>
                  <a:pt x="3690880" y="1823046"/>
                  <a:pt x="3679372" y="1825171"/>
                  <a:pt x="3668486" y="1828800"/>
                </a:cubicBezTo>
                <a:cubicBezTo>
                  <a:pt x="3657600" y="1839686"/>
                  <a:pt x="3649598" y="1854572"/>
                  <a:pt x="3635829" y="1861457"/>
                </a:cubicBezTo>
                <a:cubicBezTo>
                  <a:pt x="3619280" y="1869731"/>
                  <a:pt x="3599462" y="1868328"/>
                  <a:pt x="3581400" y="1872342"/>
                </a:cubicBezTo>
                <a:cubicBezTo>
                  <a:pt x="3566795" y="1875587"/>
                  <a:pt x="3552371" y="1879599"/>
                  <a:pt x="3537857" y="1883228"/>
                </a:cubicBezTo>
                <a:cubicBezTo>
                  <a:pt x="3444687" y="1945343"/>
                  <a:pt x="3501008" y="1915885"/>
                  <a:pt x="3276600" y="1915885"/>
                </a:cubicBezTo>
                <a:lnTo>
                  <a:pt x="1763486" y="1905000"/>
                </a:lnTo>
                <a:cubicBezTo>
                  <a:pt x="1689544" y="1880352"/>
                  <a:pt x="1779213" y="1909717"/>
                  <a:pt x="1654629" y="1872342"/>
                </a:cubicBezTo>
                <a:cubicBezTo>
                  <a:pt x="1578151" y="1849399"/>
                  <a:pt x="1675683" y="1875731"/>
                  <a:pt x="1567543" y="1839685"/>
                </a:cubicBezTo>
                <a:cubicBezTo>
                  <a:pt x="1553350" y="1834954"/>
                  <a:pt x="1538330" y="1833099"/>
                  <a:pt x="1524000" y="1828800"/>
                </a:cubicBezTo>
                <a:cubicBezTo>
                  <a:pt x="1502019" y="1822206"/>
                  <a:pt x="1480950" y="1812594"/>
                  <a:pt x="1458686" y="1807028"/>
                </a:cubicBezTo>
                <a:cubicBezTo>
                  <a:pt x="1444172" y="1803399"/>
                  <a:pt x="1429336" y="1800873"/>
                  <a:pt x="1415143" y="1796142"/>
                </a:cubicBezTo>
                <a:cubicBezTo>
                  <a:pt x="1396606" y="1789963"/>
                  <a:pt x="1379755" y="1778765"/>
                  <a:pt x="1360715" y="1774371"/>
                </a:cubicBezTo>
                <a:cubicBezTo>
                  <a:pt x="1332210" y="1767793"/>
                  <a:pt x="1302658" y="1767114"/>
                  <a:pt x="1273629" y="1763485"/>
                </a:cubicBezTo>
                <a:cubicBezTo>
                  <a:pt x="1259115" y="1752599"/>
                  <a:pt x="1246313" y="1738942"/>
                  <a:pt x="1230086" y="1730828"/>
                </a:cubicBezTo>
                <a:cubicBezTo>
                  <a:pt x="1216704" y="1724137"/>
                  <a:pt x="1200928" y="1724052"/>
                  <a:pt x="1186543" y="1719942"/>
                </a:cubicBezTo>
                <a:cubicBezTo>
                  <a:pt x="1083791" y="1690585"/>
                  <a:pt x="1252544" y="1715634"/>
                  <a:pt x="990600" y="1698171"/>
                </a:cubicBezTo>
                <a:cubicBezTo>
                  <a:pt x="825990" y="1657019"/>
                  <a:pt x="933406" y="1677759"/>
                  <a:pt x="664029" y="1665514"/>
                </a:cubicBezTo>
                <a:cubicBezTo>
                  <a:pt x="591458" y="1658257"/>
                  <a:pt x="518636" y="1653175"/>
                  <a:pt x="446315" y="1643742"/>
                </a:cubicBezTo>
                <a:cubicBezTo>
                  <a:pt x="434937" y="1642258"/>
                  <a:pt x="424998" y="1634602"/>
                  <a:pt x="413657" y="1632857"/>
                </a:cubicBezTo>
                <a:cubicBezTo>
                  <a:pt x="377614" y="1627312"/>
                  <a:pt x="341086" y="1625600"/>
                  <a:pt x="304800" y="1621971"/>
                </a:cubicBezTo>
                <a:cubicBezTo>
                  <a:pt x="275772" y="1614714"/>
                  <a:pt x="246582" y="1608073"/>
                  <a:pt x="217715" y="1600200"/>
                </a:cubicBezTo>
                <a:cubicBezTo>
                  <a:pt x="206644" y="1597181"/>
                  <a:pt x="194237" y="1596199"/>
                  <a:pt x="185057" y="1589314"/>
                </a:cubicBezTo>
                <a:cubicBezTo>
                  <a:pt x="164531" y="1573919"/>
                  <a:pt x="148772" y="1553028"/>
                  <a:pt x="130629" y="1534885"/>
                </a:cubicBezTo>
                <a:lnTo>
                  <a:pt x="97972" y="1502228"/>
                </a:lnTo>
                <a:cubicBezTo>
                  <a:pt x="94343" y="1487714"/>
                  <a:pt x="93277" y="1472305"/>
                  <a:pt x="87086" y="1458685"/>
                </a:cubicBezTo>
                <a:cubicBezTo>
                  <a:pt x="74980" y="1432053"/>
                  <a:pt x="51798" y="1410551"/>
                  <a:pt x="43543" y="1382485"/>
                </a:cubicBezTo>
                <a:cubicBezTo>
                  <a:pt x="33253" y="1347500"/>
                  <a:pt x="36684" y="1309872"/>
                  <a:pt x="32657" y="1273628"/>
                </a:cubicBezTo>
                <a:cubicBezTo>
                  <a:pt x="21213" y="1170633"/>
                  <a:pt x="29229" y="1208912"/>
                  <a:pt x="0" y="1121228"/>
                </a:cubicBezTo>
                <a:cubicBezTo>
                  <a:pt x="3629" y="965199"/>
                  <a:pt x="1349" y="808921"/>
                  <a:pt x="10886" y="653142"/>
                </a:cubicBezTo>
                <a:cubicBezTo>
                  <a:pt x="15489" y="577961"/>
                  <a:pt x="32073" y="605472"/>
                  <a:pt x="54429" y="555171"/>
                </a:cubicBezTo>
                <a:cubicBezTo>
                  <a:pt x="63750" y="534200"/>
                  <a:pt x="65937" y="510383"/>
                  <a:pt x="76200" y="489857"/>
                </a:cubicBezTo>
                <a:lnTo>
                  <a:pt x="119743" y="402771"/>
                </a:lnTo>
                <a:cubicBezTo>
                  <a:pt x="127000" y="388257"/>
                  <a:pt x="136383" y="374623"/>
                  <a:pt x="141515" y="359228"/>
                </a:cubicBezTo>
                <a:cubicBezTo>
                  <a:pt x="167423" y="281502"/>
                  <a:pt x="150556" y="313009"/>
                  <a:pt x="185057" y="261257"/>
                </a:cubicBezTo>
                <a:cubicBezTo>
                  <a:pt x="207714" y="170630"/>
                  <a:pt x="180125" y="260237"/>
                  <a:pt x="217715" y="185057"/>
                </a:cubicBezTo>
                <a:cubicBezTo>
                  <a:pt x="222847" y="174794"/>
                  <a:pt x="223469" y="162663"/>
                  <a:pt x="228600" y="152400"/>
                </a:cubicBezTo>
                <a:cubicBezTo>
                  <a:pt x="238640" y="132319"/>
                  <a:pt x="264973" y="99122"/>
                  <a:pt x="283029" y="87085"/>
                </a:cubicBezTo>
                <a:cubicBezTo>
                  <a:pt x="292576" y="80720"/>
                  <a:pt x="304800" y="79828"/>
                  <a:pt x="315686" y="76200"/>
                </a:cubicBezTo>
                <a:cubicBezTo>
                  <a:pt x="322943" y="68943"/>
                  <a:pt x="328656" y="59708"/>
                  <a:pt x="337457" y="54428"/>
                </a:cubicBezTo>
                <a:cubicBezTo>
                  <a:pt x="347297" y="48524"/>
                  <a:pt x="359044" y="46561"/>
                  <a:pt x="370115" y="43542"/>
                </a:cubicBezTo>
                <a:cubicBezTo>
                  <a:pt x="505158" y="6712"/>
                  <a:pt x="414691" y="35941"/>
                  <a:pt x="489857" y="10885"/>
                </a:cubicBezTo>
                <a:lnTo>
                  <a:pt x="1066800" y="21771"/>
                </a:lnTo>
                <a:cubicBezTo>
                  <a:pt x="1149486" y="24482"/>
                  <a:pt x="1197765" y="48445"/>
                  <a:pt x="1284515" y="54428"/>
                </a:cubicBezTo>
                <a:cubicBezTo>
                  <a:pt x="1346054" y="58672"/>
                  <a:pt x="1475015" y="36286"/>
                  <a:pt x="1513115" y="32657"/>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Freeform 38"/>
          <p:cNvSpPr/>
          <p:nvPr/>
        </p:nvSpPr>
        <p:spPr>
          <a:xfrm>
            <a:off x="6313111" y="270622"/>
            <a:ext cx="5834742" cy="3172537"/>
          </a:xfrm>
          <a:custGeom>
            <a:avLst/>
            <a:gdLst>
              <a:gd name="connsiteX0" fmla="*/ 0 w 5834742"/>
              <a:gd name="connsiteY0" fmla="*/ 668823 h 3172537"/>
              <a:gd name="connsiteX1" fmla="*/ 0 w 5834742"/>
              <a:gd name="connsiteY1" fmla="*/ 668823 h 3172537"/>
              <a:gd name="connsiteX2" fmla="*/ 43542 w 5834742"/>
              <a:gd name="connsiteY2" fmla="*/ 581737 h 3172537"/>
              <a:gd name="connsiteX3" fmla="*/ 54428 w 5834742"/>
              <a:gd name="connsiteY3" fmla="*/ 538195 h 3172537"/>
              <a:gd name="connsiteX4" fmla="*/ 76200 w 5834742"/>
              <a:gd name="connsiteY4" fmla="*/ 494652 h 3172537"/>
              <a:gd name="connsiteX5" fmla="*/ 97971 w 5834742"/>
              <a:gd name="connsiteY5" fmla="*/ 440223 h 3172537"/>
              <a:gd name="connsiteX6" fmla="*/ 119742 w 5834742"/>
              <a:gd name="connsiteY6" fmla="*/ 407566 h 3172537"/>
              <a:gd name="connsiteX7" fmla="*/ 185057 w 5834742"/>
              <a:gd name="connsiteY7" fmla="*/ 266052 h 3172537"/>
              <a:gd name="connsiteX8" fmla="*/ 217714 w 5834742"/>
              <a:gd name="connsiteY8" fmla="*/ 211623 h 3172537"/>
              <a:gd name="connsiteX9" fmla="*/ 239485 w 5834742"/>
              <a:gd name="connsiteY9" fmla="*/ 178966 h 3172537"/>
              <a:gd name="connsiteX10" fmla="*/ 272142 w 5834742"/>
              <a:gd name="connsiteY10" fmla="*/ 168080 h 3172537"/>
              <a:gd name="connsiteX11" fmla="*/ 326571 w 5834742"/>
              <a:gd name="connsiteY11" fmla="*/ 135423 h 3172537"/>
              <a:gd name="connsiteX12" fmla="*/ 359228 w 5834742"/>
              <a:gd name="connsiteY12" fmla="*/ 113652 h 3172537"/>
              <a:gd name="connsiteX13" fmla="*/ 381000 w 5834742"/>
              <a:gd name="connsiteY13" fmla="*/ 91880 h 3172537"/>
              <a:gd name="connsiteX14" fmla="*/ 424542 w 5834742"/>
              <a:gd name="connsiteY14" fmla="*/ 80995 h 3172537"/>
              <a:gd name="connsiteX15" fmla="*/ 500742 w 5834742"/>
              <a:gd name="connsiteY15" fmla="*/ 59223 h 3172537"/>
              <a:gd name="connsiteX16" fmla="*/ 740228 w 5834742"/>
              <a:gd name="connsiteY16" fmla="*/ 26566 h 3172537"/>
              <a:gd name="connsiteX17" fmla="*/ 816428 w 5834742"/>
              <a:gd name="connsiteY17" fmla="*/ 4795 h 3172537"/>
              <a:gd name="connsiteX18" fmla="*/ 1240971 w 5834742"/>
              <a:gd name="connsiteY18" fmla="*/ 26566 h 3172537"/>
              <a:gd name="connsiteX19" fmla="*/ 1295400 w 5834742"/>
              <a:gd name="connsiteY19" fmla="*/ 59223 h 3172537"/>
              <a:gd name="connsiteX20" fmla="*/ 1328057 w 5834742"/>
              <a:gd name="connsiteY20" fmla="*/ 70109 h 3172537"/>
              <a:gd name="connsiteX21" fmla="*/ 1382485 w 5834742"/>
              <a:gd name="connsiteY21" fmla="*/ 102766 h 3172537"/>
              <a:gd name="connsiteX22" fmla="*/ 1436914 w 5834742"/>
              <a:gd name="connsiteY22" fmla="*/ 124537 h 3172537"/>
              <a:gd name="connsiteX23" fmla="*/ 1545771 w 5834742"/>
              <a:gd name="connsiteY23" fmla="*/ 168080 h 3172537"/>
              <a:gd name="connsiteX24" fmla="*/ 1632857 w 5834742"/>
              <a:gd name="connsiteY24" fmla="*/ 222509 h 3172537"/>
              <a:gd name="connsiteX25" fmla="*/ 1698171 w 5834742"/>
              <a:gd name="connsiteY25" fmla="*/ 266052 h 3172537"/>
              <a:gd name="connsiteX26" fmla="*/ 1763485 w 5834742"/>
              <a:gd name="connsiteY26" fmla="*/ 309595 h 3172537"/>
              <a:gd name="connsiteX27" fmla="*/ 1796142 w 5834742"/>
              <a:gd name="connsiteY27" fmla="*/ 331366 h 3172537"/>
              <a:gd name="connsiteX28" fmla="*/ 1817914 w 5834742"/>
              <a:gd name="connsiteY28" fmla="*/ 353137 h 3172537"/>
              <a:gd name="connsiteX29" fmla="*/ 1861457 w 5834742"/>
              <a:gd name="connsiteY29" fmla="*/ 364023 h 3172537"/>
              <a:gd name="connsiteX30" fmla="*/ 1915885 w 5834742"/>
              <a:gd name="connsiteY30" fmla="*/ 396680 h 3172537"/>
              <a:gd name="connsiteX31" fmla="*/ 1937657 w 5834742"/>
              <a:gd name="connsiteY31" fmla="*/ 418452 h 3172537"/>
              <a:gd name="connsiteX32" fmla="*/ 2013857 w 5834742"/>
              <a:gd name="connsiteY32" fmla="*/ 440223 h 3172537"/>
              <a:gd name="connsiteX33" fmla="*/ 2090057 w 5834742"/>
              <a:gd name="connsiteY33" fmla="*/ 483766 h 3172537"/>
              <a:gd name="connsiteX34" fmla="*/ 2144485 w 5834742"/>
              <a:gd name="connsiteY34" fmla="*/ 516423 h 3172537"/>
              <a:gd name="connsiteX35" fmla="*/ 2166257 w 5834742"/>
              <a:gd name="connsiteY35" fmla="*/ 549080 h 3172537"/>
              <a:gd name="connsiteX36" fmla="*/ 2231571 w 5834742"/>
              <a:gd name="connsiteY36" fmla="*/ 570852 h 3172537"/>
              <a:gd name="connsiteX37" fmla="*/ 2286000 w 5834742"/>
              <a:gd name="connsiteY37" fmla="*/ 636166 h 3172537"/>
              <a:gd name="connsiteX38" fmla="*/ 2318657 w 5834742"/>
              <a:gd name="connsiteY38" fmla="*/ 647052 h 3172537"/>
              <a:gd name="connsiteX39" fmla="*/ 2383971 w 5834742"/>
              <a:gd name="connsiteY39" fmla="*/ 690595 h 3172537"/>
              <a:gd name="connsiteX40" fmla="*/ 2416628 w 5834742"/>
              <a:gd name="connsiteY40" fmla="*/ 712366 h 3172537"/>
              <a:gd name="connsiteX41" fmla="*/ 2536371 w 5834742"/>
              <a:gd name="connsiteY41" fmla="*/ 734137 h 3172537"/>
              <a:gd name="connsiteX42" fmla="*/ 2667000 w 5834742"/>
              <a:gd name="connsiteY42" fmla="*/ 766795 h 3172537"/>
              <a:gd name="connsiteX43" fmla="*/ 2754085 w 5834742"/>
              <a:gd name="connsiteY43" fmla="*/ 810337 h 3172537"/>
              <a:gd name="connsiteX44" fmla="*/ 2841171 w 5834742"/>
              <a:gd name="connsiteY44" fmla="*/ 821223 h 3172537"/>
              <a:gd name="connsiteX45" fmla="*/ 2906485 w 5834742"/>
              <a:gd name="connsiteY45" fmla="*/ 842995 h 3172537"/>
              <a:gd name="connsiteX46" fmla="*/ 2960914 w 5834742"/>
              <a:gd name="connsiteY46" fmla="*/ 864766 h 3172537"/>
              <a:gd name="connsiteX47" fmla="*/ 3058885 w 5834742"/>
              <a:gd name="connsiteY47" fmla="*/ 875652 h 3172537"/>
              <a:gd name="connsiteX48" fmla="*/ 3265714 w 5834742"/>
              <a:gd name="connsiteY48" fmla="*/ 864766 h 3172537"/>
              <a:gd name="connsiteX49" fmla="*/ 3407228 w 5834742"/>
              <a:gd name="connsiteY49" fmla="*/ 832109 h 3172537"/>
              <a:gd name="connsiteX50" fmla="*/ 3439885 w 5834742"/>
              <a:gd name="connsiteY50" fmla="*/ 821223 h 3172537"/>
              <a:gd name="connsiteX51" fmla="*/ 3483428 w 5834742"/>
              <a:gd name="connsiteY51" fmla="*/ 799452 h 3172537"/>
              <a:gd name="connsiteX52" fmla="*/ 3505200 w 5834742"/>
              <a:gd name="connsiteY52" fmla="*/ 777680 h 3172537"/>
              <a:gd name="connsiteX53" fmla="*/ 3592285 w 5834742"/>
              <a:gd name="connsiteY53" fmla="*/ 755909 h 3172537"/>
              <a:gd name="connsiteX54" fmla="*/ 3624942 w 5834742"/>
              <a:gd name="connsiteY54" fmla="*/ 734137 h 3172537"/>
              <a:gd name="connsiteX55" fmla="*/ 3679371 w 5834742"/>
              <a:gd name="connsiteY55" fmla="*/ 712366 h 3172537"/>
              <a:gd name="connsiteX56" fmla="*/ 3712028 w 5834742"/>
              <a:gd name="connsiteY56" fmla="*/ 690595 h 3172537"/>
              <a:gd name="connsiteX57" fmla="*/ 3788228 w 5834742"/>
              <a:gd name="connsiteY57" fmla="*/ 657937 h 3172537"/>
              <a:gd name="connsiteX58" fmla="*/ 3853542 w 5834742"/>
              <a:gd name="connsiteY58" fmla="*/ 614395 h 3172537"/>
              <a:gd name="connsiteX59" fmla="*/ 3875314 w 5834742"/>
              <a:gd name="connsiteY59" fmla="*/ 592623 h 3172537"/>
              <a:gd name="connsiteX60" fmla="*/ 3907971 w 5834742"/>
              <a:gd name="connsiteY60" fmla="*/ 570852 h 3172537"/>
              <a:gd name="connsiteX61" fmla="*/ 3929742 w 5834742"/>
              <a:gd name="connsiteY61" fmla="*/ 549080 h 3172537"/>
              <a:gd name="connsiteX62" fmla="*/ 3995057 w 5834742"/>
              <a:gd name="connsiteY62" fmla="*/ 505537 h 3172537"/>
              <a:gd name="connsiteX63" fmla="*/ 4027714 w 5834742"/>
              <a:gd name="connsiteY63" fmla="*/ 483766 h 3172537"/>
              <a:gd name="connsiteX64" fmla="*/ 4071257 w 5834742"/>
              <a:gd name="connsiteY64" fmla="*/ 429337 h 3172537"/>
              <a:gd name="connsiteX65" fmla="*/ 4103914 w 5834742"/>
              <a:gd name="connsiteY65" fmla="*/ 407566 h 3172537"/>
              <a:gd name="connsiteX66" fmla="*/ 4158342 w 5834742"/>
              <a:gd name="connsiteY66" fmla="*/ 353137 h 3172537"/>
              <a:gd name="connsiteX67" fmla="*/ 4180114 w 5834742"/>
              <a:gd name="connsiteY67" fmla="*/ 320480 h 3172537"/>
              <a:gd name="connsiteX68" fmla="*/ 4212771 w 5834742"/>
              <a:gd name="connsiteY68" fmla="*/ 298709 h 3172537"/>
              <a:gd name="connsiteX69" fmla="*/ 4256314 w 5834742"/>
              <a:gd name="connsiteY69" fmla="*/ 244280 h 3172537"/>
              <a:gd name="connsiteX70" fmla="*/ 4299857 w 5834742"/>
              <a:gd name="connsiteY70" fmla="*/ 222509 h 3172537"/>
              <a:gd name="connsiteX71" fmla="*/ 4365171 w 5834742"/>
              <a:gd name="connsiteY71" fmla="*/ 189852 h 3172537"/>
              <a:gd name="connsiteX72" fmla="*/ 4397828 w 5834742"/>
              <a:gd name="connsiteY72" fmla="*/ 178966 h 3172537"/>
              <a:gd name="connsiteX73" fmla="*/ 4441371 w 5834742"/>
              <a:gd name="connsiteY73" fmla="*/ 168080 h 3172537"/>
              <a:gd name="connsiteX74" fmla="*/ 4474028 w 5834742"/>
              <a:gd name="connsiteY74" fmla="*/ 157195 h 3172537"/>
              <a:gd name="connsiteX75" fmla="*/ 4561114 w 5834742"/>
              <a:gd name="connsiteY75" fmla="*/ 146309 h 3172537"/>
              <a:gd name="connsiteX76" fmla="*/ 5334000 w 5834742"/>
              <a:gd name="connsiteY76" fmla="*/ 157195 h 3172537"/>
              <a:gd name="connsiteX77" fmla="*/ 5399314 w 5834742"/>
              <a:gd name="connsiteY77" fmla="*/ 200737 h 3172537"/>
              <a:gd name="connsiteX78" fmla="*/ 5464628 w 5834742"/>
              <a:gd name="connsiteY78" fmla="*/ 233395 h 3172537"/>
              <a:gd name="connsiteX79" fmla="*/ 5540828 w 5834742"/>
              <a:gd name="connsiteY79" fmla="*/ 255166 h 3172537"/>
              <a:gd name="connsiteX80" fmla="*/ 5584371 w 5834742"/>
              <a:gd name="connsiteY80" fmla="*/ 276937 h 3172537"/>
              <a:gd name="connsiteX81" fmla="*/ 5649685 w 5834742"/>
              <a:gd name="connsiteY81" fmla="*/ 320480 h 3172537"/>
              <a:gd name="connsiteX82" fmla="*/ 5671457 w 5834742"/>
              <a:gd name="connsiteY82" fmla="*/ 353137 h 3172537"/>
              <a:gd name="connsiteX83" fmla="*/ 5704114 w 5834742"/>
              <a:gd name="connsiteY83" fmla="*/ 385795 h 3172537"/>
              <a:gd name="connsiteX84" fmla="*/ 5747657 w 5834742"/>
              <a:gd name="connsiteY84" fmla="*/ 494652 h 3172537"/>
              <a:gd name="connsiteX85" fmla="*/ 5769428 w 5834742"/>
              <a:gd name="connsiteY85" fmla="*/ 625280 h 3172537"/>
              <a:gd name="connsiteX86" fmla="*/ 5791200 w 5834742"/>
              <a:gd name="connsiteY86" fmla="*/ 679709 h 3172537"/>
              <a:gd name="connsiteX87" fmla="*/ 5802085 w 5834742"/>
              <a:gd name="connsiteY87" fmla="*/ 755909 h 3172537"/>
              <a:gd name="connsiteX88" fmla="*/ 5834742 w 5834742"/>
              <a:gd name="connsiteY88" fmla="*/ 1006280 h 3172537"/>
              <a:gd name="connsiteX89" fmla="*/ 5823857 w 5834742"/>
              <a:gd name="connsiteY89" fmla="*/ 1419937 h 3172537"/>
              <a:gd name="connsiteX90" fmla="*/ 5802085 w 5834742"/>
              <a:gd name="connsiteY90" fmla="*/ 1517909 h 3172537"/>
              <a:gd name="connsiteX91" fmla="*/ 5791200 w 5834742"/>
              <a:gd name="connsiteY91" fmla="*/ 1561452 h 3172537"/>
              <a:gd name="connsiteX92" fmla="*/ 5780314 w 5834742"/>
              <a:gd name="connsiteY92" fmla="*/ 1594109 h 3172537"/>
              <a:gd name="connsiteX93" fmla="*/ 5758542 w 5834742"/>
              <a:gd name="connsiteY93" fmla="*/ 1670309 h 3172537"/>
              <a:gd name="connsiteX94" fmla="*/ 5736771 w 5834742"/>
              <a:gd name="connsiteY94" fmla="*/ 1757395 h 3172537"/>
              <a:gd name="connsiteX95" fmla="*/ 5715000 w 5834742"/>
              <a:gd name="connsiteY95" fmla="*/ 1898909 h 3172537"/>
              <a:gd name="connsiteX96" fmla="*/ 5693228 w 5834742"/>
              <a:gd name="connsiteY96" fmla="*/ 1931566 h 3172537"/>
              <a:gd name="connsiteX97" fmla="*/ 5682342 w 5834742"/>
              <a:gd name="connsiteY97" fmla="*/ 2007766 h 3172537"/>
              <a:gd name="connsiteX98" fmla="*/ 5649685 w 5834742"/>
              <a:gd name="connsiteY98" fmla="*/ 2105737 h 3172537"/>
              <a:gd name="connsiteX99" fmla="*/ 5627914 w 5834742"/>
              <a:gd name="connsiteY99" fmla="*/ 2181937 h 3172537"/>
              <a:gd name="connsiteX100" fmla="*/ 5606142 w 5834742"/>
              <a:gd name="connsiteY100" fmla="*/ 2258137 h 3172537"/>
              <a:gd name="connsiteX101" fmla="*/ 5584371 w 5834742"/>
              <a:gd name="connsiteY101" fmla="*/ 2301680 h 3172537"/>
              <a:gd name="connsiteX102" fmla="*/ 5573485 w 5834742"/>
              <a:gd name="connsiteY102" fmla="*/ 2334337 h 3172537"/>
              <a:gd name="connsiteX103" fmla="*/ 5529942 w 5834742"/>
              <a:gd name="connsiteY103" fmla="*/ 2443195 h 3172537"/>
              <a:gd name="connsiteX104" fmla="*/ 5508171 w 5834742"/>
              <a:gd name="connsiteY104" fmla="*/ 2497623 h 3172537"/>
              <a:gd name="connsiteX105" fmla="*/ 5431971 w 5834742"/>
              <a:gd name="connsiteY105" fmla="*/ 2552052 h 3172537"/>
              <a:gd name="connsiteX106" fmla="*/ 5366657 w 5834742"/>
              <a:gd name="connsiteY106" fmla="*/ 2595595 h 3172537"/>
              <a:gd name="connsiteX107" fmla="*/ 5344885 w 5834742"/>
              <a:gd name="connsiteY107" fmla="*/ 2639137 h 3172537"/>
              <a:gd name="connsiteX108" fmla="*/ 5334000 w 5834742"/>
              <a:gd name="connsiteY108" fmla="*/ 2671795 h 3172537"/>
              <a:gd name="connsiteX109" fmla="*/ 5301342 w 5834742"/>
              <a:gd name="connsiteY109" fmla="*/ 2693566 h 3172537"/>
              <a:gd name="connsiteX110" fmla="*/ 5236028 w 5834742"/>
              <a:gd name="connsiteY110" fmla="*/ 2769766 h 3172537"/>
              <a:gd name="connsiteX111" fmla="*/ 5170714 w 5834742"/>
              <a:gd name="connsiteY111" fmla="*/ 2813309 h 3172537"/>
              <a:gd name="connsiteX112" fmla="*/ 5138057 w 5834742"/>
              <a:gd name="connsiteY112" fmla="*/ 2835080 h 3172537"/>
              <a:gd name="connsiteX113" fmla="*/ 5072742 w 5834742"/>
              <a:gd name="connsiteY113" fmla="*/ 2856852 h 3172537"/>
              <a:gd name="connsiteX114" fmla="*/ 4963885 w 5834742"/>
              <a:gd name="connsiteY114" fmla="*/ 2933052 h 3172537"/>
              <a:gd name="connsiteX115" fmla="*/ 4920342 w 5834742"/>
              <a:gd name="connsiteY115" fmla="*/ 2943937 h 3172537"/>
              <a:gd name="connsiteX116" fmla="*/ 4876800 w 5834742"/>
              <a:gd name="connsiteY116" fmla="*/ 2976595 h 3172537"/>
              <a:gd name="connsiteX117" fmla="*/ 4800600 w 5834742"/>
              <a:gd name="connsiteY117" fmla="*/ 2998366 h 3172537"/>
              <a:gd name="connsiteX118" fmla="*/ 4767942 w 5834742"/>
              <a:gd name="connsiteY118" fmla="*/ 3020137 h 3172537"/>
              <a:gd name="connsiteX119" fmla="*/ 4746171 w 5834742"/>
              <a:gd name="connsiteY119" fmla="*/ 3041909 h 3172537"/>
              <a:gd name="connsiteX120" fmla="*/ 4691742 w 5834742"/>
              <a:gd name="connsiteY120" fmla="*/ 3063680 h 3172537"/>
              <a:gd name="connsiteX121" fmla="*/ 4495800 w 5834742"/>
              <a:gd name="connsiteY121" fmla="*/ 3085452 h 3172537"/>
              <a:gd name="connsiteX122" fmla="*/ 4201885 w 5834742"/>
              <a:gd name="connsiteY122" fmla="*/ 3052795 h 3172537"/>
              <a:gd name="connsiteX123" fmla="*/ 4180114 w 5834742"/>
              <a:gd name="connsiteY123" fmla="*/ 3031023 h 3172537"/>
              <a:gd name="connsiteX124" fmla="*/ 4147457 w 5834742"/>
              <a:gd name="connsiteY124" fmla="*/ 3020137 h 3172537"/>
              <a:gd name="connsiteX125" fmla="*/ 4049485 w 5834742"/>
              <a:gd name="connsiteY125" fmla="*/ 2976595 h 3172537"/>
              <a:gd name="connsiteX126" fmla="*/ 4016828 w 5834742"/>
              <a:gd name="connsiteY126" fmla="*/ 2965709 h 3172537"/>
              <a:gd name="connsiteX127" fmla="*/ 3929742 w 5834742"/>
              <a:gd name="connsiteY127" fmla="*/ 2922166 h 3172537"/>
              <a:gd name="connsiteX128" fmla="*/ 3897085 w 5834742"/>
              <a:gd name="connsiteY128" fmla="*/ 2889509 h 3172537"/>
              <a:gd name="connsiteX129" fmla="*/ 3842657 w 5834742"/>
              <a:gd name="connsiteY129" fmla="*/ 2878623 h 3172537"/>
              <a:gd name="connsiteX130" fmla="*/ 3799114 w 5834742"/>
              <a:gd name="connsiteY130" fmla="*/ 2867737 h 3172537"/>
              <a:gd name="connsiteX131" fmla="*/ 3733800 w 5834742"/>
              <a:gd name="connsiteY131" fmla="*/ 2845966 h 3172537"/>
              <a:gd name="connsiteX132" fmla="*/ 3516085 w 5834742"/>
              <a:gd name="connsiteY132" fmla="*/ 2856852 h 3172537"/>
              <a:gd name="connsiteX133" fmla="*/ 3418114 w 5834742"/>
              <a:gd name="connsiteY133" fmla="*/ 2889509 h 3172537"/>
              <a:gd name="connsiteX134" fmla="*/ 3374571 w 5834742"/>
              <a:gd name="connsiteY134" fmla="*/ 2900395 h 3172537"/>
              <a:gd name="connsiteX135" fmla="*/ 3265714 w 5834742"/>
              <a:gd name="connsiteY135" fmla="*/ 2965709 h 3172537"/>
              <a:gd name="connsiteX136" fmla="*/ 3211285 w 5834742"/>
              <a:gd name="connsiteY136" fmla="*/ 2976595 h 3172537"/>
              <a:gd name="connsiteX137" fmla="*/ 3178628 w 5834742"/>
              <a:gd name="connsiteY137" fmla="*/ 2998366 h 3172537"/>
              <a:gd name="connsiteX138" fmla="*/ 3145971 w 5834742"/>
              <a:gd name="connsiteY138" fmla="*/ 3009252 h 3172537"/>
              <a:gd name="connsiteX139" fmla="*/ 3080657 w 5834742"/>
              <a:gd name="connsiteY139" fmla="*/ 3052795 h 3172537"/>
              <a:gd name="connsiteX140" fmla="*/ 3048000 w 5834742"/>
              <a:gd name="connsiteY140" fmla="*/ 3074566 h 3172537"/>
              <a:gd name="connsiteX141" fmla="*/ 3015342 w 5834742"/>
              <a:gd name="connsiteY141" fmla="*/ 3085452 h 3172537"/>
              <a:gd name="connsiteX142" fmla="*/ 2950028 w 5834742"/>
              <a:gd name="connsiteY142" fmla="*/ 3128995 h 3172537"/>
              <a:gd name="connsiteX143" fmla="*/ 2862942 w 5834742"/>
              <a:gd name="connsiteY143" fmla="*/ 3150766 h 3172537"/>
              <a:gd name="connsiteX144" fmla="*/ 2764971 w 5834742"/>
              <a:gd name="connsiteY144" fmla="*/ 3172537 h 3172537"/>
              <a:gd name="connsiteX145" fmla="*/ 2035628 w 5834742"/>
              <a:gd name="connsiteY145" fmla="*/ 3150766 h 3172537"/>
              <a:gd name="connsiteX146" fmla="*/ 1959428 w 5834742"/>
              <a:gd name="connsiteY146" fmla="*/ 3139880 h 3172537"/>
              <a:gd name="connsiteX147" fmla="*/ 1926771 w 5834742"/>
              <a:gd name="connsiteY147" fmla="*/ 3118109 h 3172537"/>
              <a:gd name="connsiteX148" fmla="*/ 1850571 w 5834742"/>
              <a:gd name="connsiteY148" fmla="*/ 3085452 h 3172537"/>
              <a:gd name="connsiteX149" fmla="*/ 1741714 w 5834742"/>
              <a:gd name="connsiteY149" fmla="*/ 3009252 h 3172537"/>
              <a:gd name="connsiteX150" fmla="*/ 1709057 w 5834742"/>
              <a:gd name="connsiteY150" fmla="*/ 2987480 h 3172537"/>
              <a:gd name="connsiteX151" fmla="*/ 1643742 w 5834742"/>
              <a:gd name="connsiteY151" fmla="*/ 2943937 h 3172537"/>
              <a:gd name="connsiteX152" fmla="*/ 1611085 w 5834742"/>
              <a:gd name="connsiteY152" fmla="*/ 2911280 h 3172537"/>
              <a:gd name="connsiteX153" fmla="*/ 1578428 w 5834742"/>
              <a:gd name="connsiteY153" fmla="*/ 2889509 h 3172537"/>
              <a:gd name="connsiteX154" fmla="*/ 1491342 w 5834742"/>
              <a:gd name="connsiteY154" fmla="*/ 2802423 h 3172537"/>
              <a:gd name="connsiteX155" fmla="*/ 1458685 w 5834742"/>
              <a:gd name="connsiteY155" fmla="*/ 2769766 h 3172537"/>
              <a:gd name="connsiteX156" fmla="*/ 1371600 w 5834742"/>
              <a:gd name="connsiteY156" fmla="*/ 2715337 h 3172537"/>
              <a:gd name="connsiteX157" fmla="*/ 1306285 w 5834742"/>
              <a:gd name="connsiteY157" fmla="*/ 2660909 h 3172537"/>
              <a:gd name="connsiteX158" fmla="*/ 1273628 w 5834742"/>
              <a:gd name="connsiteY158" fmla="*/ 2628252 h 3172537"/>
              <a:gd name="connsiteX159" fmla="*/ 1240971 w 5834742"/>
              <a:gd name="connsiteY159" fmla="*/ 2606480 h 3172537"/>
              <a:gd name="connsiteX160" fmla="*/ 1208314 w 5834742"/>
              <a:gd name="connsiteY160" fmla="*/ 2573823 h 3172537"/>
              <a:gd name="connsiteX161" fmla="*/ 1132114 w 5834742"/>
              <a:gd name="connsiteY161" fmla="*/ 2530280 h 3172537"/>
              <a:gd name="connsiteX162" fmla="*/ 1088571 w 5834742"/>
              <a:gd name="connsiteY162" fmla="*/ 2497623 h 3172537"/>
              <a:gd name="connsiteX163" fmla="*/ 1023257 w 5834742"/>
              <a:gd name="connsiteY163" fmla="*/ 2454080 h 3172537"/>
              <a:gd name="connsiteX164" fmla="*/ 1001485 w 5834742"/>
              <a:gd name="connsiteY164" fmla="*/ 2432309 h 3172537"/>
              <a:gd name="connsiteX165" fmla="*/ 968828 w 5834742"/>
              <a:gd name="connsiteY165" fmla="*/ 2421423 h 3172537"/>
              <a:gd name="connsiteX166" fmla="*/ 892628 w 5834742"/>
              <a:gd name="connsiteY166" fmla="*/ 2388766 h 3172537"/>
              <a:gd name="connsiteX167" fmla="*/ 849085 w 5834742"/>
              <a:gd name="connsiteY167" fmla="*/ 2356109 h 3172537"/>
              <a:gd name="connsiteX168" fmla="*/ 805542 w 5834742"/>
              <a:gd name="connsiteY168" fmla="*/ 2345223 h 3172537"/>
              <a:gd name="connsiteX169" fmla="*/ 751114 w 5834742"/>
              <a:gd name="connsiteY169" fmla="*/ 2323452 h 3172537"/>
              <a:gd name="connsiteX170" fmla="*/ 326571 w 5834742"/>
              <a:gd name="connsiteY170" fmla="*/ 2312566 h 3172537"/>
              <a:gd name="connsiteX171" fmla="*/ 250371 w 5834742"/>
              <a:gd name="connsiteY171" fmla="*/ 2301680 h 3172537"/>
              <a:gd name="connsiteX172" fmla="*/ 206828 w 5834742"/>
              <a:gd name="connsiteY172" fmla="*/ 2279909 h 3172537"/>
              <a:gd name="connsiteX173" fmla="*/ 174171 w 5834742"/>
              <a:gd name="connsiteY173" fmla="*/ 2269023 h 3172537"/>
              <a:gd name="connsiteX174" fmla="*/ 108857 w 5834742"/>
              <a:gd name="connsiteY174" fmla="*/ 2181937 h 3172537"/>
              <a:gd name="connsiteX175" fmla="*/ 87085 w 5834742"/>
              <a:gd name="connsiteY175" fmla="*/ 2116623 h 3172537"/>
              <a:gd name="connsiteX176" fmla="*/ 76200 w 5834742"/>
              <a:gd name="connsiteY176" fmla="*/ 2051309 h 3172537"/>
              <a:gd name="connsiteX177" fmla="*/ 54428 w 5834742"/>
              <a:gd name="connsiteY177" fmla="*/ 1975109 h 3172537"/>
              <a:gd name="connsiteX178" fmla="*/ 43542 w 5834742"/>
              <a:gd name="connsiteY178" fmla="*/ 853880 h 3172537"/>
              <a:gd name="connsiteX179" fmla="*/ 21771 w 5834742"/>
              <a:gd name="connsiteY179" fmla="*/ 788566 h 3172537"/>
              <a:gd name="connsiteX180" fmla="*/ 0 w 5834742"/>
              <a:gd name="connsiteY180" fmla="*/ 668823 h 317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5834742" h="3172537">
                <a:moveTo>
                  <a:pt x="0" y="668823"/>
                </a:moveTo>
                <a:lnTo>
                  <a:pt x="0" y="668823"/>
                </a:lnTo>
                <a:cubicBezTo>
                  <a:pt x="14514" y="639794"/>
                  <a:pt x="31059" y="611695"/>
                  <a:pt x="43542" y="581737"/>
                </a:cubicBezTo>
                <a:cubicBezTo>
                  <a:pt x="49296" y="567927"/>
                  <a:pt x="49175" y="552203"/>
                  <a:pt x="54428" y="538195"/>
                </a:cubicBezTo>
                <a:cubicBezTo>
                  <a:pt x="60126" y="523001"/>
                  <a:pt x="69609" y="509481"/>
                  <a:pt x="76200" y="494652"/>
                </a:cubicBezTo>
                <a:cubicBezTo>
                  <a:pt x="84136" y="476796"/>
                  <a:pt x="89232" y="457701"/>
                  <a:pt x="97971" y="440223"/>
                </a:cubicBezTo>
                <a:cubicBezTo>
                  <a:pt x="103822" y="428521"/>
                  <a:pt x="114260" y="419445"/>
                  <a:pt x="119742" y="407566"/>
                </a:cubicBezTo>
                <a:cubicBezTo>
                  <a:pt x="192342" y="250266"/>
                  <a:pt x="133506" y="343377"/>
                  <a:pt x="185057" y="266052"/>
                </a:cubicBezTo>
                <a:cubicBezTo>
                  <a:pt x="203960" y="209339"/>
                  <a:pt x="183559" y="254317"/>
                  <a:pt x="217714" y="211623"/>
                </a:cubicBezTo>
                <a:cubicBezTo>
                  <a:pt x="225887" y="201407"/>
                  <a:pt x="229269" y="187139"/>
                  <a:pt x="239485" y="178966"/>
                </a:cubicBezTo>
                <a:cubicBezTo>
                  <a:pt x="248445" y="171798"/>
                  <a:pt x="261256" y="171709"/>
                  <a:pt x="272142" y="168080"/>
                </a:cubicBezTo>
                <a:cubicBezTo>
                  <a:pt x="314668" y="125556"/>
                  <a:pt x="270046" y="163686"/>
                  <a:pt x="326571" y="135423"/>
                </a:cubicBezTo>
                <a:cubicBezTo>
                  <a:pt x="338273" y="129572"/>
                  <a:pt x="349012" y="121825"/>
                  <a:pt x="359228" y="113652"/>
                </a:cubicBezTo>
                <a:cubicBezTo>
                  <a:pt x="367242" y="107241"/>
                  <a:pt x="371820" y="96470"/>
                  <a:pt x="381000" y="91880"/>
                </a:cubicBezTo>
                <a:cubicBezTo>
                  <a:pt x="394381" y="85189"/>
                  <a:pt x="410109" y="84931"/>
                  <a:pt x="424542" y="80995"/>
                </a:cubicBezTo>
                <a:cubicBezTo>
                  <a:pt x="450028" y="74044"/>
                  <a:pt x="474892" y="64665"/>
                  <a:pt x="500742" y="59223"/>
                </a:cubicBezTo>
                <a:cubicBezTo>
                  <a:pt x="601223" y="38069"/>
                  <a:pt x="642066" y="36382"/>
                  <a:pt x="740228" y="26566"/>
                </a:cubicBezTo>
                <a:cubicBezTo>
                  <a:pt x="765628" y="19309"/>
                  <a:pt x="790019" y="5439"/>
                  <a:pt x="816428" y="4795"/>
                </a:cubicBezTo>
                <a:cubicBezTo>
                  <a:pt x="1111864" y="-2411"/>
                  <a:pt x="1079482" y="-5732"/>
                  <a:pt x="1240971" y="26566"/>
                </a:cubicBezTo>
                <a:cubicBezTo>
                  <a:pt x="1259114" y="37452"/>
                  <a:pt x="1276476" y="49761"/>
                  <a:pt x="1295400" y="59223"/>
                </a:cubicBezTo>
                <a:cubicBezTo>
                  <a:pt x="1305663" y="64355"/>
                  <a:pt x="1317794" y="64977"/>
                  <a:pt x="1328057" y="70109"/>
                </a:cubicBezTo>
                <a:cubicBezTo>
                  <a:pt x="1346981" y="79571"/>
                  <a:pt x="1363561" y="93304"/>
                  <a:pt x="1382485" y="102766"/>
                </a:cubicBezTo>
                <a:cubicBezTo>
                  <a:pt x="1399963" y="111505"/>
                  <a:pt x="1419125" y="116451"/>
                  <a:pt x="1436914" y="124537"/>
                </a:cubicBezTo>
                <a:cubicBezTo>
                  <a:pt x="1533100" y="168258"/>
                  <a:pt x="1467863" y="148604"/>
                  <a:pt x="1545771" y="168080"/>
                </a:cubicBezTo>
                <a:cubicBezTo>
                  <a:pt x="1618180" y="204285"/>
                  <a:pt x="1562202" y="173050"/>
                  <a:pt x="1632857" y="222509"/>
                </a:cubicBezTo>
                <a:cubicBezTo>
                  <a:pt x="1654293" y="237514"/>
                  <a:pt x="1676400" y="251538"/>
                  <a:pt x="1698171" y="266052"/>
                </a:cubicBezTo>
                <a:lnTo>
                  <a:pt x="1763485" y="309595"/>
                </a:lnTo>
                <a:cubicBezTo>
                  <a:pt x="1774371" y="316852"/>
                  <a:pt x="1786891" y="322115"/>
                  <a:pt x="1796142" y="331366"/>
                </a:cubicBezTo>
                <a:cubicBezTo>
                  <a:pt x="1803399" y="338623"/>
                  <a:pt x="1808734" y="348547"/>
                  <a:pt x="1817914" y="353137"/>
                </a:cubicBezTo>
                <a:cubicBezTo>
                  <a:pt x="1831296" y="359828"/>
                  <a:pt x="1846943" y="360394"/>
                  <a:pt x="1861457" y="364023"/>
                </a:cubicBezTo>
                <a:cubicBezTo>
                  <a:pt x="1916618" y="419187"/>
                  <a:pt x="1845231" y="354288"/>
                  <a:pt x="1915885" y="396680"/>
                </a:cubicBezTo>
                <a:cubicBezTo>
                  <a:pt x="1924686" y="401960"/>
                  <a:pt x="1928856" y="413172"/>
                  <a:pt x="1937657" y="418452"/>
                </a:cubicBezTo>
                <a:cubicBezTo>
                  <a:pt x="1948809" y="425143"/>
                  <a:pt x="2005728" y="438191"/>
                  <a:pt x="2013857" y="440223"/>
                </a:cubicBezTo>
                <a:cubicBezTo>
                  <a:pt x="2082284" y="485843"/>
                  <a:pt x="2007192" y="437730"/>
                  <a:pt x="2090057" y="483766"/>
                </a:cubicBezTo>
                <a:cubicBezTo>
                  <a:pt x="2108552" y="494041"/>
                  <a:pt x="2126342" y="505537"/>
                  <a:pt x="2144485" y="516423"/>
                </a:cubicBezTo>
                <a:cubicBezTo>
                  <a:pt x="2151742" y="527309"/>
                  <a:pt x="2155163" y="542146"/>
                  <a:pt x="2166257" y="549080"/>
                </a:cubicBezTo>
                <a:cubicBezTo>
                  <a:pt x="2185718" y="561243"/>
                  <a:pt x="2231571" y="570852"/>
                  <a:pt x="2231571" y="570852"/>
                </a:cubicBezTo>
                <a:cubicBezTo>
                  <a:pt x="2237026" y="578126"/>
                  <a:pt x="2270270" y="626728"/>
                  <a:pt x="2286000" y="636166"/>
                </a:cubicBezTo>
                <a:cubicBezTo>
                  <a:pt x="2295839" y="642070"/>
                  <a:pt x="2307771" y="643423"/>
                  <a:pt x="2318657" y="647052"/>
                </a:cubicBezTo>
                <a:cubicBezTo>
                  <a:pt x="2356922" y="704451"/>
                  <a:pt x="2318364" y="662478"/>
                  <a:pt x="2383971" y="690595"/>
                </a:cubicBezTo>
                <a:cubicBezTo>
                  <a:pt x="2395996" y="695749"/>
                  <a:pt x="2404926" y="706515"/>
                  <a:pt x="2416628" y="712366"/>
                </a:cubicBezTo>
                <a:cubicBezTo>
                  <a:pt x="2450191" y="729148"/>
                  <a:pt x="2506345" y="730384"/>
                  <a:pt x="2536371" y="734137"/>
                </a:cubicBezTo>
                <a:cubicBezTo>
                  <a:pt x="2668334" y="778126"/>
                  <a:pt x="2535085" y="737481"/>
                  <a:pt x="2667000" y="766795"/>
                </a:cubicBezTo>
                <a:cubicBezTo>
                  <a:pt x="2770387" y="789769"/>
                  <a:pt x="2596410" y="761821"/>
                  <a:pt x="2754085" y="810337"/>
                </a:cubicBezTo>
                <a:cubicBezTo>
                  <a:pt x="2782046" y="818940"/>
                  <a:pt x="2812142" y="817594"/>
                  <a:pt x="2841171" y="821223"/>
                </a:cubicBezTo>
                <a:cubicBezTo>
                  <a:pt x="2862942" y="828480"/>
                  <a:pt x="2885177" y="834472"/>
                  <a:pt x="2906485" y="842995"/>
                </a:cubicBezTo>
                <a:cubicBezTo>
                  <a:pt x="2924628" y="850252"/>
                  <a:pt x="2941807" y="860672"/>
                  <a:pt x="2960914" y="864766"/>
                </a:cubicBezTo>
                <a:cubicBezTo>
                  <a:pt x="2993043" y="871651"/>
                  <a:pt x="3026228" y="872023"/>
                  <a:pt x="3058885" y="875652"/>
                </a:cubicBezTo>
                <a:cubicBezTo>
                  <a:pt x="3127828" y="872023"/>
                  <a:pt x="3196895" y="870272"/>
                  <a:pt x="3265714" y="864766"/>
                </a:cubicBezTo>
                <a:cubicBezTo>
                  <a:pt x="3315801" y="860759"/>
                  <a:pt x="3359216" y="846513"/>
                  <a:pt x="3407228" y="832109"/>
                </a:cubicBezTo>
                <a:cubicBezTo>
                  <a:pt x="3418219" y="828812"/>
                  <a:pt x="3429338" y="825743"/>
                  <a:pt x="3439885" y="821223"/>
                </a:cubicBezTo>
                <a:cubicBezTo>
                  <a:pt x="3454800" y="814831"/>
                  <a:pt x="3468914" y="806709"/>
                  <a:pt x="3483428" y="799452"/>
                </a:cubicBezTo>
                <a:cubicBezTo>
                  <a:pt x="3490685" y="792195"/>
                  <a:pt x="3495766" y="781723"/>
                  <a:pt x="3505200" y="777680"/>
                </a:cubicBezTo>
                <a:cubicBezTo>
                  <a:pt x="3592147" y="740417"/>
                  <a:pt x="3528886" y="787610"/>
                  <a:pt x="3592285" y="755909"/>
                </a:cubicBezTo>
                <a:cubicBezTo>
                  <a:pt x="3603987" y="750058"/>
                  <a:pt x="3613240" y="739988"/>
                  <a:pt x="3624942" y="734137"/>
                </a:cubicBezTo>
                <a:cubicBezTo>
                  <a:pt x="3642420" y="725398"/>
                  <a:pt x="3661893" y="721105"/>
                  <a:pt x="3679371" y="712366"/>
                </a:cubicBezTo>
                <a:cubicBezTo>
                  <a:pt x="3691073" y="706515"/>
                  <a:pt x="3700669" y="697086"/>
                  <a:pt x="3712028" y="690595"/>
                </a:cubicBezTo>
                <a:cubicBezTo>
                  <a:pt x="3749694" y="669072"/>
                  <a:pt x="3751589" y="670150"/>
                  <a:pt x="3788228" y="657937"/>
                </a:cubicBezTo>
                <a:cubicBezTo>
                  <a:pt x="3838150" y="608017"/>
                  <a:pt x="3774455" y="667120"/>
                  <a:pt x="3853542" y="614395"/>
                </a:cubicBezTo>
                <a:cubicBezTo>
                  <a:pt x="3862082" y="608702"/>
                  <a:pt x="3867300" y="599034"/>
                  <a:pt x="3875314" y="592623"/>
                </a:cubicBezTo>
                <a:cubicBezTo>
                  <a:pt x="3885530" y="584450"/>
                  <a:pt x="3897755" y="579025"/>
                  <a:pt x="3907971" y="570852"/>
                </a:cubicBezTo>
                <a:cubicBezTo>
                  <a:pt x="3915985" y="564441"/>
                  <a:pt x="3921531" y="555238"/>
                  <a:pt x="3929742" y="549080"/>
                </a:cubicBezTo>
                <a:cubicBezTo>
                  <a:pt x="3950675" y="533380"/>
                  <a:pt x="3973285" y="520051"/>
                  <a:pt x="3995057" y="505537"/>
                </a:cubicBezTo>
                <a:lnTo>
                  <a:pt x="4027714" y="483766"/>
                </a:lnTo>
                <a:cubicBezTo>
                  <a:pt x="4043880" y="459517"/>
                  <a:pt x="4049098" y="447064"/>
                  <a:pt x="4071257" y="429337"/>
                </a:cubicBezTo>
                <a:cubicBezTo>
                  <a:pt x="4081473" y="421164"/>
                  <a:pt x="4094068" y="416181"/>
                  <a:pt x="4103914" y="407566"/>
                </a:cubicBezTo>
                <a:cubicBezTo>
                  <a:pt x="4123223" y="390670"/>
                  <a:pt x="4144109" y="374485"/>
                  <a:pt x="4158342" y="353137"/>
                </a:cubicBezTo>
                <a:cubicBezTo>
                  <a:pt x="4165599" y="342251"/>
                  <a:pt x="4170863" y="329731"/>
                  <a:pt x="4180114" y="320480"/>
                </a:cubicBezTo>
                <a:cubicBezTo>
                  <a:pt x="4189365" y="311229"/>
                  <a:pt x="4201885" y="305966"/>
                  <a:pt x="4212771" y="298709"/>
                </a:cubicBezTo>
                <a:cubicBezTo>
                  <a:pt x="4224417" y="281239"/>
                  <a:pt x="4237700" y="256689"/>
                  <a:pt x="4256314" y="244280"/>
                </a:cubicBezTo>
                <a:cubicBezTo>
                  <a:pt x="4269816" y="235279"/>
                  <a:pt x="4285343" y="229766"/>
                  <a:pt x="4299857" y="222509"/>
                </a:cubicBezTo>
                <a:cubicBezTo>
                  <a:pt x="4334042" y="188322"/>
                  <a:pt x="4308996" y="205902"/>
                  <a:pt x="4365171" y="189852"/>
                </a:cubicBezTo>
                <a:cubicBezTo>
                  <a:pt x="4376204" y="186700"/>
                  <a:pt x="4386795" y="182118"/>
                  <a:pt x="4397828" y="178966"/>
                </a:cubicBezTo>
                <a:cubicBezTo>
                  <a:pt x="4412213" y="174856"/>
                  <a:pt x="4426986" y="172190"/>
                  <a:pt x="4441371" y="168080"/>
                </a:cubicBezTo>
                <a:cubicBezTo>
                  <a:pt x="4452404" y="164928"/>
                  <a:pt x="4462739" y="159248"/>
                  <a:pt x="4474028" y="157195"/>
                </a:cubicBezTo>
                <a:cubicBezTo>
                  <a:pt x="4502811" y="151962"/>
                  <a:pt x="4532085" y="149938"/>
                  <a:pt x="4561114" y="146309"/>
                </a:cubicBezTo>
                <a:lnTo>
                  <a:pt x="5334000" y="157195"/>
                </a:lnTo>
                <a:cubicBezTo>
                  <a:pt x="5360111" y="158890"/>
                  <a:pt x="5375911" y="189035"/>
                  <a:pt x="5399314" y="200737"/>
                </a:cubicBezTo>
                <a:cubicBezTo>
                  <a:pt x="5421085" y="211623"/>
                  <a:pt x="5442028" y="224355"/>
                  <a:pt x="5464628" y="233395"/>
                </a:cubicBezTo>
                <a:cubicBezTo>
                  <a:pt x="5602802" y="288665"/>
                  <a:pt x="5429937" y="207641"/>
                  <a:pt x="5540828" y="255166"/>
                </a:cubicBezTo>
                <a:cubicBezTo>
                  <a:pt x="5555743" y="261558"/>
                  <a:pt x="5570456" y="268588"/>
                  <a:pt x="5584371" y="276937"/>
                </a:cubicBezTo>
                <a:cubicBezTo>
                  <a:pt x="5606808" y="290399"/>
                  <a:pt x="5649685" y="320480"/>
                  <a:pt x="5649685" y="320480"/>
                </a:cubicBezTo>
                <a:cubicBezTo>
                  <a:pt x="5656942" y="331366"/>
                  <a:pt x="5663081" y="343086"/>
                  <a:pt x="5671457" y="353137"/>
                </a:cubicBezTo>
                <a:cubicBezTo>
                  <a:pt x="5681313" y="364964"/>
                  <a:pt x="5697744" y="371780"/>
                  <a:pt x="5704114" y="385795"/>
                </a:cubicBezTo>
                <a:cubicBezTo>
                  <a:pt x="5764764" y="519227"/>
                  <a:pt x="5692245" y="439240"/>
                  <a:pt x="5747657" y="494652"/>
                </a:cubicBezTo>
                <a:cubicBezTo>
                  <a:pt x="5753367" y="540331"/>
                  <a:pt x="5755042" y="582124"/>
                  <a:pt x="5769428" y="625280"/>
                </a:cubicBezTo>
                <a:cubicBezTo>
                  <a:pt x="5775607" y="643818"/>
                  <a:pt x="5783943" y="661566"/>
                  <a:pt x="5791200" y="679709"/>
                </a:cubicBezTo>
                <a:cubicBezTo>
                  <a:pt x="5794828" y="705109"/>
                  <a:pt x="5800117" y="730327"/>
                  <a:pt x="5802085" y="755909"/>
                </a:cubicBezTo>
                <a:cubicBezTo>
                  <a:pt x="5820226" y="991747"/>
                  <a:pt x="5780592" y="897977"/>
                  <a:pt x="5834742" y="1006280"/>
                </a:cubicBezTo>
                <a:cubicBezTo>
                  <a:pt x="5831114" y="1144166"/>
                  <a:pt x="5830120" y="1282146"/>
                  <a:pt x="5823857" y="1419937"/>
                </a:cubicBezTo>
                <a:cubicBezTo>
                  <a:pt x="5821202" y="1478347"/>
                  <a:pt x="5814691" y="1473786"/>
                  <a:pt x="5802085" y="1517909"/>
                </a:cubicBezTo>
                <a:cubicBezTo>
                  <a:pt x="5797975" y="1532294"/>
                  <a:pt x="5795310" y="1547067"/>
                  <a:pt x="5791200" y="1561452"/>
                </a:cubicBezTo>
                <a:cubicBezTo>
                  <a:pt x="5788048" y="1572485"/>
                  <a:pt x="5783611" y="1583118"/>
                  <a:pt x="5780314" y="1594109"/>
                </a:cubicBezTo>
                <a:cubicBezTo>
                  <a:pt x="5772723" y="1619411"/>
                  <a:pt x="5764949" y="1644681"/>
                  <a:pt x="5758542" y="1670309"/>
                </a:cubicBezTo>
                <a:cubicBezTo>
                  <a:pt x="5732268" y="1775406"/>
                  <a:pt x="5761657" y="1682738"/>
                  <a:pt x="5736771" y="1757395"/>
                </a:cubicBezTo>
                <a:cubicBezTo>
                  <a:pt x="5733650" y="1788602"/>
                  <a:pt x="5734614" y="1859682"/>
                  <a:pt x="5715000" y="1898909"/>
                </a:cubicBezTo>
                <a:cubicBezTo>
                  <a:pt x="5709149" y="1910611"/>
                  <a:pt x="5700485" y="1920680"/>
                  <a:pt x="5693228" y="1931566"/>
                </a:cubicBezTo>
                <a:cubicBezTo>
                  <a:pt x="5689599" y="1956966"/>
                  <a:pt x="5688111" y="1982765"/>
                  <a:pt x="5682342" y="2007766"/>
                </a:cubicBezTo>
                <a:cubicBezTo>
                  <a:pt x="5649633" y="2149507"/>
                  <a:pt x="5671483" y="2018538"/>
                  <a:pt x="5649685" y="2105737"/>
                </a:cubicBezTo>
                <a:cubicBezTo>
                  <a:pt x="5615670" y="2241807"/>
                  <a:pt x="5659137" y="2072660"/>
                  <a:pt x="5627914" y="2181937"/>
                </a:cubicBezTo>
                <a:cubicBezTo>
                  <a:pt x="5620021" y="2209561"/>
                  <a:pt x="5617329" y="2232034"/>
                  <a:pt x="5606142" y="2258137"/>
                </a:cubicBezTo>
                <a:cubicBezTo>
                  <a:pt x="5599750" y="2273052"/>
                  <a:pt x="5590763" y="2286765"/>
                  <a:pt x="5584371" y="2301680"/>
                </a:cubicBezTo>
                <a:cubicBezTo>
                  <a:pt x="5579851" y="2312227"/>
                  <a:pt x="5577604" y="2323627"/>
                  <a:pt x="5573485" y="2334337"/>
                </a:cubicBezTo>
                <a:cubicBezTo>
                  <a:pt x="5559456" y="2370813"/>
                  <a:pt x="5544456" y="2406909"/>
                  <a:pt x="5529942" y="2443195"/>
                </a:cubicBezTo>
                <a:cubicBezTo>
                  <a:pt x="5522685" y="2461338"/>
                  <a:pt x="5524071" y="2486265"/>
                  <a:pt x="5508171" y="2497623"/>
                </a:cubicBezTo>
                <a:cubicBezTo>
                  <a:pt x="5482771" y="2515766"/>
                  <a:pt x="5456345" y="2532553"/>
                  <a:pt x="5431971" y="2552052"/>
                </a:cubicBezTo>
                <a:cubicBezTo>
                  <a:pt x="5373727" y="2598647"/>
                  <a:pt x="5426942" y="2575499"/>
                  <a:pt x="5366657" y="2595595"/>
                </a:cubicBezTo>
                <a:cubicBezTo>
                  <a:pt x="5359400" y="2610109"/>
                  <a:pt x="5351277" y="2624222"/>
                  <a:pt x="5344885" y="2639137"/>
                </a:cubicBezTo>
                <a:cubicBezTo>
                  <a:pt x="5340365" y="2649684"/>
                  <a:pt x="5341168" y="2662835"/>
                  <a:pt x="5334000" y="2671795"/>
                </a:cubicBezTo>
                <a:cubicBezTo>
                  <a:pt x="5325827" y="2682011"/>
                  <a:pt x="5312228" y="2686309"/>
                  <a:pt x="5301342" y="2693566"/>
                </a:cubicBezTo>
                <a:cubicBezTo>
                  <a:pt x="5284112" y="2745260"/>
                  <a:pt x="5297389" y="2725140"/>
                  <a:pt x="5236028" y="2769766"/>
                </a:cubicBezTo>
                <a:cubicBezTo>
                  <a:pt x="5214867" y="2785156"/>
                  <a:pt x="5192485" y="2798795"/>
                  <a:pt x="5170714" y="2813309"/>
                </a:cubicBezTo>
                <a:cubicBezTo>
                  <a:pt x="5159828" y="2820566"/>
                  <a:pt x="5150468" y="2830943"/>
                  <a:pt x="5138057" y="2835080"/>
                </a:cubicBezTo>
                <a:lnTo>
                  <a:pt x="5072742" y="2856852"/>
                </a:lnTo>
                <a:cubicBezTo>
                  <a:pt x="5054727" y="2870363"/>
                  <a:pt x="4977289" y="2929701"/>
                  <a:pt x="4963885" y="2933052"/>
                </a:cubicBezTo>
                <a:lnTo>
                  <a:pt x="4920342" y="2943937"/>
                </a:lnTo>
                <a:cubicBezTo>
                  <a:pt x="4905828" y="2954823"/>
                  <a:pt x="4892552" y="2967594"/>
                  <a:pt x="4876800" y="2976595"/>
                </a:cubicBezTo>
                <a:cubicBezTo>
                  <a:pt x="4864659" y="2983533"/>
                  <a:pt x="4810019" y="2996011"/>
                  <a:pt x="4800600" y="2998366"/>
                </a:cubicBezTo>
                <a:cubicBezTo>
                  <a:pt x="4789714" y="3005623"/>
                  <a:pt x="4778158" y="3011964"/>
                  <a:pt x="4767942" y="3020137"/>
                </a:cubicBezTo>
                <a:cubicBezTo>
                  <a:pt x="4759928" y="3026548"/>
                  <a:pt x="4755082" y="3036817"/>
                  <a:pt x="4746171" y="3041909"/>
                </a:cubicBezTo>
                <a:cubicBezTo>
                  <a:pt x="4729205" y="3051604"/>
                  <a:pt x="4710280" y="3057501"/>
                  <a:pt x="4691742" y="3063680"/>
                </a:cubicBezTo>
                <a:cubicBezTo>
                  <a:pt x="4628363" y="3084806"/>
                  <a:pt x="4562456" y="3080691"/>
                  <a:pt x="4495800" y="3085452"/>
                </a:cubicBezTo>
                <a:cubicBezTo>
                  <a:pt x="4408247" y="3081472"/>
                  <a:pt x="4288585" y="3102338"/>
                  <a:pt x="4201885" y="3052795"/>
                </a:cubicBezTo>
                <a:cubicBezTo>
                  <a:pt x="4192974" y="3047703"/>
                  <a:pt x="4188915" y="3036304"/>
                  <a:pt x="4180114" y="3031023"/>
                </a:cubicBezTo>
                <a:cubicBezTo>
                  <a:pt x="4170275" y="3025119"/>
                  <a:pt x="4157720" y="3025269"/>
                  <a:pt x="4147457" y="3020137"/>
                </a:cubicBezTo>
                <a:cubicBezTo>
                  <a:pt x="4043955" y="2968386"/>
                  <a:pt x="4217988" y="3032762"/>
                  <a:pt x="4049485" y="2976595"/>
                </a:cubicBezTo>
                <a:lnTo>
                  <a:pt x="4016828" y="2965709"/>
                </a:lnTo>
                <a:cubicBezTo>
                  <a:pt x="3936380" y="2885261"/>
                  <a:pt x="4040981" y="2977785"/>
                  <a:pt x="3929742" y="2922166"/>
                </a:cubicBezTo>
                <a:cubicBezTo>
                  <a:pt x="3915973" y="2915281"/>
                  <a:pt x="3910854" y="2896394"/>
                  <a:pt x="3897085" y="2889509"/>
                </a:cubicBezTo>
                <a:cubicBezTo>
                  <a:pt x="3880536" y="2881235"/>
                  <a:pt x="3860718" y="2882637"/>
                  <a:pt x="3842657" y="2878623"/>
                </a:cubicBezTo>
                <a:cubicBezTo>
                  <a:pt x="3828052" y="2875377"/>
                  <a:pt x="3813444" y="2872036"/>
                  <a:pt x="3799114" y="2867737"/>
                </a:cubicBezTo>
                <a:cubicBezTo>
                  <a:pt x="3777133" y="2861143"/>
                  <a:pt x="3733800" y="2845966"/>
                  <a:pt x="3733800" y="2845966"/>
                </a:cubicBezTo>
                <a:cubicBezTo>
                  <a:pt x="3661228" y="2849595"/>
                  <a:pt x="3588516" y="2851058"/>
                  <a:pt x="3516085" y="2856852"/>
                </a:cubicBezTo>
                <a:cubicBezTo>
                  <a:pt x="3445324" y="2862513"/>
                  <a:pt x="3478575" y="2866836"/>
                  <a:pt x="3418114" y="2889509"/>
                </a:cubicBezTo>
                <a:cubicBezTo>
                  <a:pt x="3404106" y="2894762"/>
                  <a:pt x="3389085" y="2896766"/>
                  <a:pt x="3374571" y="2900395"/>
                </a:cubicBezTo>
                <a:cubicBezTo>
                  <a:pt x="3333006" y="2931568"/>
                  <a:pt x="3318476" y="2946523"/>
                  <a:pt x="3265714" y="2965709"/>
                </a:cubicBezTo>
                <a:cubicBezTo>
                  <a:pt x="3248326" y="2972032"/>
                  <a:pt x="3229428" y="2972966"/>
                  <a:pt x="3211285" y="2976595"/>
                </a:cubicBezTo>
                <a:cubicBezTo>
                  <a:pt x="3200399" y="2983852"/>
                  <a:pt x="3190330" y="2992515"/>
                  <a:pt x="3178628" y="2998366"/>
                </a:cubicBezTo>
                <a:cubicBezTo>
                  <a:pt x="3168365" y="3003498"/>
                  <a:pt x="3156002" y="3003679"/>
                  <a:pt x="3145971" y="3009252"/>
                </a:cubicBezTo>
                <a:cubicBezTo>
                  <a:pt x="3123098" y="3021959"/>
                  <a:pt x="3102428" y="3038281"/>
                  <a:pt x="3080657" y="3052795"/>
                </a:cubicBezTo>
                <a:cubicBezTo>
                  <a:pt x="3069771" y="3060052"/>
                  <a:pt x="3060412" y="3070429"/>
                  <a:pt x="3048000" y="3074566"/>
                </a:cubicBezTo>
                <a:cubicBezTo>
                  <a:pt x="3037114" y="3078195"/>
                  <a:pt x="3025373" y="3079879"/>
                  <a:pt x="3015342" y="3085452"/>
                </a:cubicBezTo>
                <a:cubicBezTo>
                  <a:pt x="2992469" y="3098159"/>
                  <a:pt x="2975686" y="3123864"/>
                  <a:pt x="2950028" y="3128995"/>
                </a:cubicBezTo>
                <a:cubicBezTo>
                  <a:pt x="2839388" y="3151122"/>
                  <a:pt x="2941037" y="3128453"/>
                  <a:pt x="2862942" y="3150766"/>
                </a:cubicBezTo>
                <a:cubicBezTo>
                  <a:pt x="2827062" y="3161018"/>
                  <a:pt x="2802395" y="3165053"/>
                  <a:pt x="2764971" y="3172537"/>
                </a:cubicBezTo>
                <a:lnTo>
                  <a:pt x="2035628" y="3150766"/>
                </a:lnTo>
                <a:cubicBezTo>
                  <a:pt x="2009991" y="3149727"/>
                  <a:pt x="1984004" y="3147253"/>
                  <a:pt x="1959428" y="3139880"/>
                </a:cubicBezTo>
                <a:cubicBezTo>
                  <a:pt x="1946897" y="3136121"/>
                  <a:pt x="1938130" y="3124600"/>
                  <a:pt x="1926771" y="3118109"/>
                </a:cubicBezTo>
                <a:cubicBezTo>
                  <a:pt x="1889103" y="3096584"/>
                  <a:pt x="1887212" y="3097665"/>
                  <a:pt x="1850571" y="3085452"/>
                </a:cubicBezTo>
                <a:cubicBezTo>
                  <a:pt x="1700443" y="2985366"/>
                  <a:pt x="1854531" y="3089836"/>
                  <a:pt x="1741714" y="3009252"/>
                </a:cubicBezTo>
                <a:cubicBezTo>
                  <a:pt x="1731068" y="3001648"/>
                  <a:pt x="1719108" y="2995856"/>
                  <a:pt x="1709057" y="2987480"/>
                </a:cubicBezTo>
                <a:cubicBezTo>
                  <a:pt x="1654697" y="2942179"/>
                  <a:pt x="1701134" y="2963068"/>
                  <a:pt x="1643742" y="2943937"/>
                </a:cubicBezTo>
                <a:cubicBezTo>
                  <a:pt x="1632856" y="2933051"/>
                  <a:pt x="1622912" y="2921135"/>
                  <a:pt x="1611085" y="2911280"/>
                </a:cubicBezTo>
                <a:cubicBezTo>
                  <a:pt x="1601034" y="2902905"/>
                  <a:pt x="1588109" y="2898309"/>
                  <a:pt x="1578428" y="2889509"/>
                </a:cubicBezTo>
                <a:cubicBezTo>
                  <a:pt x="1548051" y="2861894"/>
                  <a:pt x="1520371" y="2831452"/>
                  <a:pt x="1491342" y="2802423"/>
                </a:cubicBezTo>
                <a:cubicBezTo>
                  <a:pt x="1480456" y="2791537"/>
                  <a:pt x="1471886" y="2777687"/>
                  <a:pt x="1458685" y="2769766"/>
                </a:cubicBezTo>
                <a:cubicBezTo>
                  <a:pt x="1443831" y="2760853"/>
                  <a:pt x="1390454" y="2730001"/>
                  <a:pt x="1371600" y="2715337"/>
                </a:cubicBezTo>
                <a:cubicBezTo>
                  <a:pt x="1349230" y="2697938"/>
                  <a:pt x="1327467" y="2679737"/>
                  <a:pt x="1306285" y="2660909"/>
                </a:cubicBezTo>
                <a:cubicBezTo>
                  <a:pt x="1294779" y="2650681"/>
                  <a:pt x="1285454" y="2638107"/>
                  <a:pt x="1273628" y="2628252"/>
                </a:cubicBezTo>
                <a:cubicBezTo>
                  <a:pt x="1263577" y="2619876"/>
                  <a:pt x="1251022" y="2614856"/>
                  <a:pt x="1240971" y="2606480"/>
                </a:cubicBezTo>
                <a:cubicBezTo>
                  <a:pt x="1229145" y="2596625"/>
                  <a:pt x="1220141" y="2583678"/>
                  <a:pt x="1208314" y="2573823"/>
                </a:cubicBezTo>
                <a:cubicBezTo>
                  <a:pt x="1172362" y="2543863"/>
                  <a:pt x="1174698" y="2556895"/>
                  <a:pt x="1132114" y="2530280"/>
                </a:cubicBezTo>
                <a:cubicBezTo>
                  <a:pt x="1116729" y="2520664"/>
                  <a:pt x="1103434" y="2508027"/>
                  <a:pt x="1088571" y="2497623"/>
                </a:cubicBezTo>
                <a:cubicBezTo>
                  <a:pt x="1067135" y="2482618"/>
                  <a:pt x="1041760" y="2472582"/>
                  <a:pt x="1023257" y="2454080"/>
                </a:cubicBezTo>
                <a:cubicBezTo>
                  <a:pt x="1016000" y="2446823"/>
                  <a:pt x="1010286" y="2437589"/>
                  <a:pt x="1001485" y="2432309"/>
                </a:cubicBezTo>
                <a:cubicBezTo>
                  <a:pt x="991646" y="2426405"/>
                  <a:pt x="979375" y="2425943"/>
                  <a:pt x="968828" y="2421423"/>
                </a:cubicBezTo>
                <a:cubicBezTo>
                  <a:pt x="874667" y="2381069"/>
                  <a:pt x="969214" y="2414296"/>
                  <a:pt x="892628" y="2388766"/>
                </a:cubicBezTo>
                <a:cubicBezTo>
                  <a:pt x="878114" y="2377880"/>
                  <a:pt x="865312" y="2364223"/>
                  <a:pt x="849085" y="2356109"/>
                </a:cubicBezTo>
                <a:cubicBezTo>
                  <a:pt x="835703" y="2349418"/>
                  <a:pt x="819735" y="2349954"/>
                  <a:pt x="805542" y="2345223"/>
                </a:cubicBezTo>
                <a:cubicBezTo>
                  <a:pt x="787005" y="2339044"/>
                  <a:pt x="770609" y="2324781"/>
                  <a:pt x="751114" y="2323452"/>
                </a:cubicBezTo>
                <a:cubicBezTo>
                  <a:pt x="609881" y="2313823"/>
                  <a:pt x="468085" y="2316195"/>
                  <a:pt x="326571" y="2312566"/>
                </a:cubicBezTo>
                <a:cubicBezTo>
                  <a:pt x="301171" y="2308937"/>
                  <a:pt x="275125" y="2308431"/>
                  <a:pt x="250371" y="2301680"/>
                </a:cubicBezTo>
                <a:cubicBezTo>
                  <a:pt x="234715" y="2297410"/>
                  <a:pt x="221743" y="2286301"/>
                  <a:pt x="206828" y="2279909"/>
                </a:cubicBezTo>
                <a:cubicBezTo>
                  <a:pt x="196281" y="2275389"/>
                  <a:pt x="185057" y="2272652"/>
                  <a:pt x="174171" y="2269023"/>
                </a:cubicBezTo>
                <a:cubicBezTo>
                  <a:pt x="124935" y="2195170"/>
                  <a:pt x="149130" y="2222212"/>
                  <a:pt x="108857" y="2181937"/>
                </a:cubicBezTo>
                <a:cubicBezTo>
                  <a:pt x="101600" y="2160166"/>
                  <a:pt x="90858" y="2139260"/>
                  <a:pt x="87085" y="2116623"/>
                </a:cubicBezTo>
                <a:cubicBezTo>
                  <a:pt x="83457" y="2094852"/>
                  <a:pt x="80529" y="2072952"/>
                  <a:pt x="76200" y="2051309"/>
                </a:cubicBezTo>
                <a:cubicBezTo>
                  <a:pt x="69366" y="2017139"/>
                  <a:pt x="64803" y="2006233"/>
                  <a:pt x="54428" y="1975109"/>
                </a:cubicBezTo>
                <a:cubicBezTo>
                  <a:pt x="50799" y="1601366"/>
                  <a:pt x="53825" y="1227499"/>
                  <a:pt x="43542" y="853880"/>
                </a:cubicBezTo>
                <a:cubicBezTo>
                  <a:pt x="42911" y="830940"/>
                  <a:pt x="21771" y="811515"/>
                  <a:pt x="21771" y="788566"/>
                </a:cubicBezTo>
                <a:lnTo>
                  <a:pt x="0" y="668823"/>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Freeform 37"/>
          <p:cNvSpPr/>
          <p:nvPr/>
        </p:nvSpPr>
        <p:spPr>
          <a:xfrm>
            <a:off x="2195006" y="929749"/>
            <a:ext cx="4122513" cy="2786743"/>
          </a:xfrm>
          <a:custGeom>
            <a:avLst/>
            <a:gdLst>
              <a:gd name="connsiteX0" fmla="*/ 0 w 3810000"/>
              <a:gd name="connsiteY0" fmla="*/ 1284514 h 2819400"/>
              <a:gd name="connsiteX1" fmla="*/ 0 w 3810000"/>
              <a:gd name="connsiteY1" fmla="*/ 1284514 h 2819400"/>
              <a:gd name="connsiteX2" fmla="*/ 32657 w 3810000"/>
              <a:gd name="connsiteY2" fmla="*/ 957943 h 2819400"/>
              <a:gd name="connsiteX3" fmla="*/ 65314 w 3810000"/>
              <a:gd name="connsiteY3" fmla="*/ 718457 h 2819400"/>
              <a:gd name="connsiteX4" fmla="*/ 87085 w 3810000"/>
              <a:gd name="connsiteY4" fmla="*/ 587829 h 2819400"/>
              <a:gd name="connsiteX5" fmla="*/ 108857 w 3810000"/>
              <a:gd name="connsiteY5" fmla="*/ 468086 h 2819400"/>
              <a:gd name="connsiteX6" fmla="*/ 130628 w 3810000"/>
              <a:gd name="connsiteY6" fmla="*/ 402772 h 2819400"/>
              <a:gd name="connsiteX7" fmla="*/ 152400 w 3810000"/>
              <a:gd name="connsiteY7" fmla="*/ 381000 h 2819400"/>
              <a:gd name="connsiteX8" fmla="*/ 185057 w 3810000"/>
              <a:gd name="connsiteY8" fmla="*/ 326572 h 2819400"/>
              <a:gd name="connsiteX9" fmla="*/ 228600 w 3810000"/>
              <a:gd name="connsiteY9" fmla="*/ 272143 h 2819400"/>
              <a:gd name="connsiteX10" fmla="*/ 272142 w 3810000"/>
              <a:gd name="connsiteY10" fmla="*/ 250372 h 2819400"/>
              <a:gd name="connsiteX11" fmla="*/ 359228 w 3810000"/>
              <a:gd name="connsiteY11" fmla="*/ 185057 h 2819400"/>
              <a:gd name="connsiteX12" fmla="*/ 424542 w 3810000"/>
              <a:gd name="connsiteY12" fmla="*/ 163286 h 2819400"/>
              <a:gd name="connsiteX13" fmla="*/ 511628 w 3810000"/>
              <a:gd name="connsiteY13" fmla="*/ 141514 h 2819400"/>
              <a:gd name="connsiteX14" fmla="*/ 838200 w 3810000"/>
              <a:gd name="connsiteY14" fmla="*/ 163286 h 2819400"/>
              <a:gd name="connsiteX15" fmla="*/ 936171 w 3810000"/>
              <a:gd name="connsiteY15" fmla="*/ 185057 h 2819400"/>
              <a:gd name="connsiteX16" fmla="*/ 1436914 w 3810000"/>
              <a:gd name="connsiteY16" fmla="*/ 174172 h 2819400"/>
              <a:gd name="connsiteX17" fmla="*/ 1502228 w 3810000"/>
              <a:gd name="connsiteY17" fmla="*/ 152400 h 2819400"/>
              <a:gd name="connsiteX18" fmla="*/ 1545771 w 3810000"/>
              <a:gd name="connsiteY18" fmla="*/ 141514 h 2819400"/>
              <a:gd name="connsiteX19" fmla="*/ 1643742 w 3810000"/>
              <a:gd name="connsiteY19" fmla="*/ 97972 h 2819400"/>
              <a:gd name="connsiteX20" fmla="*/ 1709057 w 3810000"/>
              <a:gd name="connsiteY20" fmla="*/ 76200 h 2819400"/>
              <a:gd name="connsiteX21" fmla="*/ 1741714 w 3810000"/>
              <a:gd name="connsiteY21" fmla="*/ 54429 h 2819400"/>
              <a:gd name="connsiteX22" fmla="*/ 1774371 w 3810000"/>
              <a:gd name="connsiteY22" fmla="*/ 43543 h 2819400"/>
              <a:gd name="connsiteX23" fmla="*/ 1839685 w 3810000"/>
              <a:gd name="connsiteY23" fmla="*/ 0 h 2819400"/>
              <a:gd name="connsiteX24" fmla="*/ 1926771 w 3810000"/>
              <a:gd name="connsiteY24" fmla="*/ 10886 h 2819400"/>
              <a:gd name="connsiteX25" fmla="*/ 1970314 w 3810000"/>
              <a:gd name="connsiteY25" fmla="*/ 54429 h 2819400"/>
              <a:gd name="connsiteX26" fmla="*/ 2002971 w 3810000"/>
              <a:gd name="connsiteY26" fmla="*/ 76200 h 2819400"/>
              <a:gd name="connsiteX27" fmla="*/ 2046514 w 3810000"/>
              <a:gd name="connsiteY27" fmla="*/ 141514 h 2819400"/>
              <a:gd name="connsiteX28" fmla="*/ 2057400 w 3810000"/>
              <a:gd name="connsiteY28" fmla="*/ 174172 h 2819400"/>
              <a:gd name="connsiteX29" fmla="*/ 2090057 w 3810000"/>
              <a:gd name="connsiteY29" fmla="*/ 195943 h 2819400"/>
              <a:gd name="connsiteX30" fmla="*/ 2122714 w 3810000"/>
              <a:gd name="connsiteY30" fmla="*/ 250372 h 2819400"/>
              <a:gd name="connsiteX31" fmla="*/ 2133600 w 3810000"/>
              <a:gd name="connsiteY31" fmla="*/ 283029 h 2819400"/>
              <a:gd name="connsiteX32" fmla="*/ 2155371 w 3810000"/>
              <a:gd name="connsiteY32" fmla="*/ 315686 h 2819400"/>
              <a:gd name="connsiteX33" fmla="*/ 2166257 w 3810000"/>
              <a:gd name="connsiteY33" fmla="*/ 348343 h 2819400"/>
              <a:gd name="connsiteX34" fmla="*/ 2209800 w 3810000"/>
              <a:gd name="connsiteY34" fmla="*/ 402772 h 2819400"/>
              <a:gd name="connsiteX35" fmla="*/ 2220685 w 3810000"/>
              <a:gd name="connsiteY35" fmla="*/ 435429 h 2819400"/>
              <a:gd name="connsiteX36" fmla="*/ 2264228 w 3810000"/>
              <a:gd name="connsiteY36" fmla="*/ 478972 h 2819400"/>
              <a:gd name="connsiteX37" fmla="*/ 2275114 w 3810000"/>
              <a:gd name="connsiteY37" fmla="*/ 511629 h 2819400"/>
              <a:gd name="connsiteX38" fmla="*/ 2373085 w 3810000"/>
              <a:gd name="connsiteY38" fmla="*/ 598714 h 2819400"/>
              <a:gd name="connsiteX39" fmla="*/ 2405742 w 3810000"/>
              <a:gd name="connsiteY39" fmla="*/ 609600 h 2819400"/>
              <a:gd name="connsiteX40" fmla="*/ 2743200 w 3810000"/>
              <a:gd name="connsiteY40" fmla="*/ 587829 h 2819400"/>
              <a:gd name="connsiteX41" fmla="*/ 2841171 w 3810000"/>
              <a:gd name="connsiteY41" fmla="*/ 555172 h 2819400"/>
              <a:gd name="connsiteX42" fmla="*/ 2906485 w 3810000"/>
              <a:gd name="connsiteY42" fmla="*/ 544286 h 2819400"/>
              <a:gd name="connsiteX43" fmla="*/ 3004457 w 3810000"/>
              <a:gd name="connsiteY43" fmla="*/ 489857 h 2819400"/>
              <a:gd name="connsiteX44" fmla="*/ 3091542 w 3810000"/>
              <a:gd name="connsiteY44" fmla="*/ 446314 h 2819400"/>
              <a:gd name="connsiteX45" fmla="*/ 3156857 w 3810000"/>
              <a:gd name="connsiteY45" fmla="*/ 424543 h 2819400"/>
              <a:gd name="connsiteX46" fmla="*/ 3211285 w 3810000"/>
              <a:gd name="connsiteY46" fmla="*/ 402772 h 2819400"/>
              <a:gd name="connsiteX47" fmla="*/ 3254828 w 3810000"/>
              <a:gd name="connsiteY47" fmla="*/ 391886 h 2819400"/>
              <a:gd name="connsiteX48" fmla="*/ 3287485 w 3810000"/>
              <a:gd name="connsiteY48" fmla="*/ 370114 h 2819400"/>
              <a:gd name="connsiteX49" fmla="*/ 3385457 w 3810000"/>
              <a:gd name="connsiteY49" fmla="*/ 348343 h 2819400"/>
              <a:gd name="connsiteX50" fmla="*/ 3418114 w 3810000"/>
              <a:gd name="connsiteY50" fmla="*/ 326572 h 2819400"/>
              <a:gd name="connsiteX51" fmla="*/ 3559628 w 3810000"/>
              <a:gd name="connsiteY51" fmla="*/ 435429 h 2819400"/>
              <a:gd name="connsiteX52" fmla="*/ 3581400 w 3810000"/>
              <a:gd name="connsiteY52" fmla="*/ 457200 h 2819400"/>
              <a:gd name="connsiteX53" fmla="*/ 3603171 w 3810000"/>
              <a:gd name="connsiteY53" fmla="*/ 489857 h 2819400"/>
              <a:gd name="connsiteX54" fmla="*/ 3657600 w 3810000"/>
              <a:gd name="connsiteY54" fmla="*/ 544286 h 2819400"/>
              <a:gd name="connsiteX55" fmla="*/ 3712028 w 3810000"/>
              <a:gd name="connsiteY55" fmla="*/ 664029 h 2819400"/>
              <a:gd name="connsiteX56" fmla="*/ 3744685 w 3810000"/>
              <a:gd name="connsiteY56" fmla="*/ 740229 h 2819400"/>
              <a:gd name="connsiteX57" fmla="*/ 3766457 w 3810000"/>
              <a:gd name="connsiteY57" fmla="*/ 805543 h 2819400"/>
              <a:gd name="connsiteX58" fmla="*/ 3788228 w 3810000"/>
              <a:gd name="connsiteY58" fmla="*/ 838200 h 2819400"/>
              <a:gd name="connsiteX59" fmla="*/ 3810000 w 3810000"/>
              <a:gd name="connsiteY59" fmla="*/ 925286 h 2819400"/>
              <a:gd name="connsiteX60" fmla="*/ 3799114 w 3810000"/>
              <a:gd name="connsiteY60" fmla="*/ 1153886 h 2819400"/>
              <a:gd name="connsiteX61" fmla="*/ 3777342 w 3810000"/>
              <a:gd name="connsiteY61" fmla="*/ 1197429 h 2819400"/>
              <a:gd name="connsiteX62" fmla="*/ 3766457 w 3810000"/>
              <a:gd name="connsiteY62" fmla="*/ 1251857 h 2819400"/>
              <a:gd name="connsiteX63" fmla="*/ 3744685 w 3810000"/>
              <a:gd name="connsiteY63" fmla="*/ 1317172 h 2819400"/>
              <a:gd name="connsiteX64" fmla="*/ 3722914 w 3810000"/>
              <a:gd name="connsiteY64" fmla="*/ 1426029 h 2819400"/>
              <a:gd name="connsiteX65" fmla="*/ 3701142 w 3810000"/>
              <a:gd name="connsiteY65" fmla="*/ 1458686 h 2819400"/>
              <a:gd name="connsiteX66" fmla="*/ 3712028 w 3810000"/>
              <a:gd name="connsiteY66" fmla="*/ 1850572 h 2819400"/>
              <a:gd name="connsiteX67" fmla="*/ 3701142 w 3810000"/>
              <a:gd name="connsiteY67" fmla="*/ 1981200 h 2819400"/>
              <a:gd name="connsiteX68" fmla="*/ 3668485 w 3810000"/>
              <a:gd name="connsiteY68" fmla="*/ 1992086 h 2819400"/>
              <a:gd name="connsiteX69" fmla="*/ 3624942 w 3810000"/>
              <a:gd name="connsiteY69" fmla="*/ 2013857 h 2819400"/>
              <a:gd name="connsiteX70" fmla="*/ 3581400 w 3810000"/>
              <a:gd name="connsiteY70" fmla="*/ 2024743 h 2819400"/>
              <a:gd name="connsiteX71" fmla="*/ 3516085 w 3810000"/>
              <a:gd name="connsiteY71" fmla="*/ 2046514 h 2819400"/>
              <a:gd name="connsiteX72" fmla="*/ 3483428 w 3810000"/>
              <a:gd name="connsiteY72" fmla="*/ 2057400 h 2819400"/>
              <a:gd name="connsiteX73" fmla="*/ 3439885 w 3810000"/>
              <a:gd name="connsiteY73" fmla="*/ 2068286 h 2819400"/>
              <a:gd name="connsiteX74" fmla="*/ 3407228 w 3810000"/>
              <a:gd name="connsiteY74" fmla="*/ 2090057 h 2819400"/>
              <a:gd name="connsiteX75" fmla="*/ 3243942 w 3810000"/>
              <a:gd name="connsiteY75" fmla="*/ 2111829 h 2819400"/>
              <a:gd name="connsiteX76" fmla="*/ 3091542 w 3810000"/>
              <a:gd name="connsiteY76" fmla="*/ 2133600 h 2819400"/>
              <a:gd name="connsiteX77" fmla="*/ 3026228 w 3810000"/>
              <a:gd name="connsiteY77" fmla="*/ 2144486 h 2819400"/>
              <a:gd name="connsiteX78" fmla="*/ 2993571 w 3810000"/>
              <a:gd name="connsiteY78" fmla="*/ 2155372 h 2819400"/>
              <a:gd name="connsiteX79" fmla="*/ 2917371 w 3810000"/>
              <a:gd name="connsiteY79" fmla="*/ 2177143 h 2819400"/>
              <a:gd name="connsiteX80" fmla="*/ 2884714 w 3810000"/>
              <a:gd name="connsiteY80" fmla="*/ 2198914 h 2819400"/>
              <a:gd name="connsiteX81" fmla="*/ 2797628 w 3810000"/>
              <a:gd name="connsiteY81" fmla="*/ 2220686 h 2819400"/>
              <a:gd name="connsiteX82" fmla="*/ 2667000 w 3810000"/>
              <a:gd name="connsiteY82" fmla="*/ 2373086 h 2819400"/>
              <a:gd name="connsiteX83" fmla="*/ 2590800 w 3810000"/>
              <a:gd name="connsiteY83" fmla="*/ 2525486 h 2819400"/>
              <a:gd name="connsiteX84" fmla="*/ 2547257 w 3810000"/>
              <a:gd name="connsiteY84" fmla="*/ 2569029 h 2819400"/>
              <a:gd name="connsiteX85" fmla="*/ 2492828 w 3810000"/>
              <a:gd name="connsiteY85" fmla="*/ 2677886 h 2819400"/>
              <a:gd name="connsiteX86" fmla="*/ 2460171 w 3810000"/>
              <a:gd name="connsiteY86" fmla="*/ 2710543 h 2819400"/>
              <a:gd name="connsiteX87" fmla="*/ 2416628 w 3810000"/>
              <a:gd name="connsiteY87" fmla="*/ 2797629 h 2819400"/>
              <a:gd name="connsiteX88" fmla="*/ 2383971 w 3810000"/>
              <a:gd name="connsiteY88" fmla="*/ 2819400 h 2819400"/>
              <a:gd name="connsiteX89" fmla="*/ 2329542 w 3810000"/>
              <a:gd name="connsiteY89" fmla="*/ 2808514 h 2819400"/>
              <a:gd name="connsiteX90" fmla="*/ 2253342 w 3810000"/>
              <a:gd name="connsiteY90" fmla="*/ 2743200 h 2819400"/>
              <a:gd name="connsiteX91" fmla="*/ 2122714 w 3810000"/>
              <a:gd name="connsiteY91" fmla="*/ 2732314 h 2819400"/>
              <a:gd name="connsiteX92" fmla="*/ 2057400 w 3810000"/>
              <a:gd name="connsiteY92" fmla="*/ 2699657 h 2819400"/>
              <a:gd name="connsiteX93" fmla="*/ 1948542 w 3810000"/>
              <a:gd name="connsiteY93" fmla="*/ 2667000 h 2819400"/>
              <a:gd name="connsiteX94" fmla="*/ 1872342 w 3810000"/>
              <a:gd name="connsiteY94" fmla="*/ 2645229 h 2819400"/>
              <a:gd name="connsiteX95" fmla="*/ 1861457 w 3810000"/>
              <a:gd name="connsiteY95" fmla="*/ 2612572 h 2819400"/>
              <a:gd name="connsiteX96" fmla="*/ 1828800 w 3810000"/>
              <a:gd name="connsiteY96" fmla="*/ 2601686 h 2819400"/>
              <a:gd name="connsiteX97" fmla="*/ 1730828 w 3810000"/>
              <a:gd name="connsiteY97" fmla="*/ 2579914 h 2819400"/>
              <a:gd name="connsiteX98" fmla="*/ 1632857 w 3810000"/>
              <a:gd name="connsiteY98" fmla="*/ 2547257 h 2819400"/>
              <a:gd name="connsiteX99" fmla="*/ 1589314 w 3810000"/>
              <a:gd name="connsiteY99" fmla="*/ 2503714 h 2819400"/>
              <a:gd name="connsiteX100" fmla="*/ 1567542 w 3810000"/>
              <a:gd name="connsiteY100" fmla="*/ 2471057 h 2819400"/>
              <a:gd name="connsiteX101" fmla="*/ 1458685 w 3810000"/>
              <a:gd name="connsiteY101" fmla="*/ 2351314 h 2819400"/>
              <a:gd name="connsiteX102" fmla="*/ 1317171 w 3810000"/>
              <a:gd name="connsiteY102" fmla="*/ 2242457 h 2819400"/>
              <a:gd name="connsiteX103" fmla="*/ 1273628 w 3810000"/>
              <a:gd name="connsiteY103" fmla="*/ 2231572 h 2819400"/>
              <a:gd name="connsiteX104" fmla="*/ 936171 w 3810000"/>
              <a:gd name="connsiteY104" fmla="*/ 2242457 h 2819400"/>
              <a:gd name="connsiteX105" fmla="*/ 859971 w 3810000"/>
              <a:gd name="connsiteY105" fmla="*/ 2253343 h 2819400"/>
              <a:gd name="connsiteX106" fmla="*/ 740228 w 3810000"/>
              <a:gd name="connsiteY106" fmla="*/ 2264229 h 2819400"/>
              <a:gd name="connsiteX107" fmla="*/ 555171 w 3810000"/>
              <a:gd name="connsiteY107" fmla="*/ 2296886 h 2819400"/>
              <a:gd name="connsiteX108" fmla="*/ 402771 w 3810000"/>
              <a:gd name="connsiteY108" fmla="*/ 2286000 h 2819400"/>
              <a:gd name="connsiteX109" fmla="*/ 272142 w 3810000"/>
              <a:gd name="connsiteY109" fmla="*/ 2198914 h 2819400"/>
              <a:gd name="connsiteX110" fmla="*/ 195942 w 3810000"/>
              <a:gd name="connsiteY110" fmla="*/ 2122714 h 2819400"/>
              <a:gd name="connsiteX111" fmla="*/ 174171 w 3810000"/>
              <a:gd name="connsiteY111" fmla="*/ 2090057 h 2819400"/>
              <a:gd name="connsiteX112" fmla="*/ 130628 w 3810000"/>
              <a:gd name="connsiteY112" fmla="*/ 2002972 h 2819400"/>
              <a:gd name="connsiteX113" fmla="*/ 108857 w 3810000"/>
              <a:gd name="connsiteY113" fmla="*/ 1981200 h 2819400"/>
              <a:gd name="connsiteX114" fmla="*/ 76200 w 3810000"/>
              <a:gd name="connsiteY114" fmla="*/ 1883229 h 2819400"/>
              <a:gd name="connsiteX115" fmla="*/ 65314 w 3810000"/>
              <a:gd name="connsiteY115" fmla="*/ 1850572 h 2819400"/>
              <a:gd name="connsiteX116" fmla="*/ 54428 w 3810000"/>
              <a:gd name="connsiteY116" fmla="*/ 1730829 h 2819400"/>
              <a:gd name="connsiteX117" fmla="*/ 43542 w 3810000"/>
              <a:gd name="connsiteY117" fmla="*/ 1393372 h 2819400"/>
              <a:gd name="connsiteX118" fmla="*/ 21771 w 3810000"/>
              <a:gd name="connsiteY118" fmla="*/ 1186543 h 2819400"/>
              <a:gd name="connsiteX119" fmla="*/ 0 w 3810000"/>
              <a:gd name="connsiteY119" fmla="*/ 1284514 h 281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3810000" h="2819400">
                <a:moveTo>
                  <a:pt x="0" y="1284514"/>
                </a:moveTo>
                <a:lnTo>
                  <a:pt x="0" y="1284514"/>
                </a:lnTo>
                <a:cubicBezTo>
                  <a:pt x="25616" y="1079585"/>
                  <a:pt x="19754" y="1151487"/>
                  <a:pt x="32657" y="957943"/>
                </a:cubicBezTo>
                <a:cubicBezTo>
                  <a:pt x="46001" y="757786"/>
                  <a:pt x="24741" y="840173"/>
                  <a:pt x="65314" y="718457"/>
                </a:cubicBezTo>
                <a:cubicBezTo>
                  <a:pt x="89773" y="522791"/>
                  <a:pt x="63113" y="707690"/>
                  <a:pt x="87085" y="587829"/>
                </a:cubicBezTo>
                <a:cubicBezTo>
                  <a:pt x="95041" y="548048"/>
                  <a:pt x="99565" y="507576"/>
                  <a:pt x="108857" y="468086"/>
                </a:cubicBezTo>
                <a:cubicBezTo>
                  <a:pt x="114113" y="445747"/>
                  <a:pt x="114401" y="418999"/>
                  <a:pt x="130628" y="402772"/>
                </a:cubicBezTo>
                <a:lnTo>
                  <a:pt x="152400" y="381000"/>
                </a:lnTo>
                <a:cubicBezTo>
                  <a:pt x="171304" y="324284"/>
                  <a:pt x="150901" y="369267"/>
                  <a:pt x="185057" y="326572"/>
                </a:cubicBezTo>
                <a:cubicBezTo>
                  <a:pt x="201698" y="305771"/>
                  <a:pt x="206067" y="287165"/>
                  <a:pt x="228600" y="272143"/>
                </a:cubicBezTo>
                <a:cubicBezTo>
                  <a:pt x="242102" y="263142"/>
                  <a:pt x="258640" y="259373"/>
                  <a:pt x="272142" y="250372"/>
                </a:cubicBezTo>
                <a:cubicBezTo>
                  <a:pt x="323720" y="215987"/>
                  <a:pt x="256556" y="219280"/>
                  <a:pt x="359228" y="185057"/>
                </a:cubicBezTo>
                <a:cubicBezTo>
                  <a:pt x="380999" y="177800"/>
                  <a:pt x="402278" y="168852"/>
                  <a:pt x="424542" y="163286"/>
                </a:cubicBezTo>
                <a:lnTo>
                  <a:pt x="511628" y="141514"/>
                </a:lnTo>
                <a:lnTo>
                  <a:pt x="838200" y="163286"/>
                </a:lnTo>
                <a:cubicBezTo>
                  <a:pt x="871373" y="167613"/>
                  <a:pt x="903514" y="177800"/>
                  <a:pt x="936171" y="185057"/>
                </a:cubicBezTo>
                <a:cubicBezTo>
                  <a:pt x="1103085" y="181429"/>
                  <a:pt x="1270237" y="183788"/>
                  <a:pt x="1436914" y="174172"/>
                </a:cubicBezTo>
                <a:cubicBezTo>
                  <a:pt x="1459825" y="172850"/>
                  <a:pt x="1480247" y="158995"/>
                  <a:pt x="1502228" y="152400"/>
                </a:cubicBezTo>
                <a:cubicBezTo>
                  <a:pt x="1516558" y="148101"/>
                  <a:pt x="1531441" y="145813"/>
                  <a:pt x="1545771" y="141514"/>
                </a:cubicBezTo>
                <a:cubicBezTo>
                  <a:pt x="1745216" y="81681"/>
                  <a:pt x="1522599" y="151813"/>
                  <a:pt x="1643742" y="97972"/>
                </a:cubicBezTo>
                <a:cubicBezTo>
                  <a:pt x="1664713" y="88651"/>
                  <a:pt x="1689962" y="88930"/>
                  <a:pt x="1709057" y="76200"/>
                </a:cubicBezTo>
                <a:cubicBezTo>
                  <a:pt x="1719943" y="68943"/>
                  <a:pt x="1730012" y="60280"/>
                  <a:pt x="1741714" y="54429"/>
                </a:cubicBezTo>
                <a:cubicBezTo>
                  <a:pt x="1751977" y="49297"/>
                  <a:pt x="1764340" y="49116"/>
                  <a:pt x="1774371" y="43543"/>
                </a:cubicBezTo>
                <a:cubicBezTo>
                  <a:pt x="1797244" y="30836"/>
                  <a:pt x="1839685" y="0"/>
                  <a:pt x="1839685" y="0"/>
                </a:cubicBezTo>
                <a:cubicBezTo>
                  <a:pt x="1868714" y="3629"/>
                  <a:pt x="1899767" y="-366"/>
                  <a:pt x="1926771" y="10886"/>
                </a:cubicBezTo>
                <a:cubicBezTo>
                  <a:pt x="1945718" y="18781"/>
                  <a:pt x="1954729" y="41071"/>
                  <a:pt x="1970314" y="54429"/>
                </a:cubicBezTo>
                <a:cubicBezTo>
                  <a:pt x="1980247" y="62943"/>
                  <a:pt x="1992085" y="68943"/>
                  <a:pt x="2002971" y="76200"/>
                </a:cubicBezTo>
                <a:cubicBezTo>
                  <a:pt x="2017485" y="97971"/>
                  <a:pt x="2038240" y="116691"/>
                  <a:pt x="2046514" y="141514"/>
                </a:cubicBezTo>
                <a:cubicBezTo>
                  <a:pt x="2050143" y="152400"/>
                  <a:pt x="2050232" y="165212"/>
                  <a:pt x="2057400" y="174172"/>
                </a:cubicBezTo>
                <a:cubicBezTo>
                  <a:pt x="2065573" y="184388"/>
                  <a:pt x="2079171" y="188686"/>
                  <a:pt x="2090057" y="195943"/>
                </a:cubicBezTo>
                <a:cubicBezTo>
                  <a:pt x="2120890" y="288447"/>
                  <a:pt x="2077889" y="175664"/>
                  <a:pt x="2122714" y="250372"/>
                </a:cubicBezTo>
                <a:cubicBezTo>
                  <a:pt x="2128618" y="260211"/>
                  <a:pt x="2128468" y="272766"/>
                  <a:pt x="2133600" y="283029"/>
                </a:cubicBezTo>
                <a:cubicBezTo>
                  <a:pt x="2139451" y="294731"/>
                  <a:pt x="2149520" y="303984"/>
                  <a:pt x="2155371" y="315686"/>
                </a:cubicBezTo>
                <a:cubicBezTo>
                  <a:pt x="2160503" y="325949"/>
                  <a:pt x="2161125" y="338080"/>
                  <a:pt x="2166257" y="348343"/>
                </a:cubicBezTo>
                <a:cubicBezTo>
                  <a:pt x="2179990" y="375808"/>
                  <a:pt x="2189549" y="382521"/>
                  <a:pt x="2209800" y="402772"/>
                </a:cubicBezTo>
                <a:cubicBezTo>
                  <a:pt x="2213428" y="413658"/>
                  <a:pt x="2214016" y="426092"/>
                  <a:pt x="2220685" y="435429"/>
                </a:cubicBezTo>
                <a:cubicBezTo>
                  <a:pt x="2232616" y="452132"/>
                  <a:pt x="2264228" y="478972"/>
                  <a:pt x="2264228" y="478972"/>
                </a:cubicBezTo>
                <a:cubicBezTo>
                  <a:pt x="2267857" y="489858"/>
                  <a:pt x="2268069" y="502572"/>
                  <a:pt x="2275114" y="511629"/>
                </a:cubicBezTo>
                <a:cubicBezTo>
                  <a:pt x="2293475" y="535236"/>
                  <a:pt x="2338692" y="581517"/>
                  <a:pt x="2373085" y="598714"/>
                </a:cubicBezTo>
                <a:cubicBezTo>
                  <a:pt x="2383348" y="603846"/>
                  <a:pt x="2394856" y="605971"/>
                  <a:pt x="2405742" y="609600"/>
                </a:cubicBezTo>
                <a:cubicBezTo>
                  <a:pt x="2518228" y="602343"/>
                  <a:pt x="2631351" y="601810"/>
                  <a:pt x="2743200" y="587829"/>
                </a:cubicBezTo>
                <a:cubicBezTo>
                  <a:pt x="2777358" y="583559"/>
                  <a:pt x="2807216" y="560831"/>
                  <a:pt x="2841171" y="555172"/>
                </a:cubicBezTo>
                <a:lnTo>
                  <a:pt x="2906485" y="544286"/>
                </a:lnTo>
                <a:cubicBezTo>
                  <a:pt x="2973240" y="477531"/>
                  <a:pt x="2897897" y="543138"/>
                  <a:pt x="3004457" y="489857"/>
                </a:cubicBezTo>
                <a:cubicBezTo>
                  <a:pt x="3033485" y="475343"/>
                  <a:pt x="3060753" y="456577"/>
                  <a:pt x="3091542" y="446314"/>
                </a:cubicBezTo>
                <a:cubicBezTo>
                  <a:pt x="3113314" y="439057"/>
                  <a:pt x="3135549" y="433066"/>
                  <a:pt x="3156857" y="424543"/>
                </a:cubicBezTo>
                <a:cubicBezTo>
                  <a:pt x="3175000" y="417286"/>
                  <a:pt x="3192748" y="408951"/>
                  <a:pt x="3211285" y="402772"/>
                </a:cubicBezTo>
                <a:cubicBezTo>
                  <a:pt x="3225478" y="398041"/>
                  <a:pt x="3240314" y="395515"/>
                  <a:pt x="3254828" y="391886"/>
                </a:cubicBezTo>
                <a:cubicBezTo>
                  <a:pt x="3265714" y="384629"/>
                  <a:pt x="3275460" y="375268"/>
                  <a:pt x="3287485" y="370114"/>
                </a:cubicBezTo>
                <a:cubicBezTo>
                  <a:pt x="3300931" y="364351"/>
                  <a:pt x="3375777" y="350279"/>
                  <a:pt x="3385457" y="348343"/>
                </a:cubicBezTo>
                <a:cubicBezTo>
                  <a:pt x="3396343" y="341086"/>
                  <a:pt x="3405132" y="328195"/>
                  <a:pt x="3418114" y="326572"/>
                </a:cubicBezTo>
                <a:cubicBezTo>
                  <a:pt x="3489154" y="317692"/>
                  <a:pt x="3522292" y="390626"/>
                  <a:pt x="3559628" y="435429"/>
                </a:cubicBezTo>
                <a:cubicBezTo>
                  <a:pt x="3566198" y="443313"/>
                  <a:pt x="3574989" y="449186"/>
                  <a:pt x="3581400" y="457200"/>
                </a:cubicBezTo>
                <a:cubicBezTo>
                  <a:pt x="3589573" y="467416"/>
                  <a:pt x="3594556" y="480011"/>
                  <a:pt x="3603171" y="489857"/>
                </a:cubicBezTo>
                <a:cubicBezTo>
                  <a:pt x="3620067" y="509167"/>
                  <a:pt x="3657600" y="544286"/>
                  <a:pt x="3657600" y="544286"/>
                </a:cubicBezTo>
                <a:cubicBezTo>
                  <a:pt x="3683105" y="646307"/>
                  <a:pt x="3658213" y="610214"/>
                  <a:pt x="3712028" y="664029"/>
                </a:cubicBezTo>
                <a:cubicBezTo>
                  <a:pt x="3740824" y="779211"/>
                  <a:pt x="3701728" y="643577"/>
                  <a:pt x="3744685" y="740229"/>
                </a:cubicBezTo>
                <a:cubicBezTo>
                  <a:pt x="3754006" y="761200"/>
                  <a:pt x="3753727" y="786448"/>
                  <a:pt x="3766457" y="805543"/>
                </a:cubicBezTo>
                <a:cubicBezTo>
                  <a:pt x="3773714" y="816429"/>
                  <a:pt x="3782377" y="826498"/>
                  <a:pt x="3788228" y="838200"/>
                </a:cubicBezTo>
                <a:cubicBezTo>
                  <a:pt x="3799386" y="860517"/>
                  <a:pt x="3805859" y="904582"/>
                  <a:pt x="3810000" y="925286"/>
                </a:cubicBezTo>
                <a:cubicBezTo>
                  <a:pt x="3806371" y="1001486"/>
                  <a:pt x="3808203" y="1078143"/>
                  <a:pt x="3799114" y="1153886"/>
                </a:cubicBezTo>
                <a:cubicBezTo>
                  <a:pt x="3797181" y="1169998"/>
                  <a:pt x="3782474" y="1182034"/>
                  <a:pt x="3777342" y="1197429"/>
                </a:cubicBezTo>
                <a:cubicBezTo>
                  <a:pt x="3771491" y="1214981"/>
                  <a:pt x="3771325" y="1234007"/>
                  <a:pt x="3766457" y="1251857"/>
                </a:cubicBezTo>
                <a:cubicBezTo>
                  <a:pt x="3760419" y="1273998"/>
                  <a:pt x="3744685" y="1317172"/>
                  <a:pt x="3744685" y="1317172"/>
                </a:cubicBezTo>
                <a:cubicBezTo>
                  <a:pt x="3742229" y="1331910"/>
                  <a:pt x="3731773" y="1405359"/>
                  <a:pt x="3722914" y="1426029"/>
                </a:cubicBezTo>
                <a:cubicBezTo>
                  <a:pt x="3717760" y="1438054"/>
                  <a:pt x="3708399" y="1447800"/>
                  <a:pt x="3701142" y="1458686"/>
                </a:cubicBezTo>
                <a:cubicBezTo>
                  <a:pt x="3704771" y="1589315"/>
                  <a:pt x="3712028" y="1719893"/>
                  <a:pt x="3712028" y="1850572"/>
                </a:cubicBezTo>
                <a:cubicBezTo>
                  <a:pt x="3712028" y="1894266"/>
                  <a:pt x="3713992" y="1939439"/>
                  <a:pt x="3701142" y="1981200"/>
                </a:cubicBezTo>
                <a:cubicBezTo>
                  <a:pt x="3697767" y="1992167"/>
                  <a:pt x="3679032" y="1987566"/>
                  <a:pt x="3668485" y="1992086"/>
                </a:cubicBezTo>
                <a:cubicBezTo>
                  <a:pt x="3653570" y="1998478"/>
                  <a:pt x="3640136" y="2008159"/>
                  <a:pt x="3624942" y="2013857"/>
                </a:cubicBezTo>
                <a:cubicBezTo>
                  <a:pt x="3610934" y="2019110"/>
                  <a:pt x="3595730" y="2020444"/>
                  <a:pt x="3581400" y="2024743"/>
                </a:cubicBezTo>
                <a:cubicBezTo>
                  <a:pt x="3559419" y="2031337"/>
                  <a:pt x="3537857" y="2039257"/>
                  <a:pt x="3516085" y="2046514"/>
                </a:cubicBezTo>
                <a:cubicBezTo>
                  <a:pt x="3505199" y="2050143"/>
                  <a:pt x="3494560" y="2054617"/>
                  <a:pt x="3483428" y="2057400"/>
                </a:cubicBezTo>
                <a:lnTo>
                  <a:pt x="3439885" y="2068286"/>
                </a:lnTo>
                <a:cubicBezTo>
                  <a:pt x="3428999" y="2075543"/>
                  <a:pt x="3419253" y="2084903"/>
                  <a:pt x="3407228" y="2090057"/>
                </a:cubicBezTo>
                <a:cubicBezTo>
                  <a:pt x="3367763" y="2106971"/>
                  <a:pt x="3263500" y="2109482"/>
                  <a:pt x="3243942" y="2111829"/>
                </a:cubicBezTo>
                <a:cubicBezTo>
                  <a:pt x="3192992" y="2117943"/>
                  <a:pt x="3142159" y="2125163"/>
                  <a:pt x="3091542" y="2133600"/>
                </a:cubicBezTo>
                <a:cubicBezTo>
                  <a:pt x="3069771" y="2137229"/>
                  <a:pt x="3047774" y="2139698"/>
                  <a:pt x="3026228" y="2144486"/>
                </a:cubicBezTo>
                <a:cubicBezTo>
                  <a:pt x="3015027" y="2146975"/>
                  <a:pt x="3004562" y="2152075"/>
                  <a:pt x="2993571" y="2155372"/>
                </a:cubicBezTo>
                <a:cubicBezTo>
                  <a:pt x="2968269" y="2162963"/>
                  <a:pt x="2942771" y="2169886"/>
                  <a:pt x="2917371" y="2177143"/>
                </a:cubicBezTo>
                <a:cubicBezTo>
                  <a:pt x="2906485" y="2184400"/>
                  <a:pt x="2897009" y="2194443"/>
                  <a:pt x="2884714" y="2198914"/>
                </a:cubicBezTo>
                <a:cubicBezTo>
                  <a:pt x="2856593" y="2209140"/>
                  <a:pt x="2797628" y="2220686"/>
                  <a:pt x="2797628" y="2220686"/>
                </a:cubicBezTo>
                <a:cubicBezTo>
                  <a:pt x="2770070" y="2248244"/>
                  <a:pt x="2683580" y="2323348"/>
                  <a:pt x="2667000" y="2373086"/>
                </a:cubicBezTo>
                <a:cubicBezTo>
                  <a:pt x="2645708" y="2436961"/>
                  <a:pt x="2645872" y="2442878"/>
                  <a:pt x="2590800" y="2525486"/>
                </a:cubicBezTo>
                <a:cubicBezTo>
                  <a:pt x="2579414" y="2542565"/>
                  <a:pt x="2561771" y="2554515"/>
                  <a:pt x="2547257" y="2569029"/>
                </a:cubicBezTo>
                <a:cubicBezTo>
                  <a:pt x="2531070" y="2617589"/>
                  <a:pt x="2531993" y="2621937"/>
                  <a:pt x="2492828" y="2677886"/>
                </a:cubicBezTo>
                <a:cubicBezTo>
                  <a:pt x="2484000" y="2690498"/>
                  <a:pt x="2471057" y="2699657"/>
                  <a:pt x="2460171" y="2710543"/>
                </a:cubicBezTo>
                <a:cubicBezTo>
                  <a:pt x="2442879" y="2762421"/>
                  <a:pt x="2451173" y="2769993"/>
                  <a:pt x="2416628" y="2797629"/>
                </a:cubicBezTo>
                <a:cubicBezTo>
                  <a:pt x="2406412" y="2805802"/>
                  <a:pt x="2394857" y="2812143"/>
                  <a:pt x="2383971" y="2819400"/>
                </a:cubicBezTo>
                <a:cubicBezTo>
                  <a:pt x="2365828" y="2815771"/>
                  <a:pt x="2345606" y="2817694"/>
                  <a:pt x="2329542" y="2808514"/>
                </a:cubicBezTo>
                <a:cubicBezTo>
                  <a:pt x="2247511" y="2761639"/>
                  <a:pt x="2397465" y="2777111"/>
                  <a:pt x="2253342" y="2743200"/>
                </a:cubicBezTo>
                <a:cubicBezTo>
                  <a:pt x="2210810" y="2733192"/>
                  <a:pt x="2166257" y="2735943"/>
                  <a:pt x="2122714" y="2732314"/>
                </a:cubicBezTo>
                <a:cubicBezTo>
                  <a:pt x="2100943" y="2721428"/>
                  <a:pt x="2080191" y="2708204"/>
                  <a:pt x="2057400" y="2699657"/>
                </a:cubicBezTo>
                <a:cubicBezTo>
                  <a:pt x="2021928" y="2686355"/>
                  <a:pt x="1984750" y="2678141"/>
                  <a:pt x="1948542" y="2667000"/>
                </a:cubicBezTo>
                <a:cubicBezTo>
                  <a:pt x="1880867" y="2646177"/>
                  <a:pt x="1954169" y="2665684"/>
                  <a:pt x="1872342" y="2645229"/>
                </a:cubicBezTo>
                <a:cubicBezTo>
                  <a:pt x="1868714" y="2634343"/>
                  <a:pt x="1869571" y="2620686"/>
                  <a:pt x="1861457" y="2612572"/>
                </a:cubicBezTo>
                <a:cubicBezTo>
                  <a:pt x="1853343" y="2604458"/>
                  <a:pt x="1839932" y="2604469"/>
                  <a:pt x="1828800" y="2601686"/>
                </a:cubicBezTo>
                <a:cubicBezTo>
                  <a:pt x="1775856" y="2588450"/>
                  <a:pt x="1779258" y="2594816"/>
                  <a:pt x="1730828" y="2579914"/>
                </a:cubicBezTo>
                <a:cubicBezTo>
                  <a:pt x="1697927" y="2569790"/>
                  <a:pt x="1632857" y="2547257"/>
                  <a:pt x="1632857" y="2547257"/>
                </a:cubicBezTo>
                <a:cubicBezTo>
                  <a:pt x="1618343" y="2532743"/>
                  <a:pt x="1602672" y="2519299"/>
                  <a:pt x="1589314" y="2503714"/>
                </a:cubicBezTo>
                <a:cubicBezTo>
                  <a:pt x="1580800" y="2493781"/>
                  <a:pt x="1575715" y="2481273"/>
                  <a:pt x="1567542" y="2471057"/>
                </a:cubicBezTo>
                <a:cubicBezTo>
                  <a:pt x="1534691" y="2429994"/>
                  <a:pt x="1497768" y="2387391"/>
                  <a:pt x="1458685" y="2351314"/>
                </a:cubicBezTo>
                <a:cubicBezTo>
                  <a:pt x="1406197" y="2302864"/>
                  <a:pt x="1378398" y="2265417"/>
                  <a:pt x="1317171" y="2242457"/>
                </a:cubicBezTo>
                <a:cubicBezTo>
                  <a:pt x="1303163" y="2237204"/>
                  <a:pt x="1288142" y="2235200"/>
                  <a:pt x="1273628" y="2231572"/>
                </a:cubicBezTo>
                <a:cubicBezTo>
                  <a:pt x="1161142" y="2235200"/>
                  <a:pt x="1048560" y="2236542"/>
                  <a:pt x="936171" y="2242457"/>
                </a:cubicBezTo>
                <a:cubicBezTo>
                  <a:pt x="910549" y="2243806"/>
                  <a:pt x="885472" y="2250509"/>
                  <a:pt x="859971" y="2253343"/>
                </a:cubicBezTo>
                <a:cubicBezTo>
                  <a:pt x="820137" y="2257769"/>
                  <a:pt x="780142" y="2260600"/>
                  <a:pt x="740228" y="2264229"/>
                </a:cubicBezTo>
                <a:cubicBezTo>
                  <a:pt x="722451" y="2267784"/>
                  <a:pt x="587405" y="2296886"/>
                  <a:pt x="555171" y="2296886"/>
                </a:cubicBezTo>
                <a:cubicBezTo>
                  <a:pt x="504242" y="2296886"/>
                  <a:pt x="453571" y="2289629"/>
                  <a:pt x="402771" y="2286000"/>
                </a:cubicBezTo>
                <a:cubicBezTo>
                  <a:pt x="339278" y="2249718"/>
                  <a:pt x="323301" y="2245810"/>
                  <a:pt x="272142" y="2198914"/>
                </a:cubicBezTo>
                <a:cubicBezTo>
                  <a:pt x="245663" y="2174641"/>
                  <a:pt x="215867" y="2152602"/>
                  <a:pt x="195942" y="2122714"/>
                </a:cubicBezTo>
                <a:cubicBezTo>
                  <a:pt x="188685" y="2111828"/>
                  <a:pt x="180436" y="2101542"/>
                  <a:pt x="174171" y="2090057"/>
                </a:cubicBezTo>
                <a:cubicBezTo>
                  <a:pt x="158630" y="2061565"/>
                  <a:pt x="153576" y="2025921"/>
                  <a:pt x="130628" y="2002972"/>
                </a:cubicBezTo>
                <a:lnTo>
                  <a:pt x="108857" y="1981200"/>
                </a:lnTo>
                <a:lnTo>
                  <a:pt x="76200" y="1883229"/>
                </a:lnTo>
                <a:lnTo>
                  <a:pt x="65314" y="1850572"/>
                </a:lnTo>
                <a:cubicBezTo>
                  <a:pt x="61685" y="1810658"/>
                  <a:pt x="56334" y="1770863"/>
                  <a:pt x="54428" y="1730829"/>
                </a:cubicBezTo>
                <a:cubicBezTo>
                  <a:pt x="49075" y="1618412"/>
                  <a:pt x="51375" y="1505643"/>
                  <a:pt x="43542" y="1393372"/>
                </a:cubicBezTo>
                <a:cubicBezTo>
                  <a:pt x="17595" y="1021468"/>
                  <a:pt x="21771" y="1431299"/>
                  <a:pt x="21771" y="1186543"/>
                </a:cubicBezTo>
                <a:lnTo>
                  <a:pt x="0" y="1284514"/>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2141211" y="98361"/>
            <a:ext cx="2299732" cy="369332"/>
          </a:xfrm>
          <a:prstGeom prst="rect">
            <a:avLst/>
          </a:prstGeom>
        </p:spPr>
        <p:txBody>
          <a:bodyPr wrap="none">
            <a:spAutoFit/>
          </a:bodyPr>
          <a:lstStyle/>
          <a:p>
            <a:r>
              <a:rPr lang="en-IN" b="1" dirty="0" smtClean="0">
                <a:solidFill>
                  <a:schemeClr val="dk1"/>
                </a:solidFill>
              </a:rPr>
              <a:t>Go to Market Strategy</a:t>
            </a:r>
            <a:endParaRPr lang="en-IN" b="1" dirty="0"/>
          </a:p>
        </p:txBody>
      </p:sp>
      <p:sp>
        <p:nvSpPr>
          <p:cNvPr id="6" name="Rounded Rectangle 5"/>
          <p:cNvSpPr/>
          <p:nvPr/>
        </p:nvSpPr>
        <p:spPr>
          <a:xfrm>
            <a:off x="4448034"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1/1</a:t>
            </a:r>
            <a:endParaRPr lang="en-IN" b="1" dirty="0">
              <a:solidFill>
                <a:schemeClr val="tx1"/>
              </a:solidFill>
            </a:endParaRPr>
          </a:p>
        </p:txBody>
      </p:sp>
      <p:sp>
        <p:nvSpPr>
          <p:cNvPr id="22" name="Rectangle 21"/>
          <p:cNvSpPr/>
          <p:nvPr/>
        </p:nvSpPr>
        <p:spPr>
          <a:xfrm>
            <a:off x="2407343" y="1204867"/>
            <a:ext cx="1527982" cy="276999"/>
          </a:xfrm>
          <a:prstGeom prst="rect">
            <a:avLst/>
          </a:prstGeom>
        </p:spPr>
        <p:txBody>
          <a:bodyPr wrap="none">
            <a:spAutoFit/>
          </a:bodyPr>
          <a:lstStyle/>
          <a:p>
            <a:r>
              <a:rPr lang="en-IN" sz="1200" b="1" dirty="0" smtClean="0">
                <a:latin typeface="Söhne"/>
              </a:rPr>
              <a:t>Digital Campaigns</a:t>
            </a:r>
            <a:endParaRPr lang="en-IN" sz="1200" dirty="0"/>
          </a:p>
        </p:txBody>
      </p:sp>
      <p:sp>
        <p:nvSpPr>
          <p:cNvPr id="28" name="Rectangle 27"/>
          <p:cNvSpPr/>
          <p:nvPr/>
        </p:nvSpPr>
        <p:spPr>
          <a:xfrm>
            <a:off x="4147596" y="1608789"/>
            <a:ext cx="1842171" cy="276999"/>
          </a:xfrm>
          <a:prstGeom prst="rect">
            <a:avLst/>
          </a:prstGeom>
        </p:spPr>
        <p:txBody>
          <a:bodyPr wrap="none">
            <a:spAutoFit/>
          </a:bodyPr>
          <a:lstStyle/>
          <a:p>
            <a:r>
              <a:rPr lang="en-IN" sz="1200" b="1" dirty="0" smtClean="0">
                <a:latin typeface="Söhne"/>
              </a:rPr>
              <a:t>Social Media Presence</a:t>
            </a:r>
            <a:endParaRPr lang="en-IN" sz="1200" dirty="0"/>
          </a:p>
        </p:txBody>
      </p:sp>
      <p:sp>
        <p:nvSpPr>
          <p:cNvPr id="29" name="Rectangle 28"/>
          <p:cNvSpPr/>
          <p:nvPr/>
        </p:nvSpPr>
        <p:spPr>
          <a:xfrm>
            <a:off x="10362047" y="672603"/>
            <a:ext cx="1487908" cy="276999"/>
          </a:xfrm>
          <a:prstGeom prst="rect">
            <a:avLst/>
          </a:prstGeom>
        </p:spPr>
        <p:txBody>
          <a:bodyPr wrap="none">
            <a:spAutoFit/>
          </a:bodyPr>
          <a:lstStyle/>
          <a:p>
            <a:r>
              <a:rPr lang="en-IN" sz="1200" b="1" dirty="0">
                <a:latin typeface="Söhne"/>
              </a:rPr>
              <a:t>SEO </a:t>
            </a:r>
            <a:r>
              <a:rPr lang="en-IN" sz="1200" b="1" dirty="0" smtClean="0">
                <a:latin typeface="Söhne"/>
              </a:rPr>
              <a:t>Optimization</a:t>
            </a:r>
            <a:endParaRPr lang="en-IN" sz="1200" dirty="0"/>
          </a:p>
        </p:txBody>
      </p:sp>
      <p:sp>
        <p:nvSpPr>
          <p:cNvPr id="30" name="Rectangle 29"/>
          <p:cNvSpPr/>
          <p:nvPr/>
        </p:nvSpPr>
        <p:spPr>
          <a:xfrm>
            <a:off x="6573285" y="688683"/>
            <a:ext cx="1384418" cy="276999"/>
          </a:xfrm>
          <a:prstGeom prst="rect">
            <a:avLst/>
          </a:prstGeom>
        </p:spPr>
        <p:txBody>
          <a:bodyPr wrap="none">
            <a:spAutoFit/>
          </a:bodyPr>
          <a:lstStyle/>
          <a:p>
            <a:r>
              <a:rPr lang="en-IN" sz="1200" b="1" dirty="0">
                <a:latin typeface="Söhne"/>
              </a:rPr>
              <a:t>PPC Advertising</a:t>
            </a:r>
            <a:endParaRPr lang="en-IN" sz="1200" dirty="0"/>
          </a:p>
        </p:txBody>
      </p:sp>
      <p:sp>
        <p:nvSpPr>
          <p:cNvPr id="31" name="Rectangle 30"/>
          <p:cNvSpPr/>
          <p:nvPr/>
        </p:nvSpPr>
        <p:spPr>
          <a:xfrm>
            <a:off x="8203187" y="1217931"/>
            <a:ext cx="1824538" cy="276999"/>
          </a:xfrm>
          <a:prstGeom prst="rect">
            <a:avLst/>
          </a:prstGeom>
        </p:spPr>
        <p:txBody>
          <a:bodyPr wrap="none">
            <a:spAutoFit/>
          </a:bodyPr>
          <a:lstStyle/>
          <a:p>
            <a:r>
              <a:rPr lang="en-IN" sz="1200" b="1" dirty="0">
                <a:latin typeface="Söhne"/>
              </a:rPr>
              <a:t>Strategic Partnerships</a:t>
            </a:r>
            <a:endParaRPr lang="en-IN" sz="1200" dirty="0"/>
          </a:p>
        </p:txBody>
      </p:sp>
      <p:sp>
        <p:nvSpPr>
          <p:cNvPr id="32" name="Rectangle 31"/>
          <p:cNvSpPr/>
          <p:nvPr/>
        </p:nvSpPr>
        <p:spPr>
          <a:xfrm>
            <a:off x="2407343" y="1481866"/>
            <a:ext cx="1527982" cy="1600438"/>
          </a:xfrm>
          <a:prstGeom prst="rect">
            <a:avLst/>
          </a:prstGeom>
        </p:spPr>
        <p:txBody>
          <a:bodyPr wrap="square">
            <a:spAutoFit/>
          </a:bodyPr>
          <a:lstStyle/>
          <a:p>
            <a:r>
              <a:rPr lang="en-US" sz="1400" dirty="0" smtClean="0">
                <a:solidFill>
                  <a:srgbClr val="0F0F0F"/>
                </a:solidFill>
              </a:rPr>
              <a:t>Targeted </a:t>
            </a:r>
            <a:r>
              <a:rPr lang="en-US" sz="1400" dirty="0">
                <a:solidFill>
                  <a:srgbClr val="0F0F0F"/>
                </a:solidFill>
              </a:rPr>
              <a:t>digital campaigns across various online platforms to create awareness about IT-Mart24's unique offerings.</a:t>
            </a:r>
            <a:endParaRPr lang="en-IN" sz="1400" dirty="0"/>
          </a:p>
        </p:txBody>
      </p:sp>
      <p:sp>
        <p:nvSpPr>
          <p:cNvPr id="33" name="Rectangle 32"/>
          <p:cNvSpPr/>
          <p:nvPr/>
        </p:nvSpPr>
        <p:spPr>
          <a:xfrm>
            <a:off x="4169907" y="1885788"/>
            <a:ext cx="1696812" cy="1600438"/>
          </a:xfrm>
          <a:prstGeom prst="rect">
            <a:avLst/>
          </a:prstGeom>
        </p:spPr>
        <p:txBody>
          <a:bodyPr wrap="square">
            <a:spAutoFit/>
          </a:bodyPr>
          <a:lstStyle/>
          <a:p>
            <a:r>
              <a:rPr lang="en-US" sz="1400" dirty="0" smtClean="0">
                <a:solidFill>
                  <a:srgbClr val="0F0F0F"/>
                </a:solidFill>
              </a:rPr>
              <a:t>A </a:t>
            </a:r>
            <a:r>
              <a:rPr lang="en-US" sz="1400" dirty="0">
                <a:solidFill>
                  <a:srgbClr val="0F0F0F"/>
                </a:solidFill>
              </a:rPr>
              <a:t>robust social media presence to engage with the target audience, sharing valuable content and updates.</a:t>
            </a:r>
            <a:endParaRPr lang="en-IN" sz="1400" dirty="0"/>
          </a:p>
        </p:txBody>
      </p:sp>
      <p:sp>
        <p:nvSpPr>
          <p:cNvPr id="34" name="Rectangle 33"/>
          <p:cNvSpPr/>
          <p:nvPr/>
        </p:nvSpPr>
        <p:spPr>
          <a:xfrm>
            <a:off x="10261561" y="949602"/>
            <a:ext cx="1817914" cy="2031325"/>
          </a:xfrm>
          <a:prstGeom prst="rect">
            <a:avLst/>
          </a:prstGeom>
        </p:spPr>
        <p:txBody>
          <a:bodyPr wrap="square">
            <a:spAutoFit/>
          </a:bodyPr>
          <a:lstStyle/>
          <a:p>
            <a:r>
              <a:rPr lang="en-US" sz="1400" dirty="0" smtClean="0">
                <a:solidFill>
                  <a:srgbClr val="0F0F0F"/>
                </a:solidFill>
              </a:rPr>
              <a:t>A </a:t>
            </a:r>
            <a:r>
              <a:rPr lang="en-US" sz="1400" dirty="0">
                <a:solidFill>
                  <a:srgbClr val="0F0F0F"/>
                </a:solidFill>
              </a:rPr>
              <a:t>comprehensive SEO strategy to enhance the platform's visibility, making it easily discoverable by users searching for software, hosting, AI tools, and digital tutorials.</a:t>
            </a:r>
            <a:endParaRPr lang="en-IN" sz="1400" dirty="0"/>
          </a:p>
        </p:txBody>
      </p:sp>
      <p:sp>
        <p:nvSpPr>
          <p:cNvPr id="35" name="Rectangle 34"/>
          <p:cNvSpPr/>
          <p:nvPr/>
        </p:nvSpPr>
        <p:spPr>
          <a:xfrm>
            <a:off x="6521158" y="965682"/>
            <a:ext cx="1682029" cy="1384995"/>
          </a:xfrm>
          <a:prstGeom prst="rect">
            <a:avLst/>
          </a:prstGeom>
        </p:spPr>
        <p:txBody>
          <a:bodyPr wrap="square">
            <a:spAutoFit/>
          </a:bodyPr>
          <a:lstStyle/>
          <a:p>
            <a:r>
              <a:rPr lang="en-US" sz="1400" dirty="0" smtClean="0">
                <a:solidFill>
                  <a:srgbClr val="0F0F0F"/>
                </a:solidFill>
              </a:rPr>
              <a:t>Targeted </a:t>
            </a:r>
            <a:r>
              <a:rPr lang="en-US" sz="1400" dirty="0">
                <a:solidFill>
                  <a:srgbClr val="0F0F0F"/>
                </a:solidFill>
              </a:rPr>
              <a:t>PPC campaigns to drive immediate traffic and capture users actively seeking digital solutions.</a:t>
            </a:r>
            <a:endParaRPr lang="en-IN" sz="1400" dirty="0"/>
          </a:p>
        </p:txBody>
      </p:sp>
      <p:sp>
        <p:nvSpPr>
          <p:cNvPr id="37" name="Rectangle 36"/>
          <p:cNvSpPr/>
          <p:nvPr/>
        </p:nvSpPr>
        <p:spPr>
          <a:xfrm>
            <a:off x="8298630" y="1494930"/>
            <a:ext cx="1829156" cy="1815882"/>
          </a:xfrm>
          <a:prstGeom prst="rect">
            <a:avLst/>
          </a:prstGeom>
        </p:spPr>
        <p:txBody>
          <a:bodyPr wrap="square">
            <a:spAutoFit/>
          </a:bodyPr>
          <a:lstStyle/>
          <a:p>
            <a:r>
              <a:rPr lang="en-US" sz="1400" dirty="0" smtClean="0">
                <a:solidFill>
                  <a:srgbClr val="0F0F0F"/>
                </a:solidFill>
              </a:rPr>
              <a:t>Strategic </a:t>
            </a:r>
            <a:r>
              <a:rPr lang="en-US" sz="1400" dirty="0">
                <a:solidFill>
                  <a:srgbClr val="0F0F0F"/>
                </a:solidFill>
              </a:rPr>
              <a:t>partnerships with industry influencers, technology communities, and related platforms to expand reach and credibility.</a:t>
            </a:r>
            <a:endParaRPr lang="en-IN" sz="1400" dirty="0"/>
          </a:p>
        </p:txBody>
      </p:sp>
      <p:sp>
        <p:nvSpPr>
          <p:cNvPr id="40" name="Rectangle 39"/>
          <p:cNvSpPr/>
          <p:nvPr/>
        </p:nvSpPr>
        <p:spPr>
          <a:xfrm>
            <a:off x="2603286" y="4467267"/>
            <a:ext cx="1688667" cy="307777"/>
          </a:xfrm>
          <a:prstGeom prst="rect">
            <a:avLst/>
          </a:prstGeom>
        </p:spPr>
        <p:txBody>
          <a:bodyPr wrap="none">
            <a:spAutoFit/>
          </a:bodyPr>
          <a:lstStyle/>
          <a:p>
            <a:r>
              <a:rPr lang="en-IN" sz="1400" b="1" smtClean="0"/>
              <a:t>Educational Content</a:t>
            </a:r>
            <a:endParaRPr lang="en-IN" sz="1400" dirty="0"/>
          </a:p>
        </p:txBody>
      </p:sp>
      <p:sp>
        <p:nvSpPr>
          <p:cNvPr id="41" name="Rectangle 40"/>
          <p:cNvSpPr/>
          <p:nvPr/>
        </p:nvSpPr>
        <p:spPr>
          <a:xfrm>
            <a:off x="2587458" y="4775044"/>
            <a:ext cx="1799124" cy="1169551"/>
          </a:xfrm>
          <a:prstGeom prst="rect">
            <a:avLst/>
          </a:prstGeom>
        </p:spPr>
        <p:txBody>
          <a:bodyPr wrap="square">
            <a:spAutoFit/>
          </a:bodyPr>
          <a:lstStyle/>
          <a:p>
            <a:r>
              <a:rPr lang="en-US" sz="1400" dirty="0" smtClean="0">
                <a:solidFill>
                  <a:srgbClr val="0F0F0F"/>
                </a:solidFill>
              </a:rPr>
              <a:t>Educational </a:t>
            </a:r>
            <a:r>
              <a:rPr lang="en-US" sz="1400" dirty="0">
                <a:solidFill>
                  <a:srgbClr val="0F0F0F"/>
                </a:solidFill>
              </a:rPr>
              <a:t>content to guide users in making informed decisions about their digital products.</a:t>
            </a:r>
            <a:endParaRPr lang="en-IN" sz="1400" dirty="0"/>
          </a:p>
        </p:txBody>
      </p:sp>
      <p:sp>
        <p:nvSpPr>
          <p:cNvPr id="42" name="Rectangle 41"/>
          <p:cNvSpPr/>
          <p:nvPr/>
        </p:nvSpPr>
        <p:spPr>
          <a:xfrm>
            <a:off x="4612004" y="4559578"/>
            <a:ext cx="1701107" cy="307777"/>
          </a:xfrm>
          <a:prstGeom prst="rect">
            <a:avLst/>
          </a:prstGeom>
        </p:spPr>
        <p:txBody>
          <a:bodyPr wrap="none">
            <a:spAutoFit/>
          </a:bodyPr>
          <a:lstStyle/>
          <a:p>
            <a:r>
              <a:rPr lang="en-IN" sz="1400" b="1" dirty="0"/>
              <a:t>Community Building</a:t>
            </a:r>
            <a:endParaRPr lang="en-IN" sz="1400" dirty="0"/>
          </a:p>
        </p:txBody>
      </p:sp>
      <p:sp>
        <p:nvSpPr>
          <p:cNvPr id="43" name="Rectangle 42"/>
          <p:cNvSpPr/>
          <p:nvPr/>
        </p:nvSpPr>
        <p:spPr>
          <a:xfrm>
            <a:off x="4349593" y="4801794"/>
            <a:ext cx="2256953" cy="1384995"/>
          </a:xfrm>
          <a:prstGeom prst="rect">
            <a:avLst/>
          </a:prstGeom>
        </p:spPr>
        <p:txBody>
          <a:bodyPr wrap="square">
            <a:spAutoFit/>
          </a:bodyPr>
          <a:lstStyle/>
          <a:p>
            <a:r>
              <a:rPr lang="en-US" sz="1400" dirty="0">
                <a:solidFill>
                  <a:srgbClr val="0F0F0F"/>
                </a:solidFill>
              </a:rPr>
              <a:t>Foster a sense of community among users by encouraging discussions, sharing success stories, and providing a platform for knowledge exchange</a:t>
            </a:r>
            <a:endParaRPr lang="en-IN" sz="1400" dirty="0"/>
          </a:p>
        </p:txBody>
      </p:sp>
      <p:sp>
        <p:nvSpPr>
          <p:cNvPr id="44" name="Rectangle 43"/>
          <p:cNvSpPr/>
          <p:nvPr/>
        </p:nvSpPr>
        <p:spPr>
          <a:xfrm rot="21300084">
            <a:off x="3192486" y="778006"/>
            <a:ext cx="2206694" cy="369332"/>
          </a:xfrm>
          <a:prstGeom prst="rect">
            <a:avLst/>
          </a:prstGeom>
        </p:spPr>
        <p:txBody>
          <a:bodyPr wrap="none">
            <a:spAutoFit/>
          </a:bodyPr>
          <a:lstStyle/>
          <a:p>
            <a:r>
              <a:rPr lang="en-IN" i="1" dirty="0">
                <a:solidFill>
                  <a:srgbClr val="0F0F0F"/>
                </a:solidFill>
                <a:latin typeface="Söhne"/>
              </a:rPr>
              <a:t>Awareness Building</a:t>
            </a:r>
            <a:endParaRPr lang="en-IN" dirty="0"/>
          </a:p>
        </p:txBody>
      </p:sp>
      <p:sp>
        <p:nvSpPr>
          <p:cNvPr id="45" name="Rectangle 44"/>
          <p:cNvSpPr/>
          <p:nvPr/>
        </p:nvSpPr>
        <p:spPr>
          <a:xfrm rot="21389660">
            <a:off x="8063405" y="527367"/>
            <a:ext cx="1843197" cy="369332"/>
          </a:xfrm>
          <a:prstGeom prst="rect">
            <a:avLst/>
          </a:prstGeom>
        </p:spPr>
        <p:txBody>
          <a:bodyPr wrap="none">
            <a:spAutoFit/>
          </a:bodyPr>
          <a:lstStyle/>
          <a:p>
            <a:r>
              <a:rPr lang="en-IN" i="1" dirty="0">
                <a:solidFill>
                  <a:srgbClr val="0F0F0F"/>
                </a:solidFill>
                <a:latin typeface="Söhne"/>
              </a:rPr>
              <a:t>User Acquisition</a:t>
            </a:r>
            <a:endParaRPr lang="en-IN" dirty="0"/>
          </a:p>
        </p:txBody>
      </p:sp>
      <p:sp>
        <p:nvSpPr>
          <p:cNvPr id="48" name="Rectangle 47"/>
          <p:cNvSpPr/>
          <p:nvPr/>
        </p:nvSpPr>
        <p:spPr>
          <a:xfrm rot="21443436">
            <a:off x="2634989" y="3983608"/>
            <a:ext cx="2993127" cy="369332"/>
          </a:xfrm>
          <a:prstGeom prst="rect">
            <a:avLst/>
          </a:prstGeom>
        </p:spPr>
        <p:txBody>
          <a:bodyPr wrap="none">
            <a:spAutoFit/>
          </a:bodyPr>
          <a:lstStyle/>
          <a:p>
            <a:r>
              <a:rPr lang="en-IN" i="1" dirty="0">
                <a:solidFill>
                  <a:srgbClr val="0F0F0F"/>
                </a:solidFill>
                <a:latin typeface="Söhne"/>
              </a:rPr>
              <a:t>Engagement and Retention</a:t>
            </a:r>
            <a:endParaRPr lang="en-IN" dirty="0"/>
          </a:p>
        </p:txBody>
      </p:sp>
      <p:sp>
        <p:nvSpPr>
          <p:cNvPr id="49" name="Rectangle 48"/>
          <p:cNvSpPr/>
          <p:nvPr/>
        </p:nvSpPr>
        <p:spPr>
          <a:xfrm>
            <a:off x="7160717" y="4386786"/>
            <a:ext cx="2303323" cy="307777"/>
          </a:xfrm>
          <a:prstGeom prst="rect">
            <a:avLst/>
          </a:prstGeom>
        </p:spPr>
        <p:txBody>
          <a:bodyPr wrap="none">
            <a:spAutoFit/>
          </a:bodyPr>
          <a:lstStyle/>
          <a:p>
            <a:r>
              <a:rPr lang="en-IN" sz="1400" b="1" dirty="0"/>
              <a:t>Tailored Marketing Packages</a:t>
            </a:r>
            <a:endParaRPr lang="en-IN" sz="1400" dirty="0"/>
          </a:p>
        </p:txBody>
      </p:sp>
      <p:sp>
        <p:nvSpPr>
          <p:cNvPr id="50" name="Rectangle 49"/>
          <p:cNvSpPr/>
          <p:nvPr/>
        </p:nvSpPr>
        <p:spPr>
          <a:xfrm>
            <a:off x="7135631" y="4728775"/>
            <a:ext cx="2533579" cy="954107"/>
          </a:xfrm>
          <a:prstGeom prst="rect">
            <a:avLst/>
          </a:prstGeom>
        </p:spPr>
        <p:txBody>
          <a:bodyPr wrap="square">
            <a:spAutoFit/>
          </a:bodyPr>
          <a:lstStyle/>
          <a:p>
            <a:r>
              <a:rPr lang="en-US" sz="1400" dirty="0" smtClean="0">
                <a:solidFill>
                  <a:srgbClr val="0F0F0F"/>
                </a:solidFill>
              </a:rPr>
              <a:t>Tailored </a:t>
            </a:r>
            <a:r>
              <a:rPr lang="en-US" sz="1400" dirty="0">
                <a:solidFill>
                  <a:srgbClr val="0F0F0F"/>
                </a:solidFill>
              </a:rPr>
              <a:t>marketing packages for companies looking to leverage premium listings, ensuring enhanced visibility and reach.</a:t>
            </a:r>
            <a:endParaRPr lang="en-IN" sz="1400" dirty="0"/>
          </a:p>
        </p:txBody>
      </p:sp>
      <p:sp>
        <p:nvSpPr>
          <p:cNvPr id="51" name="Rectangle 50"/>
          <p:cNvSpPr/>
          <p:nvPr/>
        </p:nvSpPr>
        <p:spPr>
          <a:xfrm>
            <a:off x="9630399" y="4778624"/>
            <a:ext cx="1833002" cy="307777"/>
          </a:xfrm>
          <a:prstGeom prst="rect">
            <a:avLst/>
          </a:prstGeom>
        </p:spPr>
        <p:txBody>
          <a:bodyPr wrap="none">
            <a:spAutoFit/>
          </a:bodyPr>
          <a:lstStyle/>
          <a:p>
            <a:r>
              <a:rPr lang="en-IN" sz="1400" b="1" dirty="0"/>
              <a:t>Exclusive Partnerships</a:t>
            </a:r>
            <a:endParaRPr lang="en-IN" sz="1400" dirty="0"/>
          </a:p>
        </p:txBody>
      </p:sp>
      <p:sp>
        <p:nvSpPr>
          <p:cNvPr id="52" name="Rectangle 51"/>
          <p:cNvSpPr/>
          <p:nvPr/>
        </p:nvSpPr>
        <p:spPr>
          <a:xfrm>
            <a:off x="9597215" y="5132785"/>
            <a:ext cx="2223272" cy="1169551"/>
          </a:xfrm>
          <a:prstGeom prst="rect">
            <a:avLst/>
          </a:prstGeom>
        </p:spPr>
        <p:txBody>
          <a:bodyPr wrap="square">
            <a:spAutoFit/>
          </a:bodyPr>
          <a:lstStyle/>
          <a:p>
            <a:r>
              <a:rPr lang="en-US" sz="1400" dirty="0" smtClean="0">
                <a:solidFill>
                  <a:srgbClr val="0F0F0F"/>
                </a:solidFill>
              </a:rPr>
              <a:t>Exclusive </a:t>
            </a:r>
            <a:r>
              <a:rPr lang="en-US" sz="1400" dirty="0">
                <a:solidFill>
                  <a:srgbClr val="0F0F0F"/>
                </a:solidFill>
              </a:rPr>
              <a:t>partnerships with select software, hosting, AI, and tutorial providers, offering them unique promotional opportunities.</a:t>
            </a:r>
            <a:endParaRPr lang="en-IN" sz="1400" dirty="0"/>
          </a:p>
        </p:txBody>
      </p:sp>
      <p:sp>
        <p:nvSpPr>
          <p:cNvPr id="54" name="Rectangle 53"/>
          <p:cNvSpPr/>
          <p:nvPr/>
        </p:nvSpPr>
        <p:spPr>
          <a:xfrm rot="21325566">
            <a:off x="7935245" y="3951113"/>
            <a:ext cx="3762568" cy="369332"/>
          </a:xfrm>
          <a:prstGeom prst="rect">
            <a:avLst/>
          </a:prstGeom>
        </p:spPr>
        <p:txBody>
          <a:bodyPr wrap="none">
            <a:spAutoFit/>
          </a:bodyPr>
          <a:lstStyle/>
          <a:p>
            <a:r>
              <a:rPr lang="en-IN" i="1" dirty="0">
                <a:solidFill>
                  <a:srgbClr val="0F0F0F"/>
                </a:solidFill>
                <a:latin typeface="Söhne"/>
              </a:rPr>
              <a:t>Premium Listings and Partnerships</a:t>
            </a:r>
            <a:endParaRPr lang="en-IN" dirty="0"/>
          </a:p>
        </p:txBody>
      </p:sp>
      <p:graphicFrame>
        <p:nvGraphicFramePr>
          <p:cNvPr id="46" name="Table 45"/>
          <p:cNvGraphicFramePr>
            <a:graphicFrameLocks noGrp="1"/>
          </p:cNvGraphicFramePr>
          <p:nvPr>
            <p:extLst>
              <p:ext uri="{D42A27DB-BD31-4B8C-83A1-F6EECF244321}">
                <p14:modId xmlns:p14="http://schemas.microsoft.com/office/powerpoint/2010/main" val="120563246"/>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36" name="TextBox 35"/>
          <p:cNvSpPr txBox="1"/>
          <p:nvPr/>
        </p:nvSpPr>
        <p:spPr>
          <a:xfrm>
            <a:off x="11658600" y="143501"/>
            <a:ext cx="420875" cy="307777"/>
          </a:xfrm>
          <a:prstGeom prst="rect">
            <a:avLst/>
          </a:prstGeom>
          <a:noFill/>
        </p:spPr>
        <p:txBody>
          <a:bodyPr wrap="square" rtlCol="0">
            <a:spAutoFit/>
          </a:bodyPr>
          <a:lstStyle/>
          <a:p>
            <a:r>
              <a:rPr lang="en-US" sz="1400" dirty="0" smtClean="0"/>
              <a:t>23</a:t>
            </a:r>
            <a:endParaRPr lang="en-IN" sz="1400" dirty="0"/>
          </a:p>
        </p:txBody>
      </p:sp>
    </p:spTree>
    <p:extLst>
      <p:ext uri="{BB962C8B-B14F-4D97-AF65-F5344CB8AC3E}">
        <p14:creationId xmlns:p14="http://schemas.microsoft.com/office/powerpoint/2010/main" val="18864520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pic>
        <p:nvPicPr>
          <p:cNvPr id="5" name="Picture 4"/>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744920" y="2981255"/>
            <a:ext cx="5477346" cy="3876744"/>
          </a:xfrm>
          <a:prstGeom prst="rect">
            <a:avLst/>
          </a:prstGeom>
        </p:spPr>
      </p:pic>
      <p:sp>
        <p:nvSpPr>
          <p:cNvPr id="4" name="Rectangle 3"/>
          <p:cNvSpPr/>
          <p:nvPr/>
        </p:nvSpPr>
        <p:spPr>
          <a:xfrm>
            <a:off x="2141211" y="98361"/>
            <a:ext cx="3971152" cy="369332"/>
          </a:xfrm>
          <a:prstGeom prst="rect">
            <a:avLst/>
          </a:prstGeom>
        </p:spPr>
        <p:txBody>
          <a:bodyPr wrap="none">
            <a:spAutoFit/>
          </a:bodyPr>
          <a:lstStyle/>
          <a:p>
            <a:r>
              <a:rPr lang="en-IN" b="1" dirty="0" smtClean="0">
                <a:solidFill>
                  <a:schemeClr val="dk1"/>
                </a:solidFill>
              </a:rPr>
              <a:t>Team &amp; Partnerships - </a:t>
            </a:r>
            <a:r>
              <a:rPr lang="en-IN" i="1" dirty="0"/>
              <a:t>Leadership </a:t>
            </a:r>
            <a:r>
              <a:rPr lang="en-IN" i="1" dirty="0" smtClean="0"/>
              <a:t>Team</a:t>
            </a:r>
            <a:endParaRPr lang="en-IN" b="1" dirty="0"/>
          </a:p>
        </p:txBody>
      </p:sp>
      <p:sp>
        <p:nvSpPr>
          <p:cNvPr id="6" name="Rounded Rectangle 5"/>
          <p:cNvSpPr/>
          <p:nvPr/>
        </p:nvSpPr>
        <p:spPr>
          <a:xfrm>
            <a:off x="612443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1/2</a:t>
            </a:r>
            <a:endParaRPr lang="en-IN" b="1" dirty="0">
              <a:solidFill>
                <a:schemeClr val="tx1"/>
              </a:solidFill>
            </a:endParaRPr>
          </a:p>
        </p:txBody>
      </p:sp>
      <p:sp>
        <p:nvSpPr>
          <p:cNvPr id="2" name="Rectangle 1"/>
          <p:cNvSpPr/>
          <p:nvPr/>
        </p:nvSpPr>
        <p:spPr>
          <a:xfrm>
            <a:off x="2253342" y="797510"/>
            <a:ext cx="8730344" cy="5262979"/>
          </a:xfrm>
          <a:prstGeom prst="rect">
            <a:avLst/>
          </a:prstGeom>
        </p:spPr>
        <p:txBody>
          <a:bodyPr wrap="square">
            <a:spAutoFit/>
          </a:bodyPr>
          <a:lstStyle/>
          <a:p>
            <a:pPr>
              <a:buFont typeface="+mj-lt"/>
              <a:buAutoNum type="arabicPeriod"/>
            </a:pPr>
            <a:r>
              <a:rPr lang="en-US" sz="1600" b="1" dirty="0"/>
              <a:t>CEO and Founder </a:t>
            </a:r>
            <a:r>
              <a:rPr lang="en-US" sz="1600" b="1" dirty="0" smtClean="0"/>
              <a:t>– Pratik </a:t>
            </a:r>
            <a:r>
              <a:rPr lang="en-US" sz="1600" b="1" dirty="0" err="1" smtClean="0"/>
              <a:t>Meshram</a:t>
            </a:r>
            <a:r>
              <a:rPr lang="en-US" sz="1600" b="1" dirty="0" smtClean="0"/>
              <a:t>:</a:t>
            </a:r>
            <a:endParaRPr lang="en-US" sz="1600" dirty="0"/>
          </a:p>
          <a:p>
            <a:pPr marL="742950" lvl="1" indent="-285750">
              <a:buFont typeface="+mj-lt"/>
              <a:buAutoNum type="arabicPeriod"/>
            </a:pPr>
            <a:r>
              <a:rPr lang="en-US" sz="1600" dirty="0"/>
              <a:t>Over </a:t>
            </a:r>
            <a:r>
              <a:rPr lang="en-US" sz="1600" dirty="0" smtClean="0"/>
              <a:t>13 </a:t>
            </a:r>
            <a:r>
              <a:rPr lang="en-US" sz="1600" dirty="0"/>
              <a:t>years of experience in </a:t>
            </a:r>
            <a:r>
              <a:rPr lang="en-US" sz="1600" dirty="0" smtClean="0"/>
              <a:t>business &amp; in IT Industry.</a:t>
            </a:r>
            <a:endParaRPr lang="en-US" sz="1600" dirty="0"/>
          </a:p>
          <a:p>
            <a:pPr marL="742950" lvl="1" indent="-285750">
              <a:buFont typeface="+mj-lt"/>
              <a:buAutoNum type="arabicPeriod"/>
            </a:pPr>
            <a:r>
              <a:rPr lang="en-US" sz="1600" dirty="0"/>
              <a:t>Proven track record of successfully leading </a:t>
            </a:r>
            <a:r>
              <a:rPr lang="en-US" sz="1600" dirty="0" smtClean="0"/>
              <a:t>Pratiksham </a:t>
            </a:r>
            <a:r>
              <a:rPr lang="en-US" sz="1600" dirty="0" err="1" smtClean="0"/>
              <a:t>Softwares</a:t>
            </a:r>
            <a:r>
              <a:rPr lang="en-US" sz="1600" dirty="0" smtClean="0"/>
              <a:t> Pvt. Ltd. </a:t>
            </a:r>
            <a:r>
              <a:rPr lang="en-US" sz="1600" dirty="0"/>
              <a:t>and delivering innovative solutions.</a:t>
            </a:r>
          </a:p>
          <a:p>
            <a:pPr>
              <a:buFont typeface="+mj-lt"/>
              <a:buAutoNum type="arabicPeriod"/>
            </a:pPr>
            <a:r>
              <a:rPr lang="en-US" sz="1600" b="1" dirty="0"/>
              <a:t>Chief Technology Officer (CTO) </a:t>
            </a:r>
            <a:r>
              <a:rPr lang="en-US" sz="1600" b="1" dirty="0" smtClean="0"/>
              <a:t>– </a:t>
            </a:r>
            <a:r>
              <a:rPr lang="en-US" sz="1600" b="1" dirty="0" err="1" smtClean="0"/>
              <a:t>Aniket</a:t>
            </a:r>
            <a:r>
              <a:rPr lang="en-US" sz="1600" b="1" dirty="0" smtClean="0"/>
              <a:t> </a:t>
            </a:r>
            <a:r>
              <a:rPr lang="en-US" sz="1600" b="1" dirty="0" err="1" smtClean="0"/>
              <a:t>Kumbhare</a:t>
            </a:r>
            <a:r>
              <a:rPr lang="en-US" sz="1600" b="1" dirty="0" smtClean="0"/>
              <a:t>:</a:t>
            </a:r>
            <a:endParaRPr lang="en-US" sz="1600" dirty="0"/>
          </a:p>
          <a:p>
            <a:pPr marL="742950" lvl="1" indent="-285750">
              <a:buFont typeface="+mj-lt"/>
              <a:buAutoNum type="arabicPeriod"/>
            </a:pPr>
            <a:r>
              <a:rPr lang="en-US" sz="1600" dirty="0"/>
              <a:t>10 years of technical expertise, </a:t>
            </a:r>
            <a:r>
              <a:rPr lang="en-US" sz="1600" dirty="0" smtClean="0"/>
              <a:t>Full stack developer specializing </a:t>
            </a:r>
            <a:r>
              <a:rPr lang="en-US" sz="1600" dirty="0"/>
              <a:t>in </a:t>
            </a:r>
            <a:r>
              <a:rPr lang="en-US" sz="1600" dirty="0" smtClean="0"/>
              <a:t>Java, Python.</a:t>
            </a:r>
            <a:endParaRPr lang="en-US" sz="1600" dirty="0"/>
          </a:p>
          <a:p>
            <a:pPr marL="742950" lvl="1" indent="-285750">
              <a:buFont typeface="+mj-lt"/>
              <a:buAutoNum type="arabicPeriod"/>
            </a:pPr>
            <a:r>
              <a:rPr lang="en-US" sz="1600" dirty="0"/>
              <a:t>Holds a </a:t>
            </a:r>
            <a:r>
              <a:rPr lang="en-US" sz="1600" dirty="0" err="1" smtClean="0"/>
              <a:t>B.Tech</a:t>
            </a:r>
            <a:r>
              <a:rPr lang="en-US" sz="1600" dirty="0" smtClean="0"/>
              <a:t> degree in </a:t>
            </a:r>
            <a:r>
              <a:rPr lang="en-US" sz="1600" dirty="0"/>
              <a:t>IT, driving the platform's technological vision.</a:t>
            </a:r>
          </a:p>
          <a:p>
            <a:pPr>
              <a:buFont typeface="+mj-lt"/>
              <a:buAutoNum type="arabicPeriod"/>
            </a:pPr>
            <a:r>
              <a:rPr lang="en-US" sz="1600" b="1" dirty="0"/>
              <a:t>Head of </a:t>
            </a:r>
            <a:r>
              <a:rPr lang="en-US" sz="1600" b="1" dirty="0" smtClean="0"/>
              <a:t>Finance &amp; Accounts </a:t>
            </a:r>
            <a:r>
              <a:rPr lang="en-US" sz="1600" b="1" dirty="0" smtClean="0"/>
              <a:t>– </a:t>
            </a:r>
            <a:r>
              <a:rPr lang="en-US" sz="1600" b="1" dirty="0" err="1" smtClean="0"/>
              <a:t>Shyam</a:t>
            </a:r>
            <a:r>
              <a:rPr lang="en-US" sz="1600" b="1" dirty="0" smtClean="0"/>
              <a:t> </a:t>
            </a:r>
            <a:r>
              <a:rPr lang="en-US" sz="1600" b="1" dirty="0" err="1" smtClean="0"/>
              <a:t>Meshram</a:t>
            </a:r>
            <a:r>
              <a:rPr lang="en-US" sz="1600" b="1" dirty="0" smtClean="0"/>
              <a:t>:</a:t>
            </a:r>
            <a:endParaRPr lang="en-US" sz="1600" dirty="0"/>
          </a:p>
          <a:p>
            <a:pPr marL="742950" lvl="1" indent="-285750">
              <a:buFont typeface="+mj-lt"/>
              <a:buAutoNum type="arabicPeriod"/>
            </a:pPr>
            <a:r>
              <a:rPr lang="en-US" sz="1600" dirty="0" smtClean="0"/>
              <a:t>35+ years </a:t>
            </a:r>
            <a:r>
              <a:rPr lang="en-US" sz="1600" dirty="0"/>
              <a:t>of experience in </a:t>
            </a:r>
            <a:r>
              <a:rPr lang="en-US" sz="1600" dirty="0" smtClean="0"/>
              <a:t>finance &amp; accounts.</a:t>
            </a:r>
            <a:endParaRPr lang="en-US" sz="1600" dirty="0"/>
          </a:p>
          <a:p>
            <a:pPr marL="742950" lvl="1" indent="-285750">
              <a:buFont typeface="+mj-lt"/>
              <a:buAutoNum type="arabicPeriod"/>
            </a:pPr>
            <a:r>
              <a:rPr lang="en-US" sz="1600" dirty="0"/>
              <a:t>Demonstrated success in delivering user-centric solutions, </a:t>
            </a:r>
            <a:r>
              <a:rPr lang="en-US" sz="1600"/>
              <a:t>ensuring </a:t>
            </a:r>
            <a:r>
              <a:rPr lang="en-US" sz="1600" smtClean="0"/>
              <a:t>successful </a:t>
            </a:r>
            <a:r>
              <a:rPr lang="en-US" sz="1600" smtClean="0"/>
              <a:t>Accounting </a:t>
            </a:r>
            <a:r>
              <a:rPr lang="en-US" sz="1600" dirty="0"/>
              <a:t>&amp; Financial Management, Annual Audit &amp; </a:t>
            </a:r>
            <a:r>
              <a:rPr lang="en-US" sz="1600"/>
              <a:t>Tax </a:t>
            </a:r>
            <a:r>
              <a:rPr lang="en-US" sz="1600" smtClean="0"/>
              <a:t>Returns.</a:t>
            </a:r>
            <a:endParaRPr lang="en-US" sz="1600" dirty="0"/>
          </a:p>
          <a:p>
            <a:pPr>
              <a:buFont typeface="+mj-lt"/>
              <a:buAutoNum type="arabicPeriod"/>
            </a:pPr>
            <a:r>
              <a:rPr lang="en-US" sz="1600" b="1" dirty="0"/>
              <a:t>Head of AI and Recommendations - </a:t>
            </a:r>
            <a:r>
              <a:rPr lang="en-US" sz="1600" b="1" dirty="0" err="1"/>
              <a:t>Pooja</a:t>
            </a:r>
            <a:r>
              <a:rPr lang="en-US" sz="1600" b="1" dirty="0"/>
              <a:t> </a:t>
            </a:r>
            <a:r>
              <a:rPr lang="en-US" sz="1600" b="1" dirty="0" err="1"/>
              <a:t>Chouhan</a:t>
            </a:r>
            <a:r>
              <a:rPr lang="en-US" sz="1600" b="1" dirty="0"/>
              <a:t>:</a:t>
            </a:r>
            <a:endParaRPr lang="en-US" sz="1600" dirty="0"/>
          </a:p>
          <a:p>
            <a:pPr marL="742950" lvl="1" indent="-285750">
              <a:buFont typeface="+mj-lt"/>
              <a:buAutoNum type="arabicPeriod"/>
            </a:pPr>
            <a:r>
              <a:rPr lang="en-US" sz="1600" dirty="0"/>
              <a:t>BE in IT with 4 years of experience in AI and ML.</a:t>
            </a:r>
          </a:p>
          <a:p>
            <a:pPr marL="742950" lvl="1" indent="-285750">
              <a:buFont typeface="+mj-lt"/>
              <a:buAutoNum type="arabicPeriod"/>
            </a:pPr>
            <a:r>
              <a:rPr lang="en-US" sz="1600" dirty="0"/>
              <a:t>Instrumental in developing and optimizing the AI algorithms powering IT-Mart24's recommendation engine.</a:t>
            </a:r>
          </a:p>
          <a:p>
            <a:pPr>
              <a:buFont typeface="+mj-lt"/>
              <a:buAutoNum type="arabicPeriod"/>
            </a:pPr>
            <a:r>
              <a:rPr lang="en-US" sz="1600" b="1" dirty="0"/>
              <a:t>Chief Marketing Officer (CMO) - </a:t>
            </a:r>
            <a:r>
              <a:rPr lang="en-US" sz="1600" b="1" dirty="0" err="1"/>
              <a:t>Nitin</a:t>
            </a:r>
            <a:r>
              <a:rPr lang="en-US" sz="1600" b="1" dirty="0"/>
              <a:t> </a:t>
            </a:r>
            <a:r>
              <a:rPr lang="en-US" sz="1600" b="1" dirty="0" err="1"/>
              <a:t>Panday</a:t>
            </a:r>
            <a:r>
              <a:rPr lang="en-US" sz="1600" b="1" dirty="0"/>
              <a:t>:</a:t>
            </a:r>
            <a:endParaRPr lang="en-US" sz="1600" dirty="0"/>
          </a:p>
          <a:p>
            <a:pPr marL="742950" lvl="1" indent="-285750">
              <a:buFont typeface="+mj-lt"/>
              <a:buAutoNum type="arabicPeriod"/>
            </a:pPr>
            <a:r>
              <a:rPr lang="en-US" sz="1600" dirty="0"/>
              <a:t>BBA, MBA in Marketing with 10 years of marketing experience.</a:t>
            </a:r>
          </a:p>
          <a:p>
            <a:pPr marL="742950" lvl="1" indent="-285750">
              <a:buFont typeface="+mj-lt"/>
              <a:buAutoNum type="arabicPeriod"/>
            </a:pPr>
            <a:r>
              <a:rPr lang="en-US" sz="1600" dirty="0"/>
              <a:t>Proven expertise in creating impactful marketing strategies and driving user acquisition.</a:t>
            </a:r>
          </a:p>
          <a:p>
            <a:pPr>
              <a:buFont typeface="+mj-lt"/>
              <a:buAutoNum type="arabicPeriod"/>
            </a:pPr>
            <a:r>
              <a:rPr lang="en-US" sz="1600" b="1" dirty="0"/>
              <a:t>Chief Data Privacy Officer (DPO) - Sandeep </a:t>
            </a:r>
            <a:r>
              <a:rPr lang="en-US" sz="1600" b="1" dirty="0" err="1"/>
              <a:t>Shrikhande</a:t>
            </a:r>
            <a:r>
              <a:rPr lang="en-US" sz="1600" b="1" dirty="0"/>
              <a:t>:</a:t>
            </a:r>
            <a:endParaRPr lang="en-US" sz="1600" dirty="0"/>
          </a:p>
          <a:p>
            <a:pPr marL="742950" lvl="1" indent="-285750">
              <a:buFont typeface="+mj-lt"/>
              <a:buAutoNum type="arabicPeriod"/>
            </a:pPr>
            <a:r>
              <a:rPr lang="en-US" sz="1600" dirty="0"/>
              <a:t>BE in Electronics with 5 years of experience in data privacy.</a:t>
            </a:r>
          </a:p>
          <a:p>
            <a:pPr marL="742950" lvl="1" indent="-285750">
              <a:buFont typeface="+mj-lt"/>
              <a:buAutoNum type="arabicPeriod"/>
            </a:pPr>
            <a:r>
              <a:rPr lang="en-US" sz="1600" dirty="0"/>
              <a:t>Responsible for ensuring IT-Mart24's commitment to data security and user privacy.</a:t>
            </a:r>
            <a:endParaRPr lang="en-US" sz="1600" b="0" i="0" dirty="0">
              <a:effectLst/>
            </a:endParaRPr>
          </a:p>
        </p:txBody>
      </p:sp>
      <p:graphicFrame>
        <p:nvGraphicFramePr>
          <p:cNvPr id="8" name="Table 7"/>
          <p:cNvGraphicFramePr>
            <a:graphicFrameLocks noGrp="1"/>
          </p:cNvGraphicFramePr>
          <p:nvPr>
            <p:extLst>
              <p:ext uri="{D42A27DB-BD31-4B8C-83A1-F6EECF244321}">
                <p14:modId xmlns:p14="http://schemas.microsoft.com/office/powerpoint/2010/main" val="860851763"/>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5"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6"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7"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2"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8"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9" name="TextBox 8"/>
          <p:cNvSpPr txBox="1"/>
          <p:nvPr/>
        </p:nvSpPr>
        <p:spPr>
          <a:xfrm>
            <a:off x="11658600" y="143501"/>
            <a:ext cx="400616" cy="307777"/>
          </a:xfrm>
          <a:prstGeom prst="rect">
            <a:avLst/>
          </a:prstGeom>
          <a:noFill/>
        </p:spPr>
        <p:txBody>
          <a:bodyPr wrap="square" rtlCol="0">
            <a:spAutoFit/>
          </a:bodyPr>
          <a:lstStyle/>
          <a:p>
            <a:r>
              <a:rPr lang="en-US" sz="1400" dirty="0" smtClean="0"/>
              <a:t>24</a:t>
            </a:r>
            <a:endParaRPr lang="en-IN" sz="1400" dirty="0"/>
          </a:p>
        </p:txBody>
      </p:sp>
    </p:spTree>
    <p:extLst>
      <p:ext uri="{BB962C8B-B14F-4D97-AF65-F5344CB8AC3E}">
        <p14:creationId xmlns:p14="http://schemas.microsoft.com/office/powerpoint/2010/main" val="18777797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pic>
        <p:nvPicPr>
          <p:cNvPr id="5" name="Picture 4"/>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744920" y="2981255"/>
            <a:ext cx="5477346" cy="3876744"/>
          </a:xfrm>
          <a:prstGeom prst="rect">
            <a:avLst/>
          </a:prstGeom>
        </p:spPr>
      </p:pic>
      <p:sp>
        <p:nvSpPr>
          <p:cNvPr id="4" name="Rectangle 3"/>
          <p:cNvSpPr/>
          <p:nvPr/>
        </p:nvSpPr>
        <p:spPr>
          <a:xfrm>
            <a:off x="2141211" y="98361"/>
            <a:ext cx="2283446" cy="369332"/>
          </a:xfrm>
          <a:prstGeom prst="rect">
            <a:avLst/>
          </a:prstGeom>
        </p:spPr>
        <p:txBody>
          <a:bodyPr wrap="none">
            <a:spAutoFit/>
          </a:bodyPr>
          <a:lstStyle/>
          <a:p>
            <a:r>
              <a:rPr lang="en-IN" b="1" dirty="0" smtClean="0">
                <a:solidFill>
                  <a:schemeClr val="dk1"/>
                </a:solidFill>
              </a:rPr>
              <a:t>Team &amp; Partnerships </a:t>
            </a:r>
            <a:endParaRPr lang="en-IN" b="1" dirty="0"/>
          </a:p>
        </p:txBody>
      </p:sp>
      <p:sp>
        <p:nvSpPr>
          <p:cNvPr id="6" name="Rounded Rectangle 5"/>
          <p:cNvSpPr/>
          <p:nvPr/>
        </p:nvSpPr>
        <p:spPr>
          <a:xfrm>
            <a:off x="4424657" y="141708"/>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2/2</a:t>
            </a:r>
            <a:endParaRPr lang="en-IN" b="1" dirty="0">
              <a:solidFill>
                <a:schemeClr val="tx1"/>
              </a:solidFill>
            </a:endParaRPr>
          </a:p>
        </p:txBody>
      </p:sp>
      <p:sp>
        <p:nvSpPr>
          <p:cNvPr id="2" name="Rectangle 1"/>
          <p:cNvSpPr/>
          <p:nvPr/>
        </p:nvSpPr>
        <p:spPr>
          <a:xfrm>
            <a:off x="2253342" y="797510"/>
            <a:ext cx="8730344" cy="2277547"/>
          </a:xfrm>
          <a:prstGeom prst="rect">
            <a:avLst/>
          </a:prstGeom>
        </p:spPr>
        <p:txBody>
          <a:bodyPr wrap="square">
            <a:spAutoFit/>
          </a:bodyPr>
          <a:lstStyle/>
          <a:p>
            <a:r>
              <a:rPr lang="en-IN" i="1" dirty="0"/>
              <a:t>Advisory </a:t>
            </a:r>
            <a:r>
              <a:rPr lang="en-IN" i="1" dirty="0" smtClean="0"/>
              <a:t>Board:</a:t>
            </a:r>
            <a:endParaRPr lang="en-US" b="1" dirty="0" smtClean="0"/>
          </a:p>
          <a:p>
            <a:r>
              <a:rPr lang="en-US" b="1" dirty="0" smtClean="0"/>
              <a:t>1. </a:t>
            </a:r>
            <a:r>
              <a:rPr lang="en-US" b="1" dirty="0" err="1" smtClean="0"/>
              <a:t>Abhay</a:t>
            </a:r>
            <a:r>
              <a:rPr lang="en-US" b="1" dirty="0" smtClean="0"/>
              <a:t> </a:t>
            </a:r>
            <a:r>
              <a:rPr lang="en-US" b="1" dirty="0" err="1" smtClean="0"/>
              <a:t>Deshmukh</a:t>
            </a:r>
            <a:r>
              <a:rPr lang="en-US" b="1" dirty="0" smtClean="0"/>
              <a:t>:</a:t>
            </a:r>
            <a:endParaRPr lang="en-US" dirty="0"/>
          </a:p>
          <a:p>
            <a:pPr lvl="1"/>
            <a:r>
              <a:rPr lang="en-US" dirty="0"/>
              <a:t>Renowned expert in </a:t>
            </a:r>
            <a:r>
              <a:rPr lang="en-US" dirty="0" smtClean="0"/>
              <a:t>Marketing Industry.</a:t>
            </a:r>
            <a:endParaRPr lang="en-US" dirty="0"/>
          </a:p>
          <a:p>
            <a:pPr lvl="1"/>
            <a:r>
              <a:rPr lang="en-US" dirty="0"/>
              <a:t>Advising on strategic business development and market positioning.</a:t>
            </a:r>
          </a:p>
          <a:p>
            <a:r>
              <a:rPr lang="en-US" b="1" dirty="0" smtClean="0"/>
              <a:t>2. </a:t>
            </a:r>
            <a:r>
              <a:rPr lang="en-US" b="1" dirty="0" err="1" smtClean="0"/>
              <a:t>Anant</a:t>
            </a:r>
            <a:r>
              <a:rPr lang="en-US" b="1" dirty="0" smtClean="0"/>
              <a:t> </a:t>
            </a:r>
            <a:r>
              <a:rPr lang="en-US" b="1" dirty="0" err="1" smtClean="0"/>
              <a:t>Ramteke</a:t>
            </a:r>
            <a:r>
              <a:rPr lang="en-US" b="1" dirty="0" smtClean="0"/>
              <a:t>:</a:t>
            </a:r>
            <a:endParaRPr lang="en-US" dirty="0"/>
          </a:p>
          <a:p>
            <a:pPr lvl="1"/>
            <a:r>
              <a:rPr lang="en-US" dirty="0"/>
              <a:t>Specializes in </a:t>
            </a:r>
            <a:r>
              <a:rPr lang="en-US" dirty="0" smtClean="0"/>
              <a:t>IT Industry.</a:t>
            </a:r>
            <a:endParaRPr lang="en-US" dirty="0"/>
          </a:p>
          <a:p>
            <a:pPr lvl="1"/>
            <a:r>
              <a:rPr lang="en-US" dirty="0"/>
              <a:t>Providing guidance on technological advancements and industry trends.</a:t>
            </a:r>
          </a:p>
          <a:p>
            <a:endParaRPr lang="en-US" sz="1600" b="0" i="0" dirty="0">
              <a:effectLst/>
            </a:endParaRPr>
          </a:p>
        </p:txBody>
      </p:sp>
      <p:sp>
        <p:nvSpPr>
          <p:cNvPr id="7" name="Rectangle 6"/>
          <p:cNvSpPr/>
          <p:nvPr/>
        </p:nvSpPr>
        <p:spPr>
          <a:xfrm>
            <a:off x="2253342" y="3227477"/>
            <a:ext cx="8708571" cy="2031325"/>
          </a:xfrm>
          <a:prstGeom prst="rect">
            <a:avLst/>
          </a:prstGeom>
        </p:spPr>
        <p:txBody>
          <a:bodyPr wrap="square">
            <a:spAutoFit/>
          </a:bodyPr>
          <a:lstStyle/>
          <a:p>
            <a:r>
              <a:rPr lang="en-US" i="1" dirty="0"/>
              <a:t>Collaborations:</a:t>
            </a:r>
            <a:endParaRPr lang="en-US" dirty="0"/>
          </a:p>
          <a:p>
            <a:pPr>
              <a:buFont typeface="+mj-lt"/>
              <a:buAutoNum type="arabicPeriod"/>
            </a:pPr>
            <a:r>
              <a:rPr lang="en-US" b="1" dirty="0"/>
              <a:t>INCUBEIN - Nagpur University:</a:t>
            </a:r>
            <a:endParaRPr lang="en-US" dirty="0"/>
          </a:p>
          <a:p>
            <a:pPr marL="742950" lvl="1" indent="-285750">
              <a:buFont typeface="+mj-lt"/>
              <a:buAutoNum type="arabicPeriod"/>
            </a:pPr>
            <a:r>
              <a:rPr lang="en-US" dirty="0"/>
              <a:t>Collaborating with INCUBEIN for office space and resources, fostering a supportive environment for startup growth.</a:t>
            </a:r>
          </a:p>
          <a:p>
            <a:pPr>
              <a:buFont typeface="+mj-lt"/>
              <a:buAutoNum type="arabicPeriod"/>
            </a:pPr>
            <a:r>
              <a:rPr lang="en-US" b="1" dirty="0" smtClean="0"/>
              <a:t>Potential Collaboration:</a:t>
            </a:r>
            <a:endParaRPr lang="en-US" dirty="0"/>
          </a:p>
          <a:p>
            <a:pPr marL="742950" lvl="1" indent="-285750">
              <a:buFont typeface="+mj-lt"/>
              <a:buAutoNum type="arabicPeriod"/>
            </a:pPr>
            <a:r>
              <a:rPr lang="en-US" dirty="0"/>
              <a:t>Exploring additional collaborations to enhance market presence and service offerings.</a:t>
            </a:r>
            <a:endParaRPr lang="en-US" b="0" i="0" dirty="0">
              <a:effectLst/>
            </a:endParaRPr>
          </a:p>
        </p:txBody>
      </p:sp>
      <p:graphicFrame>
        <p:nvGraphicFramePr>
          <p:cNvPr id="9" name="Table 8"/>
          <p:cNvGraphicFramePr>
            <a:graphicFrameLocks noGrp="1"/>
          </p:cNvGraphicFramePr>
          <p:nvPr>
            <p:extLst>
              <p:ext uri="{D42A27DB-BD31-4B8C-83A1-F6EECF244321}">
                <p14:modId xmlns:p14="http://schemas.microsoft.com/office/powerpoint/2010/main" val="4176016261"/>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5"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6"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7"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2"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8"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0" name="TextBox 9"/>
          <p:cNvSpPr txBox="1"/>
          <p:nvPr/>
        </p:nvSpPr>
        <p:spPr>
          <a:xfrm>
            <a:off x="11658600" y="143501"/>
            <a:ext cx="445883" cy="307777"/>
          </a:xfrm>
          <a:prstGeom prst="rect">
            <a:avLst/>
          </a:prstGeom>
          <a:noFill/>
        </p:spPr>
        <p:txBody>
          <a:bodyPr wrap="square" rtlCol="0">
            <a:spAutoFit/>
          </a:bodyPr>
          <a:lstStyle/>
          <a:p>
            <a:r>
              <a:rPr lang="en-US" sz="1400" dirty="0" smtClean="0"/>
              <a:t>25</a:t>
            </a:r>
            <a:endParaRPr lang="en-IN" sz="1400" dirty="0"/>
          </a:p>
        </p:txBody>
      </p:sp>
    </p:spTree>
    <p:extLst>
      <p:ext uri="{BB962C8B-B14F-4D97-AF65-F5344CB8AC3E}">
        <p14:creationId xmlns:p14="http://schemas.microsoft.com/office/powerpoint/2010/main" val="16242022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4054" y="0"/>
            <a:ext cx="10286999" cy="6858000"/>
          </a:xfrm>
          <a:prstGeom prst="rect">
            <a:avLst/>
          </a:prstGeom>
        </p:spPr>
      </p:pic>
      <p:sp>
        <p:nvSpPr>
          <p:cNvPr id="4" name="Rectangle 3"/>
          <p:cNvSpPr/>
          <p:nvPr/>
        </p:nvSpPr>
        <p:spPr>
          <a:xfrm>
            <a:off x="2141211" y="98361"/>
            <a:ext cx="3446521" cy="369332"/>
          </a:xfrm>
          <a:prstGeom prst="rect">
            <a:avLst/>
          </a:prstGeom>
        </p:spPr>
        <p:txBody>
          <a:bodyPr wrap="none">
            <a:spAutoFit/>
          </a:bodyPr>
          <a:lstStyle/>
          <a:p>
            <a:r>
              <a:rPr lang="en-IN" b="1" dirty="0" smtClean="0">
                <a:solidFill>
                  <a:schemeClr val="dk1"/>
                </a:solidFill>
              </a:rPr>
              <a:t>Legal &amp; Regulatory Considerations</a:t>
            </a:r>
            <a:endParaRPr lang="en-IN" b="1" dirty="0"/>
          </a:p>
        </p:txBody>
      </p:sp>
      <p:sp>
        <p:nvSpPr>
          <p:cNvPr id="6" name="Rounded Rectangle 5"/>
          <p:cNvSpPr/>
          <p:nvPr/>
        </p:nvSpPr>
        <p:spPr>
          <a:xfrm>
            <a:off x="5698926"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1/1</a:t>
            </a:r>
            <a:endParaRPr lang="en-IN" b="1" dirty="0">
              <a:solidFill>
                <a:schemeClr val="tx1"/>
              </a:solidFill>
            </a:endParaRPr>
          </a:p>
        </p:txBody>
      </p:sp>
      <p:sp>
        <p:nvSpPr>
          <p:cNvPr id="8" name="Rectangle 7"/>
          <p:cNvSpPr/>
          <p:nvPr/>
        </p:nvSpPr>
        <p:spPr>
          <a:xfrm>
            <a:off x="2155369" y="729084"/>
            <a:ext cx="4963887" cy="1815882"/>
          </a:xfrm>
          <a:prstGeom prst="rect">
            <a:avLst/>
          </a:prstGeom>
          <a:solidFill>
            <a:schemeClr val="accent1">
              <a:lumMod val="20000"/>
              <a:lumOff val="80000"/>
            </a:schemeClr>
          </a:solidFill>
        </p:spPr>
        <p:txBody>
          <a:bodyPr wrap="square">
            <a:spAutoFit/>
          </a:bodyPr>
          <a:lstStyle/>
          <a:p>
            <a:r>
              <a:rPr lang="en-US" sz="1400" i="1" dirty="0"/>
              <a:t>Company Structure:</a:t>
            </a:r>
            <a:endParaRPr lang="en-US" sz="1400" dirty="0"/>
          </a:p>
          <a:p>
            <a:pPr>
              <a:buFont typeface="+mj-lt"/>
              <a:buAutoNum type="arabicPeriod"/>
            </a:pPr>
            <a:r>
              <a:rPr lang="en-US" sz="1400" b="1" dirty="0"/>
              <a:t>Registered Company:</a:t>
            </a:r>
            <a:endParaRPr lang="en-US" sz="1400" dirty="0"/>
          </a:p>
          <a:p>
            <a:pPr marL="742950" lvl="1" indent="-285750">
              <a:buFont typeface="+mj-lt"/>
              <a:buAutoNum type="arabicPeriod"/>
            </a:pPr>
            <a:r>
              <a:rPr lang="en-US" sz="1400" dirty="0"/>
              <a:t>Pratiksham </a:t>
            </a:r>
            <a:r>
              <a:rPr lang="en-US" sz="1400" dirty="0" err="1"/>
              <a:t>Softwares</a:t>
            </a:r>
            <a:r>
              <a:rPr lang="en-US" sz="1400" dirty="0"/>
              <a:t> Pvt. Ltd. established in 2017.</a:t>
            </a:r>
          </a:p>
          <a:p>
            <a:pPr marL="742950" lvl="1" indent="-285750">
              <a:buFont typeface="+mj-lt"/>
              <a:buAutoNum type="arabicPeriod"/>
            </a:pPr>
            <a:r>
              <a:rPr lang="en-US" sz="1400" dirty="0"/>
              <a:t>Registered and compliant with Indian corporate regulations.</a:t>
            </a:r>
          </a:p>
          <a:p>
            <a:pPr>
              <a:buFont typeface="+mj-lt"/>
              <a:buAutoNum type="arabicPeriod"/>
            </a:pPr>
            <a:r>
              <a:rPr lang="en-US" sz="1400" b="1" dirty="0"/>
              <a:t>GST Registration:</a:t>
            </a:r>
            <a:endParaRPr lang="en-US" sz="1400" dirty="0"/>
          </a:p>
          <a:p>
            <a:pPr marL="742950" lvl="1" indent="-285750">
              <a:buFont typeface="+mj-lt"/>
              <a:buAutoNum type="arabicPeriod"/>
            </a:pPr>
            <a:r>
              <a:rPr lang="en-US" sz="1400" dirty="0"/>
              <a:t>Registered under Goods and Services Tax for transparent financial transactions.</a:t>
            </a:r>
            <a:endParaRPr lang="en-US" sz="1400" b="0" i="0" dirty="0">
              <a:effectLst/>
            </a:endParaRPr>
          </a:p>
        </p:txBody>
      </p:sp>
      <p:sp>
        <p:nvSpPr>
          <p:cNvPr id="9" name="Rectangle 8"/>
          <p:cNvSpPr/>
          <p:nvPr/>
        </p:nvSpPr>
        <p:spPr>
          <a:xfrm>
            <a:off x="2155369" y="2574503"/>
            <a:ext cx="4963887" cy="1815882"/>
          </a:xfrm>
          <a:prstGeom prst="rect">
            <a:avLst/>
          </a:prstGeom>
          <a:solidFill>
            <a:schemeClr val="accent2">
              <a:lumMod val="20000"/>
              <a:lumOff val="80000"/>
            </a:schemeClr>
          </a:solidFill>
        </p:spPr>
        <p:txBody>
          <a:bodyPr wrap="square">
            <a:spAutoFit/>
          </a:bodyPr>
          <a:lstStyle/>
          <a:p>
            <a:r>
              <a:rPr lang="en-US" sz="1400" i="1" dirty="0"/>
              <a:t>Data Protection:</a:t>
            </a:r>
            <a:endParaRPr lang="en-US" sz="1400" dirty="0"/>
          </a:p>
          <a:p>
            <a:pPr>
              <a:buFont typeface="+mj-lt"/>
              <a:buAutoNum type="arabicPeriod"/>
            </a:pPr>
            <a:r>
              <a:rPr lang="en-US" sz="1400" b="1" dirty="0"/>
              <a:t>Compliance with Data Privacy Laws:</a:t>
            </a:r>
            <a:endParaRPr lang="en-US" sz="1400" dirty="0"/>
          </a:p>
          <a:p>
            <a:pPr marL="742950" lvl="1" indent="-285750">
              <a:buFont typeface="+mj-lt"/>
              <a:buAutoNum type="arabicPeriod"/>
            </a:pPr>
            <a:r>
              <a:rPr lang="en-US" sz="1400" dirty="0"/>
              <a:t>Adherence to India's data protection regulations.</a:t>
            </a:r>
          </a:p>
          <a:p>
            <a:pPr marL="742950" lvl="1" indent="-285750">
              <a:buFont typeface="+mj-lt"/>
              <a:buAutoNum type="arabicPeriod"/>
            </a:pPr>
            <a:r>
              <a:rPr lang="en-US" sz="1400" dirty="0"/>
              <a:t>Stringent measures in place to protect user data and ensure privacy.</a:t>
            </a:r>
          </a:p>
          <a:p>
            <a:pPr>
              <a:buFont typeface="+mj-lt"/>
              <a:buAutoNum type="arabicPeriod"/>
            </a:pPr>
            <a:r>
              <a:rPr lang="en-US" sz="1400" b="1" dirty="0"/>
              <a:t>SSL Encryption:</a:t>
            </a:r>
            <a:endParaRPr lang="en-US" sz="1400" dirty="0"/>
          </a:p>
          <a:p>
            <a:pPr marL="742950" lvl="1" indent="-285750">
              <a:buFont typeface="+mj-lt"/>
              <a:buAutoNum type="arabicPeriod"/>
            </a:pPr>
            <a:r>
              <a:rPr lang="en-US" sz="1400" dirty="0"/>
              <a:t>Implementation of SSL certificates for secure data transmission.</a:t>
            </a:r>
            <a:endParaRPr lang="en-US" sz="1400" b="0" i="0" dirty="0">
              <a:effectLst/>
            </a:endParaRPr>
          </a:p>
        </p:txBody>
      </p:sp>
      <p:sp>
        <p:nvSpPr>
          <p:cNvPr id="10" name="Rectangle 9"/>
          <p:cNvSpPr/>
          <p:nvPr/>
        </p:nvSpPr>
        <p:spPr>
          <a:xfrm>
            <a:off x="2155369" y="4442214"/>
            <a:ext cx="4963887" cy="2031325"/>
          </a:xfrm>
          <a:prstGeom prst="rect">
            <a:avLst/>
          </a:prstGeom>
          <a:solidFill>
            <a:schemeClr val="accent4">
              <a:lumMod val="20000"/>
              <a:lumOff val="80000"/>
            </a:schemeClr>
          </a:solidFill>
        </p:spPr>
        <p:txBody>
          <a:bodyPr wrap="square">
            <a:spAutoFit/>
          </a:bodyPr>
          <a:lstStyle/>
          <a:p>
            <a:r>
              <a:rPr lang="en-US" sz="1400" i="1" dirty="0"/>
              <a:t>User Agreement and Compliance:</a:t>
            </a:r>
            <a:endParaRPr lang="en-US" sz="1400" dirty="0"/>
          </a:p>
          <a:p>
            <a:pPr>
              <a:buFont typeface="+mj-lt"/>
              <a:buAutoNum type="arabicPeriod"/>
            </a:pPr>
            <a:r>
              <a:rPr lang="en-US" sz="1400" b="1" dirty="0"/>
              <a:t>Terms of Service:</a:t>
            </a:r>
            <a:endParaRPr lang="en-US" sz="1400" dirty="0"/>
          </a:p>
          <a:p>
            <a:pPr marL="742950" lvl="1" indent="-285750">
              <a:buFont typeface="+mj-lt"/>
              <a:buAutoNum type="arabicPeriod"/>
            </a:pPr>
            <a:r>
              <a:rPr lang="en-US" sz="1400" dirty="0"/>
              <a:t>Comprehensive terms of service agreements for users and vendors.</a:t>
            </a:r>
          </a:p>
          <a:p>
            <a:pPr marL="742950" lvl="1" indent="-285750">
              <a:buFont typeface="+mj-lt"/>
              <a:buAutoNum type="arabicPeriod"/>
            </a:pPr>
            <a:r>
              <a:rPr lang="en-US" sz="1400" dirty="0"/>
              <a:t>Clearly outlined user responsibilities, vendor commitments, and dispute resolution mechanisms.</a:t>
            </a:r>
          </a:p>
          <a:p>
            <a:pPr>
              <a:buFont typeface="+mj-lt"/>
              <a:buAutoNum type="arabicPeriod"/>
            </a:pPr>
            <a:r>
              <a:rPr lang="en-US" sz="1400" b="1" dirty="0"/>
              <a:t>Compliance with E-commerce Laws:</a:t>
            </a:r>
            <a:endParaRPr lang="en-US" sz="1400" dirty="0"/>
          </a:p>
          <a:p>
            <a:pPr marL="742950" lvl="1" indent="-285750">
              <a:buFont typeface="+mj-lt"/>
              <a:buAutoNum type="arabicPeriod"/>
            </a:pPr>
            <a:r>
              <a:rPr lang="en-US" sz="1400" dirty="0"/>
              <a:t>Ensuring compliance with Indian e-commerce laws, providing a secure and transparent online marketplace.</a:t>
            </a:r>
            <a:endParaRPr lang="en-US" sz="1400" b="0" i="0" dirty="0">
              <a:effectLst/>
            </a:endParaRPr>
          </a:p>
        </p:txBody>
      </p:sp>
      <p:sp>
        <p:nvSpPr>
          <p:cNvPr id="11" name="Rectangle 10"/>
          <p:cNvSpPr/>
          <p:nvPr/>
        </p:nvSpPr>
        <p:spPr>
          <a:xfrm>
            <a:off x="7273485" y="729084"/>
            <a:ext cx="4724402" cy="1815882"/>
          </a:xfrm>
          <a:prstGeom prst="rect">
            <a:avLst/>
          </a:prstGeom>
          <a:solidFill>
            <a:schemeClr val="accent6">
              <a:lumMod val="20000"/>
              <a:lumOff val="80000"/>
            </a:schemeClr>
          </a:solidFill>
        </p:spPr>
        <p:txBody>
          <a:bodyPr wrap="square">
            <a:spAutoFit/>
          </a:bodyPr>
          <a:lstStyle/>
          <a:p>
            <a:r>
              <a:rPr lang="en-US" sz="1400" i="1" dirty="0"/>
              <a:t>Financial Compliance:</a:t>
            </a:r>
            <a:endParaRPr lang="en-US" sz="1400" dirty="0"/>
          </a:p>
          <a:p>
            <a:pPr>
              <a:buFont typeface="+mj-lt"/>
              <a:buAutoNum type="arabicPeriod"/>
            </a:pPr>
            <a:r>
              <a:rPr lang="en-US" sz="1400" b="1" dirty="0"/>
              <a:t>Audited Financial Statements:</a:t>
            </a:r>
            <a:endParaRPr lang="en-US" sz="1400" dirty="0"/>
          </a:p>
          <a:p>
            <a:pPr marL="742950" lvl="1" indent="-285750">
              <a:buFont typeface="+mj-lt"/>
              <a:buAutoNum type="arabicPeriod"/>
            </a:pPr>
            <a:r>
              <a:rPr lang="en-US" sz="1400" dirty="0"/>
              <a:t>Commitment to maintaining accurate and audited financial statements.</a:t>
            </a:r>
          </a:p>
          <a:p>
            <a:pPr>
              <a:buFont typeface="+mj-lt"/>
              <a:buAutoNum type="arabicPeriod"/>
            </a:pPr>
            <a:r>
              <a:rPr lang="en-US" sz="1400" b="1" dirty="0"/>
              <a:t>Tax Compliance:</a:t>
            </a:r>
            <a:endParaRPr lang="en-US" sz="1400" dirty="0"/>
          </a:p>
          <a:p>
            <a:pPr marL="742950" lvl="1" indent="-285750">
              <a:buFont typeface="+mj-lt"/>
              <a:buAutoNum type="arabicPeriod"/>
            </a:pPr>
            <a:r>
              <a:rPr lang="en-US" sz="1400" dirty="0"/>
              <a:t>Adherence to Indian tax regulations, ensuring proper tax filings and compliance</a:t>
            </a:r>
            <a:r>
              <a:rPr lang="en-US" sz="1400" dirty="0" smtClean="0"/>
              <a:t>.</a:t>
            </a:r>
          </a:p>
          <a:p>
            <a:pPr lvl="1"/>
            <a:endParaRPr lang="en-US" sz="1400" b="0" i="0" dirty="0">
              <a:effectLst/>
            </a:endParaRPr>
          </a:p>
        </p:txBody>
      </p:sp>
      <p:sp>
        <p:nvSpPr>
          <p:cNvPr id="12" name="Rectangle 11"/>
          <p:cNvSpPr/>
          <p:nvPr/>
        </p:nvSpPr>
        <p:spPr>
          <a:xfrm>
            <a:off x="7271093" y="2574503"/>
            <a:ext cx="4726794" cy="1815882"/>
          </a:xfrm>
          <a:prstGeom prst="rect">
            <a:avLst/>
          </a:prstGeom>
          <a:solidFill>
            <a:schemeClr val="bg2">
              <a:lumMod val="90000"/>
            </a:schemeClr>
          </a:solidFill>
        </p:spPr>
        <p:txBody>
          <a:bodyPr wrap="square">
            <a:spAutoFit/>
          </a:bodyPr>
          <a:lstStyle/>
          <a:p>
            <a:r>
              <a:rPr lang="en-US" sz="1400" i="1" dirty="0"/>
              <a:t>Vendor Contracts:</a:t>
            </a:r>
            <a:endParaRPr lang="en-US" sz="1400" dirty="0"/>
          </a:p>
          <a:p>
            <a:pPr>
              <a:buFont typeface="+mj-lt"/>
              <a:buAutoNum type="arabicPeriod"/>
            </a:pPr>
            <a:r>
              <a:rPr lang="en-US" sz="1400" b="1" dirty="0"/>
              <a:t>Transparent Vendor Agreements:</a:t>
            </a:r>
            <a:endParaRPr lang="en-US" sz="1400" dirty="0"/>
          </a:p>
          <a:p>
            <a:pPr marL="742950" lvl="1" indent="-285750">
              <a:buFont typeface="+mj-lt"/>
              <a:buAutoNum type="arabicPeriod"/>
            </a:pPr>
            <a:r>
              <a:rPr lang="en-US" sz="1400" dirty="0"/>
              <a:t>Clear vendor contracts specifying terms, commission structures, and dispute resolution.</a:t>
            </a:r>
          </a:p>
          <a:p>
            <a:pPr>
              <a:buFont typeface="+mj-lt"/>
              <a:buAutoNum type="arabicPeriod"/>
            </a:pPr>
            <a:r>
              <a:rPr lang="en-US" sz="1400" b="1" dirty="0"/>
              <a:t>Legal Consultation:</a:t>
            </a:r>
            <a:endParaRPr lang="en-US" sz="1400" dirty="0"/>
          </a:p>
          <a:p>
            <a:pPr marL="742950" lvl="1" indent="-285750">
              <a:buFont typeface="+mj-lt"/>
              <a:buAutoNum type="arabicPeriod"/>
            </a:pPr>
            <a:r>
              <a:rPr lang="en-US" sz="1400" dirty="0"/>
              <a:t>Engaging legal experts to ensure all vendor agreements are legally sound and protective of both parties.</a:t>
            </a:r>
            <a:endParaRPr lang="en-US" sz="1400" b="0" i="0" dirty="0">
              <a:effectLst/>
            </a:endParaRPr>
          </a:p>
        </p:txBody>
      </p:sp>
      <p:pic>
        <p:nvPicPr>
          <p:cNvPr id="13" name="Picture 12"/>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763000" y="4401270"/>
            <a:ext cx="2486705" cy="2466488"/>
          </a:xfrm>
          <a:prstGeom prst="rect">
            <a:avLst/>
          </a:prstGeom>
        </p:spPr>
      </p:pic>
      <p:graphicFrame>
        <p:nvGraphicFramePr>
          <p:cNvPr id="14" name="Table 13"/>
          <p:cNvGraphicFramePr>
            <a:graphicFrameLocks noGrp="1"/>
          </p:cNvGraphicFramePr>
          <p:nvPr>
            <p:extLst>
              <p:ext uri="{D42A27DB-BD31-4B8C-83A1-F6EECF244321}">
                <p14:modId xmlns:p14="http://schemas.microsoft.com/office/powerpoint/2010/main" val="349043990"/>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5"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6"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7"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2"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8"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5" name="TextBox 14"/>
          <p:cNvSpPr txBox="1"/>
          <p:nvPr/>
        </p:nvSpPr>
        <p:spPr>
          <a:xfrm>
            <a:off x="11658600" y="143501"/>
            <a:ext cx="427776" cy="307777"/>
          </a:xfrm>
          <a:prstGeom prst="rect">
            <a:avLst/>
          </a:prstGeom>
          <a:noFill/>
        </p:spPr>
        <p:txBody>
          <a:bodyPr wrap="square" rtlCol="0">
            <a:spAutoFit/>
          </a:bodyPr>
          <a:lstStyle/>
          <a:p>
            <a:r>
              <a:rPr lang="en-US" sz="1400" dirty="0" smtClean="0"/>
              <a:t>26</a:t>
            </a:r>
            <a:endParaRPr lang="en-IN" sz="1400" dirty="0"/>
          </a:p>
        </p:txBody>
      </p:sp>
    </p:spTree>
    <p:extLst>
      <p:ext uri="{BB962C8B-B14F-4D97-AF65-F5344CB8AC3E}">
        <p14:creationId xmlns:p14="http://schemas.microsoft.com/office/powerpoint/2010/main" val="36661664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41211" y="98361"/>
            <a:ext cx="1404680" cy="369332"/>
          </a:xfrm>
          <a:prstGeom prst="rect">
            <a:avLst/>
          </a:prstGeom>
        </p:spPr>
        <p:txBody>
          <a:bodyPr wrap="none">
            <a:spAutoFit/>
          </a:bodyPr>
          <a:lstStyle/>
          <a:p>
            <a:r>
              <a:rPr lang="en-IN" b="1" dirty="0" smtClean="0">
                <a:solidFill>
                  <a:schemeClr val="dk1"/>
                </a:solidFill>
              </a:rPr>
              <a:t>Risk Analysis</a:t>
            </a:r>
            <a:endParaRPr lang="en-IN" b="1" dirty="0"/>
          </a:p>
        </p:txBody>
      </p:sp>
      <p:sp>
        <p:nvSpPr>
          <p:cNvPr id="6" name="Rounded Rectangle 5"/>
          <p:cNvSpPr/>
          <p:nvPr/>
        </p:nvSpPr>
        <p:spPr>
          <a:xfrm>
            <a:off x="3607571"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1/1</a:t>
            </a:r>
            <a:endParaRPr lang="en-IN" b="1" dirty="0">
              <a:solidFill>
                <a:schemeClr val="tx1"/>
              </a:solidFill>
            </a:endParaRPr>
          </a:p>
        </p:txBody>
      </p:sp>
      <p:sp>
        <p:nvSpPr>
          <p:cNvPr id="2" name="Rectangle 1"/>
          <p:cNvSpPr/>
          <p:nvPr/>
        </p:nvSpPr>
        <p:spPr>
          <a:xfrm>
            <a:off x="2141211" y="789328"/>
            <a:ext cx="3240000" cy="1708160"/>
          </a:xfrm>
          <a:prstGeom prst="rect">
            <a:avLst/>
          </a:prstGeom>
          <a:solidFill>
            <a:schemeClr val="accent2">
              <a:lumMod val="20000"/>
              <a:lumOff val="80000"/>
            </a:schemeClr>
          </a:solidFill>
        </p:spPr>
        <p:txBody>
          <a:bodyPr wrap="square">
            <a:spAutoFit/>
          </a:bodyPr>
          <a:lstStyle/>
          <a:p>
            <a:r>
              <a:rPr lang="en-US" sz="1500" b="1" dirty="0">
                <a:solidFill>
                  <a:srgbClr val="0F0F0F"/>
                </a:solidFill>
              </a:rPr>
              <a:t>Market Risks:</a:t>
            </a:r>
            <a:endParaRPr lang="en-US" sz="1500" dirty="0">
              <a:solidFill>
                <a:srgbClr val="0F0F0F"/>
              </a:solidFill>
            </a:endParaRPr>
          </a:p>
          <a:p>
            <a:pPr>
              <a:buFont typeface="Arial" panose="020B0604020202020204" pitchFamily="34" charset="0"/>
              <a:buChar char="•"/>
            </a:pPr>
            <a:r>
              <a:rPr lang="en-US" sz="1500" i="1" dirty="0">
                <a:solidFill>
                  <a:srgbClr val="0F0F0F"/>
                </a:solidFill>
              </a:rPr>
              <a:t>Competition Dynamics:</a:t>
            </a:r>
            <a:r>
              <a:rPr lang="en-US" sz="1500" dirty="0">
                <a:solidFill>
                  <a:srgbClr val="0F0F0F"/>
                </a:solidFill>
              </a:rPr>
              <a:t> </a:t>
            </a:r>
            <a:r>
              <a:rPr lang="en-US" sz="1500" dirty="0" smtClean="0">
                <a:solidFill>
                  <a:srgbClr val="0F0F0F"/>
                </a:solidFill>
              </a:rPr>
              <a:t>Competition </a:t>
            </a:r>
            <a:r>
              <a:rPr lang="en-US" sz="1500" dirty="0">
                <a:solidFill>
                  <a:srgbClr val="0F0F0F"/>
                </a:solidFill>
              </a:rPr>
              <a:t>from existing and emerging </a:t>
            </a:r>
            <a:r>
              <a:rPr lang="en-US" sz="1500" dirty="0" smtClean="0">
                <a:solidFill>
                  <a:srgbClr val="0F0F0F"/>
                </a:solidFill>
              </a:rPr>
              <a:t>platforms in software &amp; AI.</a:t>
            </a:r>
            <a:endParaRPr lang="en-US" sz="1500" dirty="0">
              <a:solidFill>
                <a:srgbClr val="0F0F0F"/>
              </a:solidFill>
            </a:endParaRPr>
          </a:p>
          <a:p>
            <a:pPr>
              <a:buFont typeface="Arial" panose="020B0604020202020204" pitchFamily="34" charset="0"/>
              <a:buChar char="•"/>
            </a:pPr>
            <a:r>
              <a:rPr lang="en-US" sz="1500" i="1" dirty="0">
                <a:solidFill>
                  <a:srgbClr val="0F0F0F"/>
                </a:solidFill>
              </a:rPr>
              <a:t>Market Acceptance:</a:t>
            </a:r>
            <a:r>
              <a:rPr lang="en-US" sz="1500" dirty="0">
                <a:solidFill>
                  <a:srgbClr val="0F0F0F"/>
                </a:solidFill>
              </a:rPr>
              <a:t> The market may be slow to adopt a new platform</a:t>
            </a:r>
            <a:r>
              <a:rPr lang="en-US" sz="1500" dirty="0" smtClean="0">
                <a:solidFill>
                  <a:srgbClr val="0F0F0F"/>
                </a:solidFill>
              </a:rPr>
              <a:t>.</a:t>
            </a:r>
          </a:p>
          <a:p>
            <a:endParaRPr lang="en-US" sz="1500" b="0" i="0" dirty="0">
              <a:solidFill>
                <a:srgbClr val="0F0F0F"/>
              </a:solidFill>
              <a:effectLst/>
            </a:endParaRPr>
          </a:p>
        </p:txBody>
      </p:sp>
      <p:sp>
        <p:nvSpPr>
          <p:cNvPr id="5" name="Rectangle 4"/>
          <p:cNvSpPr/>
          <p:nvPr/>
        </p:nvSpPr>
        <p:spPr>
          <a:xfrm>
            <a:off x="5489450" y="789328"/>
            <a:ext cx="3240000" cy="1708160"/>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Technology Risks:</a:t>
            </a:r>
            <a:endParaRPr lang="en-US" sz="1500" dirty="0">
              <a:solidFill>
                <a:srgbClr val="0F0F0F"/>
              </a:solidFill>
            </a:endParaRPr>
          </a:p>
          <a:p>
            <a:pPr algn="just">
              <a:buFont typeface="Arial" panose="020B0604020202020204" pitchFamily="34" charset="0"/>
              <a:buChar char="•"/>
            </a:pPr>
            <a:r>
              <a:rPr lang="en-US" sz="1500" i="1" dirty="0">
                <a:solidFill>
                  <a:srgbClr val="0F0F0F"/>
                </a:solidFill>
              </a:rPr>
              <a:t>Technical Challenges:</a:t>
            </a:r>
            <a:r>
              <a:rPr lang="en-US" sz="1500" dirty="0">
                <a:solidFill>
                  <a:srgbClr val="0F0F0F"/>
                </a:solidFill>
              </a:rPr>
              <a:t> Potential technical glitches and bugs during platform development.</a:t>
            </a:r>
          </a:p>
          <a:p>
            <a:pPr algn="just">
              <a:buFont typeface="Arial" panose="020B0604020202020204" pitchFamily="34" charset="0"/>
              <a:buChar char="•"/>
            </a:pPr>
            <a:r>
              <a:rPr lang="en-US" sz="1500" i="1" dirty="0">
                <a:solidFill>
                  <a:srgbClr val="0F0F0F"/>
                </a:solidFill>
              </a:rPr>
              <a:t>Dependency on AI:</a:t>
            </a:r>
            <a:r>
              <a:rPr lang="en-US" sz="1500" dirty="0">
                <a:solidFill>
                  <a:srgbClr val="0F0F0F"/>
                </a:solidFill>
              </a:rPr>
              <a:t> Reliability on AI algorithms may face challenges in delivering accurate recommendations.</a:t>
            </a:r>
            <a:endParaRPr lang="en-US" sz="1500" b="0" i="0" dirty="0">
              <a:solidFill>
                <a:srgbClr val="0F0F0F"/>
              </a:solidFill>
              <a:effectLst/>
            </a:endParaRPr>
          </a:p>
        </p:txBody>
      </p:sp>
      <p:sp>
        <p:nvSpPr>
          <p:cNvPr id="7" name="Rectangle 6"/>
          <p:cNvSpPr/>
          <p:nvPr/>
        </p:nvSpPr>
        <p:spPr>
          <a:xfrm>
            <a:off x="8837690" y="790466"/>
            <a:ext cx="3240000" cy="1708160"/>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Regulatory Risks:</a:t>
            </a:r>
            <a:endParaRPr lang="en-US" sz="1500" dirty="0">
              <a:solidFill>
                <a:srgbClr val="0F0F0F"/>
              </a:solidFill>
            </a:endParaRPr>
          </a:p>
          <a:p>
            <a:pPr algn="just">
              <a:buFont typeface="Arial" panose="020B0604020202020204" pitchFamily="34" charset="0"/>
              <a:buChar char="•"/>
            </a:pPr>
            <a:r>
              <a:rPr lang="en-US" sz="1500" i="1" dirty="0">
                <a:solidFill>
                  <a:srgbClr val="0F0F0F"/>
                </a:solidFill>
              </a:rPr>
              <a:t>Legal Compliance:</a:t>
            </a:r>
            <a:r>
              <a:rPr lang="en-US" sz="1500" dirty="0">
                <a:solidFill>
                  <a:srgbClr val="0F0F0F"/>
                </a:solidFill>
              </a:rPr>
              <a:t> Evolving regulations in the technology and e-commerce space.</a:t>
            </a:r>
          </a:p>
          <a:p>
            <a:pPr algn="just">
              <a:buFont typeface="Arial" panose="020B0604020202020204" pitchFamily="34" charset="0"/>
              <a:buChar char="•"/>
            </a:pPr>
            <a:r>
              <a:rPr lang="en-US" sz="1500" i="1" dirty="0">
                <a:solidFill>
                  <a:srgbClr val="0F0F0F"/>
                </a:solidFill>
              </a:rPr>
              <a:t>Data Privacy Laws:</a:t>
            </a:r>
            <a:r>
              <a:rPr lang="en-US" sz="1500" dirty="0">
                <a:solidFill>
                  <a:srgbClr val="0F0F0F"/>
                </a:solidFill>
              </a:rPr>
              <a:t> Stringent data protection laws may impact data collection and usage.</a:t>
            </a:r>
            <a:endParaRPr lang="en-US" sz="1500" b="0" i="0" dirty="0">
              <a:solidFill>
                <a:srgbClr val="0F0F0F"/>
              </a:solidFill>
              <a:effectLst/>
            </a:endParaRPr>
          </a:p>
        </p:txBody>
      </p:sp>
      <p:sp>
        <p:nvSpPr>
          <p:cNvPr id="14" name="Rectangle 13"/>
          <p:cNvSpPr/>
          <p:nvPr/>
        </p:nvSpPr>
        <p:spPr>
          <a:xfrm>
            <a:off x="2148454" y="2603124"/>
            <a:ext cx="3240000" cy="1938992"/>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Financial Risks:</a:t>
            </a:r>
            <a:endParaRPr lang="en-US" sz="1500" dirty="0">
              <a:solidFill>
                <a:srgbClr val="0F0F0F"/>
              </a:solidFill>
            </a:endParaRPr>
          </a:p>
          <a:p>
            <a:pPr algn="just">
              <a:buFont typeface="Arial" panose="020B0604020202020204" pitchFamily="34" charset="0"/>
              <a:buChar char="•"/>
            </a:pPr>
            <a:r>
              <a:rPr lang="en-US" sz="1500" i="1" dirty="0">
                <a:solidFill>
                  <a:srgbClr val="0F0F0F"/>
                </a:solidFill>
              </a:rPr>
              <a:t>Revenue Fluctuations:</a:t>
            </a:r>
            <a:r>
              <a:rPr lang="en-US" sz="1500" dirty="0">
                <a:solidFill>
                  <a:srgbClr val="0F0F0F"/>
                </a:solidFill>
              </a:rPr>
              <a:t> Dependency on affiliate programs and advertisements for revenue.</a:t>
            </a:r>
          </a:p>
          <a:p>
            <a:pPr algn="just">
              <a:buFont typeface="Arial" panose="020B0604020202020204" pitchFamily="34" charset="0"/>
              <a:buChar char="•"/>
            </a:pPr>
            <a:r>
              <a:rPr lang="en-US" sz="1500" i="1" dirty="0">
                <a:solidFill>
                  <a:srgbClr val="0F0F0F"/>
                </a:solidFill>
              </a:rPr>
              <a:t>Economic Downturn:</a:t>
            </a:r>
            <a:r>
              <a:rPr lang="en-US" sz="1500" dirty="0">
                <a:solidFill>
                  <a:srgbClr val="0F0F0F"/>
                </a:solidFill>
              </a:rPr>
              <a:t> Economic instability affecting marketing budgets of software and hosting providers</a:t>
            </a:r>
            <a:r>
              <a:rPr lang="en-US" sz="1500" dirty="0" smtClean="0">
                <a:solidFill>
                  <a:srgbClr val="0F0F0F"/>
                </a:solidFill>
              </a:rPr>
              <a:t>.</a:t>
            </a:r>
          </a:p>
          <a:p>
            <a:pPr algn="just"/>
            <a:endParaRPr lang="en-US" sz="1500" b="0" i="0" dirty="0">
              <a:solidFill>
                <a:srgbClr val="0F0F0F"/>
              </a:solidFill>
              <a:effectLst/>
            </a:endParaRPr>
          </a:p>
        </p:txBody>
      </p:sp>
      <p:sp>
        <p:nvSpPr>
          <p:cNvPr id="15" name="Rectangle 14"/>
          <p:cNvSpPr/>
          <p:nvPr/>
        </p:nvSpPr>
        <p:spPr>
          <a:xfrm>
            <a:off x="5489450" y="2600397"/>
            <a:ext cx="3240000" cy="1938992"/>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Operational Risks:</a:t>
            </a:r>
            <a:endParaRPr lang="en-US" sz="1500" dirty="0">
              <a:solidFill>
                <a:srgbClr val="0F0F0F"/>
              </a:solidFill>
            </a:endParaRPr>
          </a:p>
          <a:p>
            <a:pPr algn="just">
              <a:buFont typeface="Arial" panose="020B0604020202020204" pitchFamily="34" charset="0"/>
              <a:buChar char="•"/>
            </a:pPr>
            <a:r>
              <a:rPr lang="en-US" sz="1500" i="1" dirty="0">
                <a:solidFill>
                  <a:srgbClr val="0F0F0F"/>
                </a:solidFill>
              </a:rPr>
              <a:t>Vendor Management:</a:t>
            </a:r>
            <a:r>
              <a:rPr lang="en-US" sz="1500" dirty="0">
                <a:solidFill>
                  <a:srgbClr val="0F0F0F"/>
                </a:solidFill>
              </a:rPr>
              <a:t> Challenges in managing a diverse range of vendors on the platform.</a:t>
            </a:r>
          </a:p>
          <a:p>
            <a:pPr algn="just">
              <a:buFont typeface="Arial" panose="020B0604020202020204" pitchFamily="34" charset="0"/>
              <a:buChar char="•"/>
            </a:pPr>
            <a:r>
              <a:rPr lang="en-US" sz="1500" i="1" dirty="0">
                <a:solidFill>
                  <a:srgbClr val="0F0F0F"/>
                </a:solidFill>
              </a:rPr>
              <a:t>Security Concerns:</a:t>
            </a:r>
            <a:r>
              <a:rPr lang="en-US" sz="1500" dirty="0">
                <a:solidFill>
                  <a:srgbClr val="0F0F0F"/>
                </a:solidFill>
              </a:rPr>
              <a:t> Potential </a:t>
            </a:r>
            <a:r>
              <a:rPr lang="en-US" sz="1500" dirty="0" err="1">
                <a:solidFill>
                  <a:srgbClr val="0F0F0F"/>
                </a:solidFill>
              </a:rPr>
              <a:t>cybersecurity</a:t>
            </a:r>
            <a:r>
              <a:rPr lang="en-US" sz="1500" dirty="0">
                <a:solidFill>
                  <a:srgbClr val="0F0F0F"/>
                </a:solidFill>
              </a:rPr>
              <a:t> threats and risks associated with hosting sensitive user data.</a:t>
            </a:r>
            <a:endParaRPr lang="en-US" sz="1500" b="0" i="0" dirty="0">
              <a:solidFill>
                <a:srgbClr val="0F0F0F"/>
              </a:solidFill>
              <a:effectLst/>
            </a:endParaRPr>
          </a:p>
        </p:txBody>
      </p:sp>
      <p:sp>
        <p:nvSpPr>
          <p:cNvPr id="16" name="Rectangle 15"/>
          <p:cNvSpPr/>
          <p:nvPr/>
        </p:nvSpPr>
        <p:spPr>
          <a:xfrm>
            <a:off x="8837691" y="2603124"/>
            <a:ext cx="3240000" cy="1938992"/>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User Adoption Risks:</a:t>
            </a:r>
            <a:endParaRPr lang="en-US" sz="1500" dirty="0">
              <a:solidFill>
                <a:srgbClr val="0F0F0F"/>
              </a:solidFill>
            </a:endParaRPr>
          </a:p>
          <a:p>
            <a:pPr algn="just">
              <a:buFont typeface="Arial" panose="020B0604020202020204" pitchFamily="34" charset="0"/>
              <a:buChar char="•"/>
            </a:pPr>
            <a:r>
              <a:rPr lang="en-US" sz="1500" i="1" dirty="0">
                <a:solidFill>
                  <a:srgbClr val="0F0F0F"/>
                </a:solidFill>
              </a:rPr>
              <a:t>User Education:</a:t>
            </a:r>
            <a:r>
              <a:rPr lang="en-US" sz="1500" dirty="0">
                <a:solidFill>
                  <a:srgbClr val="0F0F0F"/>
                </a:solidFill>
              </a:rPr>
              <a:t> Ensuring users understand the value proposition of IT-Mart24.</a:t>
            </a:r>
          </a:p>
          <a:p>
            <a:pPr algn="just">
              <a:buFont typeface="Arial" panose="020B0604020202020204" pitchFamily="34" charset="0"/>
              <a:buChar char="•"/>
            </a:pPr>
            <a:r>
              <a:rPr lang="en-US" sz="1500" i="1" dirty="0">
                <a:solidFill>
                  <a:srgbClr val="0F0F0F"/>
                </a:solidFill>
              </a:rPr>
              <a:t>Platform Trustworthiness:</a:t>
            </a:r>
            <a:r>
              <a:rPr lang="en-US" sz="1500" dirty="0">
                <a:solidFill>
                  <a:srgbClr val="0F0F0F"/>
                </a:solidFill>
              </a:rPr>
              <a:t> Building and maintaining trust among users and vendors</a:t>
            </a:r>
            <a:r>
              <a:rPr lang="en-US" sz="1500" dirty="0" smtClean="0">
                <a:solidFill>
                  <a:srgbClr val="0F0F0F"/>
                </a:solidFill>
              </a:rPr>
              <a:t>.</a:t>
            </a:r>
          </a:p>
          <a:p>
            <a:pPr algn="just"/>
            <a:endParaRPr lang="en-US" sz="1500" b="0" i="0" dirty="0">
              <a:solidFill>
                <a:srgbClr val="0F0F0F"/>
              </a:solidFill>
              <a:effectLst/>
            </a:endParaRPr>
          </a:p>
        </p:txBody>
      </p:sp>
      <p:sp>
        <p:nvSpPr>
          <p:cNvPr id="17" name="Rectangle 16"/>
          <p:cNvSpPr/>
          <p:nvPr/>
        </p:nvSpPr>
        <p:spPr>
          <a:xfrm>
            <a:off x="2148454" y="4647752"/>
            <a:ext cx="3240000" cy="1708160"/>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Diversification Strategies:</a:t>
            </a:r>
            <a:endParaRPr lang="en-US" sz="1500" dirty="0">
              <a:solidFill>
                <a:srgbClr val="0F0F0F"/>
              </a:solidFill>
            </a:endParaRPr>
          </a:p>
          <a:p>
            <a:pPr algn="just">
              <a:buFont typeface="Arial" panose="020B0604020202020204" pitchFamily="34" charset="0"/>
              <a:buChar char="•"/>
            </a:pPr>
            <a:r>
              <a:rPr lang="en-US" sz="1500" dirty="0">
                <a:solidFill>
                  <a:srgbClr val="0F0F0F"/>
                </a:solidFill>
              </a:rPr>
              <a:t>Implementing strategies to diversify revenue streams beyond affiliate programs.</a:t>
            </a:r>
          </a:p>
          <a:p>
            <a:pPr algn="just">
              <a:buFont typeface="Arial" panose="020B0604020202020204" pitchFamily="34" charset="0"/>
              <a:buChar char="•"/>
            </a:pPr>
            <a:r>
              <a:rPr lang="en-US" sz="1500" dirty="0">
                <a:solidFill>
                  <a:srgbClr val="0F0F0F"/>
                </a:solidFill>
              </a:rPr>
              <a:t>Staying abreast of market trends to adapt to changing dynamics</a:t>
            </a:r>
            <a:r>
              <a:rPr lang="en-US" sz="1500" dirty="0" smtClean="0">
                <a:solidFill>
                  <a:srgbClr val="0F0F0F"/>
                </a:solidFill>
              </a:rPr>
              <a:t>.</a:t>
            </a:r>
          </a:p>
          <a:p>
            <a:pPr algn="just"/>
            <a:endParaRPr lang="en-US" sz="1500" b="0" i="0" dirty="0">
              <a:solidFill>
                <a:srgbClr val="0F0F0F"/>
              </a:solidFill>
              <a:effectLst/>
            </a:endParaRPr>
          </a:p>
        </p:txBody>
      </p:sp>
      <p:sp>
        <p:nvSpPr>
          <p:cNvPr id="18" name="Rectangle 17"/>
          <p:cNvSpPr/>
          <p:nvPr/>
        </p:nvSpPr>
        <p:spPr>
          <a:xfrm>
            <a:off x="5489450" y="4642298"/>
            <a:ext cx="3240000" cy="1708160"/>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Robust Technology Infrastructure:</a:t>
            </a:r>
            <a:endParaRPr lang="en-US" sz="1500" dirty="0">
              <a:solidFill>
                <a:srgbClr val="0F0F0F"/>
              </a:solidFill>
            </a:endParaRPr>
          </a:p>
          <a:p>
            <a:pPr algn="just">
              <a:buFont typeface="Arial" panose="020B0604020202020204" pitchFamily="34" charset="0"/>
              <a:buChar char="•"/>
            </a:pPr>
            <a:r>
              <a:rPr lang="en-US" sz="1500" dirty="0">
                <a:solidFill>
                  <a:srgbClr val="0F0F0F"/>
                </a:solidFill>
              </a:rPr>
              <a:t>Continuous monitoring and testing of the platform for technical robustness.</a:t>
            </a:r>
          </a:p>
          <a:p>
            <a:pPr algn="just">
              <a:buFont typeface="Arial" panose="020B0604020202020204" pitchFamily="34" charset="0"/>
              <a:buChar char="•"/>
            </a:pPr>
            <a:r>
              <a:rPr lang="en-US" sz="1500" dirty="0">
                <a:solidFill>
                  <a:srgbClr val="0F0F0F"/>
                </a:solidFill>
              </a:rPr>
              <a:t>Regular updates and improvements to AI algorithms for enhanced accuracy</a:t>
            </a:r>
            <a:r>
              <a:rPr lang="en-US" sz="1500" dirty="0" smtClean="0">
                <a:solidFill>
                  <a:srgbClr val="0F0F0F"/>
                </a:solidFill>
              </a:rPr>
              <a:t>.</a:t>
            </a:r>
          </a:p>
          <a:p>
            <a:pPr algn="just"/>
            <a:endParaRPr lang="en-US" sz="1500" b="0" i="0" dirty="0" smtClean="0">
              <a:solidFill>
                <a:srgbClr val="0F0F0F"/>
              </a:solidFill>
              <a:effectLst/>
            </a:endParaRPr>
          </a:p>
          <a:p>
            <a:pPr algn="just"/>
            <a:endParaRPr lang="en-US" sz="1500" b="0" i="0" dirty="0">
              <a:solidFill>
                <a:srgbClr val="0F0F0F"/>
              </a:solidFill>
              <a:effectLst/>
            </a:endParaRPr>
          </a:p>
        </p:txBody>
      </p:sp>
      <p:sp>
        <p:nvSpPr>
          <p:cNvPr id="19" name="Rectangle 18"/>
          <p:cNvSpPr/>
          <p:nvPr/>
        </p:nvSpPr>
        <p:spPr>
          <a:xfrm>
            <a:off x="8837690" y="4642298"/>
            <a:ext cx="3240000" cy="1708160"/>
          </a:xfrm>
          <a:prstGeom prst="rect">
            <a:avLst/>
          </a:prstGeom>
          <a:solidFill>
            <a:schemeClr val="accent2">
              <a:lumMod val="20000"/>
              <a:lumOff val="80000"/>
            </a:schemeClr>
          </a:solidFill>
        </p:spPr>
        <p:txBody>
          <a:bodyPr wrap="square">
            <a:spAutoFit/>
          </a:bodyPr>
          <a:lstStyle/>
          <a:p>
            <a:pPr algn="just"/>
            <a:r>
              <a:rPr lang="en-US" sz="1500" b="1" dirty="0">
                <a:solidFill>
                  <a:srgbClr val="0F0F0F"/>
                </a:solidFill>
              </a:rPr>
              <a:t>Legal Compliance Team:</a:t>
            </a:r>
            <a:endParaRPr lang="en-US" sz="1500" dirty="0">
              <a:solidFill>
                <a:srgbClr val="0F0F0F"/>
              </a:solidFill>
            </a:endParaRPr>
          </a:p>
          <a:p>
            <a:pPr algn="just">
              <a:buFont typeface="Arial" panose="020B0604020202020204" pitchFamily="34" charset="0"/>
              <a:buChar char="•"/>
            </a:pPr>
            <a:r>
              <a:rPr lang="en-US" sz="1500" dirty="0">
                <a:solidFill>
                  <a:srgbClr val="0F0F0F"/>
                </a:solidFill>
              </a:rPr>
              <a:t>Establishing a dedicated legal team to stay informed about and adapt to changing regulations.</a:t>
            </a:r>
          </a:p>
          <a:p>
            <a:pPr algn="just">
              <a:buFont typeface="Arial" panose="020B0604020202020204" pitchFamily="34" charset="0"/>
              <a:buChar char="•"/>
            </a:pPr>
            <a:r>
              <a:rPr lang="en-US" sz="1500" dirty="0">
                <a:solidFill>
                  <a:srgbClr val="0F0F0F"/>
                </a:solidFill>
              </a:rPr>
              <a:t>Regular audits to ensure adherence to data privacy laws</a:t>
            </a:r>
            <a:r>
              <a:rPr lang="en-US" sz="1500" dirty="0" smtClean="0">
                <a:solidFill>
                  <a:srgbClr val="0F0F0F"/>
                </a:solidFill>
              </a:rPr>
              <a:t>.</a:t>
            </a:r>
          </a:p>
          <a:p>
            <a:pPr algn="just"/>
            <a:endParaRPr lang="en-US" sz="1500" b="0" i="0" dirty="0">
              <a:solidFill>
                <a:srgbClr val="0F0F0F"/>
              </a:solidFill>
              <a:effectLst/>
            </a:endParaRPr>
          </a:p>
        </p:txBody>
      </p:sp>
      <p:graphicFrame>
        <p:nvGraphicFramePr>
          <p:cNvPr id="21" name="Table 20"/>
          <p:cNvGraphicFramePr>
            <a:graphicFrameLocks noGrp="1"/>
          </p:cNvGraphicFramePr>
          <p:nvPr>
            <p:extLst>
              <p:ext uri="{D42A27DB-BD31-4B8C-83A1-F6EECF244321}">
                <p14:modId xmlns:p14="http://schemas.microsoft.com/office/powerpoint/2010/main" val="2175934534"/>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20" name="TextBox 19"/>
          <p:cNvSpPr txBox="1"/>
          <p:nvPr/>
        </p:nvSpPr>
        <p:spPr>
          <a:xfrm>
            <a:off x="11658600" y="143501"/>
            <a:ext cx="419090" cy="307777"/>
          </a:xfrm>
          <a:prstGeom prst="rect">
            <a:avLst/>
          </a:prstGeom>
          <a:noFill/>
        </p:spPr>
        <p:txBody>
          <a:bodyPr wrap="square" rtlCol="0">
            <a:spAutoFit/>
          </a:bodyPr>
          <a:lstStyle/>
          <a:p>
            <a:r>
              <a:rPr lang="en-US" sz="1400" dirty="0" smtClean="0"/>
              <a:t>27</a:t>
            </a:r>
            <a:endParaRPr lang="en-IN" sz="1400" dirty="0"/>
          </a:p>
        </p:txBody>
      </p:sp>
    </p:spTree>
    <p:extLst>
      <p:ext uri="{BB962C8B-B14F-4D97-AF65-F5344CB8AC3E}">
        <p14:creationId xmlns:p14="http://schemas.microsoft.com/office/powerpoint/2010/main" val="376990465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41211" y="98361"/>
            <a:ext cx="2021707" cy="369332"/>
          </a:xfrm>
          <a:prstGeom prst="rect">
            <a:avLst/>
          </a:prstGeom>
        </p:spPr>
        <p:txBody>
          <a:bodyPr wrap="none">
            <a:spAutoFit/>
          </a:bodyPr>
          <a:lstStyle/>
          <a:p>
            <a:r>
              <a:rPr lang="en-IN" b="1" dirty="0" smtClean="0">
                <a:solidFill>
                  <a:schemeClr val="dk1"/>
                </a:solidFill>
              </a:rPr>
              <a:t>Ask &amp; Use of Funds</a:t>
            </a:r>
            <a:endParaRPr lang="en-IN" b="1" dirty="0"/>
          </a:p>
        </p:txBody>
      </p:sp>
      <p:sp>
        <p:nvSpPr>
          <p:cNvPr id="6" name="Rounded Rectangle 5"/>
          <p:cNvSpPr/>
          <p:nvPr/>
        </p:nvSpPr>
        <p:spPr>
          <a:xfrm>
            <a:off x="4150772"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1/1</a:t>
            </a:r>
            <a:endParaRPr lang="en-IN" b="1" dirty="0">
              <a:solidFill>
                <a:schemeClr val="tx1"/>
              </a:solidFill>
            </a:endParaRPr>
          </a:p>
        </p:txBody>
      </p:sp>
      <p:sp>
        <p:nvSpPr>
          <p:cNvPr id="8" name="Rectangle 7"/>
          <p:cNvSpPr/>
          <p:nvPr/>
        </p:nvSpPr>
        <p:spPr>
          <a:xfrm>
            <a:off x="2236822" y="1115530"/>
            <a:ext cx="8817459" cy="369332"/>
          </a:xfrm>
          <a:prstGeom prst="rect">
            <a:avLst/>
          </a:prstGeom>
          <a:solidFill>
            <a:schemeClr val="accent2">
              <a:lumMod val="40000"/>
              <a:lumOff val="60000"/>
            </a:schemeClr>
          </a:solidFill>
        </p:spPr>
        <p:txBody>
          <a:bodyPr wrap="square">
            <a:spAutoFit/>
          </a:bodyPr>
          <a:lstStyle/>
          <a:p>
            <a:r>
              <a:rPr lang="en-IN" i="1" dirty="0">
                <a:solidFill>
                  <a:srgbClr val="0F0F0F"/>
                </a:solidFill>
              </a:rPr>
              <a:t>Platform </a:t>
            </a:r>
            <a:r>
              <a:rPr lang="en-IN" i="1" dirty="0" smtClean="0">
                <a:solidFill>
                  <a:srgbClr val="0F0F0F"/>
                </a:solidFill>
              </a:rPr>
              <a:t>Development: </a:t>
            </a:r>
            <a:r>
              <a:rPr lang="en-IN" i="1" dirty="0">
                <a:solidFill>
                  <a:srgbClr val="0F0F0F"/>
                </a:solidFill>
              </a:rPr>
              <a:t>₹ </a:t>
            </a:r>
            <a:r>
              <a:rPr lang="en-IN" i="1" dirty="0" smtClean="0">
                <a:solidFill>
                  <a:srgbClr val="0F0F0F"/>
                </a:solidFill>
              </a:rPr>
              <a:t>2,69,28,000.00           </a:t>
            </a:r>
            <a:r>
              <a:rPr lang="en-IN" b="1" dirty="0">
                <a:solidFill>
                  <a:srgbClr val="202124"/>
                </a:solidFill>
                <a:latin typeface="Google Sans"/>
              </a:rPr>
              <a:t>≈   </a:t>
            </a:r>
            <a:r>
              <a:rPr lang="en-IN" dirty="0" smtClean="0">
                <a:solidFill>
                  <a:srgbClr val="202124"/>
                </a:solidFill>
                <a:latin typeface="Google Sans"/>
              </a:rPr>
              <a:t>$ 323145.00</a:t>
            </a:r>
            <a:endParaRPr lang="en-IN" dirty="0"/>
          </a:p>
        </p:txBody>
      </p:sp>
      <p:sp>
        <p:nvSpPr>
          <p:cNvPr id="20" name="Rectangle 19"/>
          <p:cNvSpPr/>
          <p:nvPr/>
        </p:nvSpPr>
        <p:spPr>
          <a:xfrm>
            <a:off x="2236822" y="1647018"/>
            <a:ext cx="8817459" cy="369332"/>
          </a:xfrm>
          <a:prstGeom prst="rect">
            <a:avLst/>
          </a:prstGeom>
          <a:solidFill>
            <a:schemeClr val="accent2">
              <a:lumMod val="40000"/>
              <a:lumOff val="60000"/>
            </a:schemeClr>
          </a:solidFill>
        </p:spPr>
        <p:txBody>
          <a:bodyPr wrap="square">
            <a:spAutoFit/>
          </a:bodyPr>
          <a:lstStyle/>
          <a:p>
            <a:r>
              <a:rPr lang="en-IN" i="1" dirty="0">
                <a:solidFill>
                  <a:srgbClr val="0F0F0F"/>
                </a:solidFill>
              </a:rPr>
              <a:t>Marketing &amp; Promotion: ₹ </a:t>
            </a:r>
            <a:r>
              <a:rPr lang="en-IN" i="1" dirty="0" smtClean="0">
                <a:solidFill>
                  <a:srgbClr val="0F0F0F"/>
                </a:solidFill>
              </a:rPr>
              <a:t>3,20,20,000.00</a:t>
            </a:r>
            <a:r>
              <a:rPr lang="en-IN" i="1" dirty="0">
                <a:solidFill>
                  <a:srgbClr val="0F0F0F"/>
                </a:solidFill>
              </a:rPr>
              <a:t> </a:t>
            </a:r>
            <a:r>
              <a:rPr lang="en-IN" i="1" dirty="0" smtClean="0">
                <a:solidFill>
                  <a:srgbClr val="0F0F0F"/>
                </a:solidFill>
              </a:rPr>
              <a:t>        </a:t>
            </a:r>
            <a:r>
              <a:rPr lang="en-IN" b="1" dirty="0">
                <a:solidFill>
                  <a:srgbClr val="202124"/>
                </a:solidFill>
                <a:latin typeface="Google Sans"/>
              </a:rPr>
              <a:t>≈ </a:t>
            </a:r>
            <a:r>
              <a:rPr lang="en-IN" b="1" dirty="0" smtClean="0">
                <a:solidFill>
                  <a:srgbClr val="202124"/>
                </a:solidFill>
                <a:latin typeface="Google Sans"/>
              </a:rPr>
              <a:t>  </a:t>
            </a:r>
            <a:r>
              <a:rPr lang="en-IN" dirty="0" smtClean="0">
                <a:solidFill>
                  <a:srgbClr val="202124"/>
                </a:solidFill>
                <a:latin typeface="Google Sans"/>
              </a:rPr>
              <a:t>$ 384251.00</a:t>
            </a:r>
            <a:endParaRPr lang="en-IN" dirty="0"/>
          </a:p>
        </p:txBody>
      </p:sp>
      <p:sp>
        <p:nvSpPr>
          <p:cNvPr id="21" name="Rectangle 20"/>
          <p:cNvSpPr/>
          <p:nvPr/>
        </p:nvSpPr>
        <p:spPr>
          <a:xfrm>
            <a:off x="2236822" y="2194473"/>
            <a:ext cx="8817459" cy="369332"/>
          </a:xfrm>
          <a:prstGeom prst="rect">
            <a:avLst/>
          </a:prstGeom>
          <a:solidFill>
            <a:schemeClr val="accent2">
              <a:lumMod val="40000"/>
              <a:lumOff val="60000"/>
            </a:schemeClr>
          </a:solidFill>
        </p:spPr>
        <p:txBody>
          <a:bodyPr wrap="square">
            <a:spAutoFit/>
          </a:bodyPr>
          <a:lstStyle/>
          <a:p>
            <a:r>
              <a:rPr lang="en-IN" i="1" dirty="0">
                <a:solidFill>
                  <a:srgbClr val="0F0F0F"/>
                </a:solidFill>
              </a:rPr>
              <a:t>Marketing &amp; Promotion: ₹ </a:t>
            </a:r>
            <a:r>
              <a:rPr lang="en-IN" i="1" dirty="0" smtClean="0">
                <a:solidFill>
                  <a:srgbClr val="0F0F0F"/>
                </a:solidFill>
              </a:rPr>
              <a:t>2,00,00,000.00</a:t>
            </a:r>
            <a:r>
              <a:rPr lang="en-IN" i="1" dirty="0">
                <a:solidFill>
                  <a:srgbClr val="0F0F0F"/>
                </a:solidFill>
              </a:rPr>
              <a:t> </a:t>
            </a:r>
            <a:r>
              <a:rPr lang="en-IN" i="1" dirty="0" smtClean="0">
                <a:solidFill>
                  <a:srgbClr val="0F0F0F"/>
                </a:solidFill>
              </a:rPr>
              <a:t>        </a:t>
            </a:r>
            <a:r>
              <a:rPr lang="en-IN" b="1" dirty="0">
                <a:solidFill>
                  <a:srgbClr val="202124"/>
                </a:solidFill>
                <a:latin typeface="Google Sans"/>
              </a:rPr>
              <a:t>≈ </a:t>
            </a:r>
            <a:r>
              <a:rPr lang="en-IN" b="1" dirty="0" smtClean="0">
                <a:solidFill>
                  <a:srgbClr val="202124"/>
                </a:solidFill>
                <a:latin typeface="Google Sans"/>
              </a:rPr>
              <a:t>  </a:t>
            </a:r>
            <a:r>
              <a:rPr lang="en-IN" dirty="0" smtClean="0">
                <a:solidFill>
                  <a:srgbClr val="202124"/>
                </a:solidFill>
                <a:latin typeface="Google Sans"/>
              </a:rPr>
              <a:t>$ 240007.00</a:t>
            </a:r>
            <a:endParaRPr lang="en-IN" dirty="0"/>
          </a:p>
        </p:txBody>
      </p:sp>
      <p:sp>
        <p:nvSpPr>
          <p:cNvPr id="22" name="Rectangle 21"/>
          <p:cNvSpPr/>
          <p:nvPr/>
        </p:nvSpPr>
        <p:spPr>
          <a:xfrm>
            <a:off x="2236821" y="2750949"/>
            <a:ext cx="8817459" cy="369332"/>
          </a:xfrm>
          <a:prstGeom prst="rect">
            <a:avLst/>
          </a:prstGeom>
          <a:solidFill>
            <a:schemeClr val="accent2">
              <a:lumMod val="40000"/>
              <a:lumOff val="60000"/>
            </a:schemeClr>
          </a:solidFill>
        </p:spPr>
        <p:txBody>
          <a:bodyPr wrap="square">
            <a:spAutoFit/>
          </a:bodyPr>
          <a:lstStyle/>
          <a:p>
            <a:r>
              <a:rPr lang="en-IN" i="1" dirty="0">
                <a:solidFill>
                  <a:srgbClr val="0F0F0F"/>
                </a:solidFill>
              </a:rPr>
              <a:t>GRAND TOTAL APPROX: ₹ </a:t>
            </a:r>
            <a:r>
              <a:rPr lang="en-IN" i="1" dirty="0" smtClean="0">
                <a:solidFill>
                  <a:srgbClr val="0F0F0F"/>
                </a:solidFill>
              </a:rPr>
              <a:t>7,89,48,000.00</a:t>
            </a:r>
            <a:r>
              <a:rPr lang="en-IN" i="1" dirty="0">
                <a:solidFill>
                  <a:srgbClr val="0F0F0F"/>
                </a:solidFill>
              </a:rPr>
              <a:t> </a:t>
            </a:r>
            <a:r>
              <a:rPr lang="en-IN" i="1" dirty="0" smtClean="0">
                <a:solidFill>
                  <a:srgbClr val="0F0F0F"/>
                </a:solidFill>
              </a:rPr>
              <a:t>         </a:t>
            </a:r>
            <a:r>
              <a:rPr lang="en-IN" b="1" dirty="0">
                <a:solidFill>
                  <a:srgbClr val="202124"/>
                </a:solidFill>
                <a:latin typeface="Google Sans"/>
              </a:rPr>
              <a:t>≈ </a:t>
            </a:r>
            <a:r>
              <a:rPr lang="en-IN" b="1" dirty="0" smtClean="0">
                <a:solidFill>
                  <a:srgbClr val="202124"/>
                </a:solidFill>
                <a:latin typeface="Google Sans"/>
              </a:rPr>
              <a:t>  </a:t>
            </a:r>
            <a:r>
              <a:rPr lang="en-IN" dirty="0" smtClean="0">
                <a:solidFill>
                  <a:srgbClr val="202124"/>
                </a:solidFill>
                <a:latin typeface="Google Sans"/>
              </a:rPr>
              <a:t>$ 947404.00</a:t>
            </a:r>
            <a:endParaRPr lang="en-IN" dirty="0"/>
          </a:p>
        </p:txBody>
      </p:sp>
      <p:sp>
        <p:nvSpPr>
          <p:cNvPr id="9" name="Rectangle 8"/>
          <p:cNvSpPr/>
          <p:nvPr/>
        </p:nvSpPr>
        <p:spPr>
          <a:xfrm>
            <a:off x="2213638" y="3320364"/>
            <a:ext cx="8852039" cy="369332"/>
          </a:xfrm>
          <a:prstGeom prst="rect">
            <a:avLst/>
          </a:prstGeom>
          <a:solidFill>
            <a:schemeClr val="accent2">
              <a:lumMod val="60000"/>
              <a:lumOff val="40000"/>
            </a:schemeClr>
          </a:solidFill>
        </p:spPr>
        <p:txBody>
          <a:bodyPr wrap="square">
            <a:spAutoFit/>
          </a:bodyPr>
          <a:lstStyle/>
          <a:p>
            <a:r>
              <a:rPr lang="en-US" b="1" dirty="0"/>
              <a:t>Investment Ask: </a:t>
            </a:r>
            <a:r>
              <a:rPr lang="en-US" b="1" dirty="0" smtClean="0"/>
              <a:t>₹ 6,00,00,000.00</a:t>
            </a:r>
            <a:r>
              <a:rPr lang="en-IN" i="1" dirty="0">
                <a:solidFill>
                  <a:srgbClr val="0F0F0F"/>
                </a:solidFill>
              </a:rPr>
              <a:t> </a:t>
            </a:r>
            <a:r>
              <a:rPr lang="en-IN" i="1" dirty="0" smtClean="0">
                <a:solidFill>
                  <a:srgbClr val="0F0F0F"/>
                </a:solidFill>
              </a:rPr>
              <a:t>                      </a:t>
            </a:r>
            <a:r>
              <a:rPr lang="en-IN" b="1" dirty="0">
                <a:solidFill>
                  <a:srgbClr val="202124"/>
                </a:solidFill>
                <a:latin typeface="Google Sans"/>
              </a:rPr>
              <a:t>≈ </a:t>
            </a:r>
            <a:r>
              <a:rPr lang="en-IN" b="1" dirty="0" smtClean="0">
                <a:solidFill>
                  <a:srgbClr val="202124"/>
                </a:solidFill>
                <a:latin typeface="Google Sans"/>
              </a:rPr>
              <a:t>  </a:t>
            </a:r>
            <a:r>
              <a:rPr lang="en-IN" dirty="0" smtClean="0">
                <a:solidFill>
                  <a:srgbClr val="202124"/>
                </a:solidFill>
                <a:latin typeface="Google Sans"/>
              </a:rPr>
              <a:t>$ 720021.00</a:t>
            </a:r>
            <a:endParaRPr lang="en-US" dirty="0"/>
          </a:p>
        </p:txBody>
      </p:sp>
      <p:sp>
        <p:nvSpPr>
          <p:cNvPr id="10" name="Rectangle 9"/>
          <p:cNvSpPr/>
          <p:nvPr/>
        </p:nvSpPr>
        <p:spPr>
          <a:xfrm>
            <a:off x="2213638" y="4048756"/>
            <a:ext cx="8926427" cy="646331"/>
          </a:xfrm>
          <a:prstGeom prst="rect">
            <a:avLst/>
          </a:prstGeom>
        </p:spPr>
        <p:txBody>
          <a:bodyPr wrap="square">
            <a:spAutoFit/>
          </a:bodyPr>
          <a:lstStyle/>
          <a:p>
            <a:pPr algn="just"/>
            <a:r>
              <a:rPr lang="en-US" dirty="0">
                <a:solidFill>
                  <a:srgbClr val="0F0F0F"/>
                </a:solidFill>
              </a:rPr>
              <a:t>The funding of ₹6,00,00,000.00 sought from investors will be strategically allocated to propel IT-Mart24 to its next phase of growth.</a:t>
            </a:r>
            <a:endParaRPr lang="en-IN" dirty="0"/>
          </a:p>
        </p:txBody>
      </p:sp>
      <p:sp>
        <p:nvSpPr>
          <p:cNvPr id="11" name="Rectangle 10"/>
          <p:cNvSpPr/>
          <p:nvPr/>
        </p:nvSpPr>
        <p:spPr>
          <a:xfrm>
            <a:off x="2213638" y="4835637"/>
            <a:ext cx="9044121" cy="1754326"/>
          </a:xfrm>
          <a:prstGeom prst="rect">
            <a:avLst/>
          </a:prstGeom>
        </p:spPr>
        <p:txBody>
          <a:bodyPr wrap="square">
            <a:spAutoFit/>
          </a:bodyPr>
          <a:lstStyle/>
          <a:p>
            <a:pPr algn="just"/>
            <a:r>
              <a:rPr lang="en-US" b="1" dirty="0"/>
              <a:t>Remaining Investment by Promoters:</a:t>
            </a:r>
            <a:r>
              <a:rPr lang="en-US" dirty="0"/>
              <a:t> The promoters are committed to investing the remaining amount required for the overall project, demonstrating their confidence in IT-Mart24's success</a:t>
            </a:r>
            <a:r>
              <a:rPr lang="en-US" dirty="0" smtClean="0"/>
              <a:t>.</a:t>
            </a:r>
          </a:p>
          <a:p>
            <a:pPr algn="just"/>
            <a:endParaRPr lang="en-US" dirty="0"/>
          </a:p>
          <a:p>
            <a:pPr algn="just"/>
            <a:r>
              <a:rPr lang="en-US" b="1" dirty="0"/>
              <a:t>Investor Benefit:</a:t>
            </a:r>
            <a:r>
              <a:rPr lang="en-US" dirty="0"/>
              <a:t> Investors contributing to this funding round will play a pivotal role in shaping the future of IT-Mart24, a revolutionary platform at the intersection of digital solutions and user-centric experience.</a:t>
            </a:r>
            <a:endParaRPr lang="en-US" b="0" i="0" dirty="0">
              <a:effectLst/>
            </a:endParaRPr>
          </a:p>
        </p:txBody>
      </p:sp>
      <p:sp>
        <p:nvSpPr>
          <p:cNvPr id="12" name="Rectangle 11"/>
          <p:cNvSpPr/>
          <p:nvPr/>
        </p:nvSpPr>
        <p:spPr>
          <a:xfrm>
            <a:off x="2181710" y="683404"/>
            <a:ext cx="2460930" cy="338554"/>
          </a:xfrm>
          <a:prstGeom prst="rect">
            <a:avLst/>
          </a:prstGeom>
        </p:spPr>
        <p:txBody>
          <a:bodyPr wrap="none">
            <a:spAutoFit/>
          </a:bodyPr>
          <a:lstStyle/>
          <a:p>
            <a:r>
              <a:rPr lang="en-US" sz="1600" i="1" dirty="0" smtClean="0"/>
              <a:t>As per Financial Projections</a:t>
            </a:r>
            <a:endParaRPr lang="en-IN" sz="1600" dirty="0"/>
          </a:p>
        </p:txBody>
      </p:sp>
      <p:graphicFrame>
        <p:nvGraphicFramePr>
          <p:cNvPr id="23" name="Table 22"/>
          <p:cNvGraphicFramePr>
            <a:graphicFrameLocks noGrp="1"/>
          </p:cNvGraphicFramePr>
          <p:nvPr>
            <p:extLst>
              <p:ext uri="{D42A27DB-BD31-4B8C-83A1-F6EECF244321}">
                <p14:modId xmlns:p14="http://schemas.microsoft.com/office/powerpoint/2010/main" val="256078060"/>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bl>
          </a:graphicData>
        </a:graphic>
      </p:graphicFrame>
      <p:sp>
        <p:nvSpPr>
          <p:cNvPr id="15" name="TextBox 14"/>
          <p:cNvSpPr txBox="1"/>
          <p:nvPr/>
        </p:nvSpPr>
        <p:spPr>
          <a:xfrm>
            <a:off x="11658600" y="143501"/>
            <a:ext cx="382509" cy="307777"/>
          </a:xfrm>
          <a:prstGeom prst="rect">
            <a:avLst/>
          </a:prstGeom>
          <a:noFill/>
        </p:spPr>
        <p:txBody>
          <a:bodyPr wrap="square" rtlCol="0">
            <a:spAutoFit/>
          </a:bodyPr>
          <a:lstStyle/>
          <a:p>
            <a:r>
              <a:rPr lang="en-US" sz="1400" dirty="0" smtClean="0"/>
              <a:t>28</a:t>
            </a:r>
            <a:endParaRPr lang="en-IN" sz="1400" dirty="0"/>
          </a:p>
        </p:txBody>
      </p:sp>
    </p:spTree>
    <p:extLst>
      <p:ext uri="{BB962C8B-B14F-4D97-AF65-F5344CB8AC3E}">
        <p14:creationId xmlns:p14="http://schemas.microsoft.com/office/powerpoint/2010/main" val="12848298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41211" y="98361"/>
            <a:ext cx="4534575" cy="369332"/>
          </a:xfrm>
          <a:prstGeom prst="rect">
            <a:avLst/>
          </a:prstGeom>
        </p:spPr>
        <p:txBody>
          <a:bodyPr wrap="none">
            <a:spAutoFit/>
          </a:bodyPr>
          <a:lstStyle/>
          <a:p>
            <a:r>
              <a:rPr lang="en-IN" b="1" dirty="0" smtClean="0">
                <a:solidFill>
                  <a:schemeClr val="dk1"/>
                </a:solidFill>
              </a:rPr>
              <a:t>Conclusion - </a:t>
            </a:r>
            <a:r>
              <a:rPr lang="en-IN" b="1" dirty="0" smtClean="0"/>
              <a:t>Unleashing </a:t>
            </a:r>
            <a:r>
              <a:rPr lang="en-IN" b="1" dirty="0"/>
              <a:t>IT-Mart24's </a:t>
            </a:r>
            <a:r>
              <a:rPr lang="en-IN" b="1" dirty="0" smtClean="0"/>
              <a:t>Potential</a:t>
            </a:r>
            <a:endParaRPr lang="en-IN" b="1" dirty="0"/>
          </a:p>
        </p:txBody>
      </p:sp>
      <p:sp>
        <p:nvSpPr>
          <p:cNvPr id="6" name="Rounded Rectangle 5"/>
          <p:cNvSpPr/>
          <p:nvPr/>
        </p:nvSpPr>
        <p:spPr>
          <a:xfrm>
            <a:off x="669480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1/2</a:t>
            </a:r>
            <a:endParaRPr lang="en-IN" b="1" dirty="0">
              <a:solidFill>
                <a:schemeClr val="tx1"/>
              </a:solidFill>
            </a:endParaRPr>
          </a:p>
        </p:txBody>
      </p:sp>
      <p:sp>
        <p:nvSpPr>
          <p:cNvPr id="2" name="Rectangle 1"/>
          <p:cNvSpPr/>
          <p:nvPr/>
        </p:nvSpPr>
        <p:spPr>
          <a:xfrm>
            <a:off x="2141211" y="637532"/>
            <a:ext cx="9827470" cy="954107"/>
          </a:xfrm>
          <a:prstGeom prst="rect">
            <a:avLst/>
          </a:prstGeom>
        </p:spPr>
        <p:txBody>
          <a:bodyPr wrap="square">
            <a:spAutoFit/>
          </a:bodyPr>
          <a:lstStyle/>
          <a:p>
            <a:pPr algn="just"/>
            <a:r>
              <a:rPr lang="en-US" sz="1400" b="1" dirty="0"/>
              <a:t>Introduction:</a:t>
            </a:r>
          </a:p>
          <a:p>
            <a:pPr algn="just"/>
            <a:r>
              <a:rPr lang="en-US" sz="1400" dirty="0"/>
              <a:t>In crafting the pitch for IT-Mart24, our aim was to present an innovative platform poised to revolutionize the digital landscape. By seamlessly integrating Hosting, Software, AI Tools, and Digital Tutorials, IT-Mart24 emerges as a unique marketplace, simplifying the intricate process of digital product selection and hosting.</a:t>
            </a:r>
            <a:endParaRPr lang="en-US" sz="1400" b="0" i="0" dirty="0">
              <a:effectLst/>
            </a:endParaRPr>
          </a:p>
        </p:txBody>
      </p:sp>
      <p:sp>
        <p:nvSpPr>
          <p:cNvPr id="5" name="Rectangle 4"/>
          <p:cNvSpPr/>
          <p:nvPr/>
        </p:nvSpPr>
        <p:spPr>
          <a:xfrm>
            <a:off x="2141211" y="1899987"/>
            <a:ext cx="5069641" cy="1384995"/>
          </a:xfrm>
          <a:prstGeom prst="rect">
            <a:avLst/>
          </a:prstGeom>
        </p:spPr>
        <p:txBody>
          <a:bodyPr wrap="square">
            <a:spAutoFit/>
          </a:bodyPr>
          <a:lstStyle/>
          <a:p>
            <a:r>
              <a:rPr lang="en-US" sz="1400" b="1" dirty="0"/>
              <a:t>Unique Selling Proposition (USP):</a:t>
            </a:r>
          </a:p>
          <a:p>
            <a:r>
              <a:rPr lang="en-US" sz="1400" dirty="0"/>
              <a:t>IT-Mart24's USP lies in</a:t>
            </a:r>
            <a:r>
              <a:rPr lang="en-US" sz="1400" b="1" dirty="0"/>
              <a:t>:</a:t>
            </a:r>
            <a:endParaRPr lang="en-US" sz="1400" dirty="0"/>
          </a:p>
          <a:p>
            <a:pPr>
              <a:buFont typeface="Arial" panose="020B0604020202020204" pitchFamily="34" charset="0"/>
              <a:buChar char="•"/>
            </a:pPr>
            <a:r>
              <a:rPr lang="en-US" sz="1400" dirty="0"/>
              <a:t>Offering a one-stop solution for all digital needs.</a:t>
            </a:r>
          </a:p>
          <a:p>
            <a:pPr>
              <a:buFont typeface="Arial" panose="020B0604020202020204" pitchFamily="34" charset="0"/>
              <a:buChar char="•"/>
            </a:pPr>
            <a:r>
              <a:rPr lang="en-US" sz="1400" dirty="0"/>
              <a:t>An AI-powered recommendation system ensuring precise matches.</a:t>
            </a:r>
          </a:p>
          <a:p>
            <a:pPr>
              <a:buFont typeface="Arial" panose="020B0604020202020204" pitchFamily="34" charset="0"/>
              <a:buChar char="•"/>
            </a:pPr>
            <a:r>
              <a:rPr lang="en-US" sz="1400" dirty="0"/>
              <a:t>A user-friendly dashboard providing holistic control.</a:t>
            </a:r>
            <a:endParaRPr lang="en-US" sz="1400" b="0" i="0" dirty="0">
              <a:effectLst/>
            </a:endParaRPr>
          </a:p>
        </p:txBody>
      </p:sp>
      <p:sp>
        <p:nvSpPr>
          <p:cNvPr id="7" name="Rectangle 6"/>
          <p:cNvSpPr/>
          <p:nvPr/>
        </p:nvSpPr>
        <p:spPr>
          <a:xfrm>
            <a:off x="7210852" y="1899987"/>
            <a:ext cx="4757829" cy="1384995"/>
          </a:xfrm>
          <a:prstGeom prst="rect">
            <a:avLst/>
          </a:prstGeom>
        </p:spPr>
        <p:txBody>
          <a:bodyPr wrap="square">
            <a:spAutoFit/>
          </a:bodyPr>
          <a:lstStyle/>
          <a:p>
            <a:r>
              <a:rPr lang="en-US" sz="1400" b="1" dirty="0"/>
              <a:t>Market Analysis:</a:t>
            </a:r>
          </a:p>
          <a:p>
            <a:pPr>
              <a:buFont typeface="Arial" panose="020B0604020202020204" pitchFamily="34" charset="0"/>
              <a:buChar char="•"/>
            </a:pPr>
            <a:r>
              <a:rPr lang="en-US" sz="1400" dirty="0"/>
              <a:t>Comprehensive insights into the vast software, hosting, and AI markets.</a:t>
            </a:r>
          </a:p>
          <a:p>
            <a:pPr>
              <a:buFont typeface="Arial" panose="020B0604020202020204" pitchFamily="34" charset="0"/>
              <a:buChar char="•"/>
            </a:pPr>
            <a:r>
              <a:rPr lang="en-US" sz="1400" dirty="0"/>
              <a:t>Identification of target audiences and their evolving needs.</a:t>
            </a:r>
          </a:p>
          <a:p>
            <a:pPr>
              <a:buFont typeface="Arial" panose="020B0604020202020204" pitchFamily="34" charset="0"/>
              <a:buChar char="•"/>
            </a:pPr>
            <a:r>
              <a:rPr lang="en-US" sz="1400" dirty="0"/>
              <a:t>Competitive analysis highlighting IT-Mart24's strategic advantages.</a:t>
            </a:r>
            <a:endParaRPr lang="en-US" sz="1400" b="0" i="0" dirty="0">
              <a:effectLst/>
            </a:endParaRPr>
          </a:p>
        </p:txBody>
      </p:sp>
      <p:sp>
        <p:nvSpPr>
          <p:cNvPr id="13" name="Rectangle 12"/>
          <p:cNvSpPr/>
          <p:nvPr/>
        </p:nvSpPr>
        <p:spPr>
          <a:xfrm>
            <a:off x="2141211" y="3429000"/>
            <a:ext cx="4630781" cy="1169551"/>
          </a:xfrm>
          <a:prstGeom prst="rect">
            <a:avLst/>
          </a:prstGeom>
        </p:spPr>
        <p:txBody>
          <a:bodyPr wrap="square">
            <a:spAutoFit/>
          </a:bodyPr>
          <a:lstStyle/>
          <a:p>
            <a:r>
              <a:rPr lang="en-US" sz="1400" b="1" dirty="0"/>
              <a:t>Business Model:</a:t>
            </a:r>
          </a:p>
          <a:p>
            <a:pPr>
              <a:buFont typeface="Arial" panose="020B0604020202020204" pitchFamily="34" charset="0"/>
              <a:buChar char="•"/>
            </a:pPr>
            <a:r>
              <a:rPr lang="en-US" sz="1400" dirty="0"/>
              <a:t>Revenue streams through an affiliate program, advertisements, SEO PPC, and premium listings.</a:t>
            </a:r>
          </a:p>
          <a:p>
            <a:pPr>
              <a:buFont typeface="Arial" panose="020B0604020202020204" pitchFamily="34" charset="0"/>
              <a:buChar char="•"/>
            </a:pPr>
            <a:r>
              <a:rPr lang="en-US" sz="1400" dirty="0"/>
              <a:t>A proven model with solid financial projections.</a:t>
            </a:r>
          </a:p>
          <a:p>
            <a:pPr>
              <a:buFont typeface="Arial" panose="020B0604020202020204" pitchFamily="34" charset="0"/>
              <a:buChar char="•"/>
            </a:pPr>
            <a:r>
              <a:rPr lang="en-US" sz="1400" dirty="0"/>
              <a:t>Strong potential for scalability and growth.</a:t>
            </a:r>
            <a:endParaRPr lang="en-US" sz="1400" b="0" i="0" dirty="0">
              <a:effectLst/>
            </a:endParaRPr>
          </a:p>
        </p:txBody>
      </p:sp>
      <p:sp>
        <p:nvSpPr>
          <p:cNvPr id="14" name="Rectangle 13"/>
          <p:cNvSpPr/>
          <p:nvPr/>
        </p:nvSpPr>
        <p:spPr>
          <a:xfrm>
            <a:off x="7210852" y="3429000"/>
            <a:ext cx="4612974" cy="1169551"/>
          </a:xfrm>
          <a:prstGeom prst="rect">
            <a:avLst/>
          </a:prstGeom>
        </p:spPr>
        <p:txBody>
          <a:bodyPr wrap="square">
            <a:spAutoFit/>
          </a:bodyPr>
          <a:lstStyle/>
          <a:p>
            <a:r>
              <a:rPr lang="en-US" sz="1400" b="1" dirty="0"/>
              <a:t>Technology Stack:</a:t>
            </a:r>
          </a:p>
          <a:p>
            <a:pPr>
              <a:buFont typeface="Arial" panose="020B0604020202020204" pitchFamily="34" charset="0"/>
              <a:buChar char="•"/>
            </a:pPr>
            <a:r>
              <a:rPr lang="en-US" sz="1400" dirty="0"/>
              <a:t>Leveraging technologies like Java, Apache Cassandra, and Node.js for robust development.</a:t>
            </a:r>
          </a:p>
          <a:p>
            <a:pPr>
              <a:buFont typeface="Arial" panose="020B0604020202020204" pitchFamily="34" charset="0"/>
              <a:buChar char="•"/>
            </a:pPr>
            <a:r>
              <a:rPr lang="en-US" sz="1400" dirty="0"/>
              <a:t>A secure and scalable infrastructure to support IT-Mart24's dynamic functionalities.</a:t>
            </a:r>
            <a:endParaRPr lang="en-US" sz="1400" b="0" i="0" dirty="0">
              <a:effectLst/>
            </a:endParaRPr>
          </a:p>
        </p:txBody>
      </p:sp>
      <p:sp>
        <p:nvSpPr>
          <p:cNvPr id="15" name="Rectangle 14"/>
          <p:cNvSpPr/>
          <p:nvPr/>
        </p:nvSpPr>
        <p:spPr>
          <a:xfrm>
            <a:off x="2141211" y="4742569"/>
            <a:ext cx="4258147" cy="1600438"/>
          </a:xfrm>
          <a:prstGeom prst="rect">
            <a:avLst/>
          </a:prstGeom>
        </p:spPr>
        <p:txBody>
          <a:bodyPr wrap="square">
            <a:spAutoFit/>
          </a:bodyPr>
          <a:lstStyle/>
          <a:p>
            <a:r>
              <a:rPr lang="en-IN" sz="1400" b="1" dirty="0"/>
              <a:t>User Experience:</a:t>
            </a:r>
          </a:p>
          <a:p>
            <a:pPr>
              <a:buFont typeface="Arial" panose="020B0604020202020204" pitchFamily="34" charset="0"/>
              <a:buChar char="•"/>
            </a:pPr>
            <a:r>
              <a:rPr lang="en-IN" sz="1400" dirty="0"/>
              <a:t>User-centric design and simplified interfaces for seamless navigation.</a:t>
            </a:r>
          </a:p>
          <a:p>
            <a:pPr>
              <a:buFont typeface="Arial" panose="020B0604020202020204" pitchFamily="34" charset="0"/>
              <a:buChar char="•"/>
            </a:pPr>
            <a:r>
              <a:rPr lang="en-IN" sz="1400" dirty="0"/>
              <a:t>AI algorithms providing tailored recommendations, enhancing user satisfaction.</a:t>
            </a:r>
          </a:p>
          <a:p>
            <a:pPr>
              <a:buFont typeface="Arial" panose="020B0604020202020204" pitchFamily="34" charset="0"/>
              <a:buChar char="•"/>
            </a:pPr>
            <a:r>
              <a:rPr lang="en-IN" sz="1400" dirty="0"/>
              <a:t>An intuitive dashboard offering users unprecedented control over their digital products.</a:t>
            </a:r>
            <a:endParaRPr lang="en-IN" sz="1400" b="0" i="0" dirty="0">
              <a:effectLst/>
            </a:endParaRPr>
          </a:p>
        </p:txBody>
      </p:sp>
      <p:sp>
        <p:nvSpPr>
          <p:cNvPr id="16" name="Rectangle 15"/>
          <p:cNvSpPr/>
          <p:nvPr/>
        </p:nvSpPr>
        <p:spPr>
          <a:xfrm>
            <a:off x="7247938" y="4742569"/>
            <a:ext cx="4575888" cy="954107"/>
          </a:xfrm>
          <a:prstGeom prst="rect">
            <a:avLst/>
          </a:prstGeom>
        </p:spPr>
        <p:txBody>
          <a:bodyPr wrap="square">
            <a:spAutoFit/>
          </a:bodyPr>
          <a:lstStyle/>
          <a:p>
            <a:r>
              <a:rPr lang="en-US" sz="1400" b="1" dirty="0"/>
              <a:t>Financial Projections:</a:t>
            </a:r>
          </a:p>
          <a:p>
            <a:pPr>
              <a:buFont typeface="Arial" panose="020B0604020202020204" pitchFamily="34" charset="0"/>
              <a:buChar char="•"/>
            </a:pPr>
            <a:r>
              <a:rPr lang="en-US" sz="1400" dirty="0"/>
              <a:t>A clear breakdown of startup costs and revenue streams.</a:t>
            </a:r>
          </a:p>
          <a:p>
            <a:pPr>
              <a:buFont typeface="Arial" panose="020B0604020202020204" pitchFamily="34" charset="0"/>
              <a:buChar char="•"/>
            </a:pPr>
            <a:r>
              <a:rPr lang="en-US" sz="1400" dirty="0"/>
              <a:t>A strategic allocation of funds ensuring efficient platform development, marketing, and vendor partnerships.</a:t>
            </a:r>
            <a:endParaRPr lang="en-US" sz="1400" b="0" i="0" dirty="0">
              <a:effectLst/>
            </a:endParaRPr>
          </a:p>
        </p:txBody>
      </p:sp>
      <p:graphicFrame>
        <p:nvGraphicFramePr>
          <p:cNvPr id="23" name="Table 22"/>
          <p:cNvGraphicFramePr>
            <a:graphicFrameLocks noGrp="1"/>
          </p:cNvGraphicFramePr>
          <p:nvPr>
            <p:extLst>
              <p:ext uri="{D42A27DB-BD31-4B8C-83A1-F6EECF244321}">
                <p14:modId xmlns:p14="http://schemas.microsoft.com/office/powerpoint/2010/main" val="186071167"/>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4"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5"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6"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7"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1"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2"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3"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6"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7"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8" action="ppaction://hlinksldjump"/>
                        </a:rPr>
                        <a:t>Conclusion</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bl>
          </a:graphicData>
        </a:graphic>
      </p:graphicFrame>
      <p:sp>
        <p:nvSpPr>
          <p:cNvPr id="17" name="TextBox 16"/>
          <p:cNvSpPr txBox="1"/>
          <p:nvPr/>
        </p:nvSpPr>
        <p:spPr>
          <a:xfrm>
            <a:off x="11658600" y="143501"/>
            <a:ext cx="427776" cy="307777"/>
          </a:xfrm>
          <a:prstGeom prst="rect">
            <a:avLst/>
          </a:prstGeom>
          <a:noFill/>
        </p:spPr>
        <p:txBody>
          <a:bodyPr wrap="square" rtlCol="0">
            <a:spAutoFit/>
          </a:bodyPr>
          <a:lstStyle/>
          <a:p>
            <a:r>
              <a:rPr lang="en-US" sz="1400" dirty="0" smtClean="0"/>
              <a:t>29</a:t>
            </a:r>
            <a:endParaRPr lang="en-IN" sz="1400" dirty="0"/>
          </a:p>
        </p:txBody>
      </p:sp>
    </p:spTree>
    <p:extLst>
      <p:ext uri="{BB962C8B-B14F-4D97-AF65-F5344CB8AC3E}">
        <p14:creationId xmlns:p14="http://schemas.microsoft.com/office/powerpoint/2010/main" val="23894992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1" y="0"/>
            <a:ext cx="10286999" cy="6858000"/>
          </a:xfrm>
          <a:prstGeom prst="rect">
            <a:avLst/>
          </a:prstGeom>
        </p:spPr>
      </p:pic>
      <p:sp>
        <p:nvSpPr>
          <p:cNvPr id="4" name="Rectangle 3"/>
          <p:cNvSpPr/>
          <p:nvPr/>
        </p:nvSpPr>
        <p:spPr>
          <a:xfrm>
            <a:off x="2141211" y="98361"/>
            <a:ext cx="4534575" cy="369332"/>
          </a:xfrm>
          <a:prstGeom prst="rect">
            <a:avLst/>
          </a:prstGeom>
        </p:spPr>
        <p:txBody>
          <a:bodyPr wrap="none">
            <a:spAutoFit/>
          </a:bodyPr>
          <a:lstStyle/>
          <a:p>
            <a:r>
              <a:rPr lang="en-IN" b="1" dirty="0" smtClean="0">
                <a:solidFill>
                  <a:schemeClr val="dk1"/>
                </a:solidFill>
              </a:rPr>
              <a:t>Conclusion - </a:t>
            </a:r>
            <a:r>
              <a:rPr lang="en-IN" b="1" dirty="0" smtClean="0"/>
              <a:t>Unleashing </a:t>
            </a:r>
            <a:r>
              <a:rPr lang="en-IN" b="1" dirty="0"/>
              <a:t>IT-Mart24's </a:t>
            </a:r>
            <a:r>
              <a:rPr lang="en-IN" b="1" dirty="0" smtClean="0"/>
              <a:t>Potential</a:t>
            </a:r>
            <a:endParaRPr lang="en-IN" b="1" dirty="0"/>
          </a:p>
        </p:txBody>
      </p:sp>
      <p:sp>
        <p:nvSpPr>
          <p:cNvPr id="6" name="Rounded Rectangle 5"/>
          <p:cNvSpPr/>
          <p:nvPr/>
        </p:nvSpPr>
        <p:spPr>
          <a:xfrm>
            <a:off x="6694805" y="141709"/>
            <a:ext cx="620485" cy="282637"/>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rPr>
              <a:t>2/2</a:t>
            </a:r>
            <a:endParaRPr lang="en-IN" b="1" dirty="0">
              <a:solidFill>
                <a:schemeClr val="tx1"/>
              </a:solidFill>
            </a:endParaRPr>
          </a:p>
        </p:txBody>
      </p:sp>
      <p:sp>
        <p:nvSpPr>
          <p:cNvPr id="5" name="Rectangle 4"/>
          <p:cNvSpPr/>
          <p:nvPr/>
        </p:nvSpPr>
        <p:spPr>
          <a:xfrm>
            <a:off x="2141211" y="876946"/>
            <a:ext cx="4739423" cy="1169551"/>
          </a:xfrm>
          <a:prstGeom prst="rect">
            <a:avLst/>
          </a:prstGeom>
        </p:spPr>
        <p:txBody>
          <a:bodyPr wrap="square">
            <a:spAutoFit/>
          </a:bodyPr>
          <a:lstStyle/>
          <a:p>
            <a:r>
              <a:rPr lang="en-US" sz="1400" b="1" dirty="0"/>
              <a:t>Go-to-Market Strategy:</a:t>
            </a:r>
          </a:p>
          <a:p>
            <a:pPr>
              <a:buFont typeface="Arial" panose="020B0604020202020204" pitchFamily="34" charset="0"/>
              <a:buChar char="•"/>
            </a:pPr>
            <a:r>
              <a:rPr lang="en-US" sz="1400" dirty="0"/>
              <a:t>A comprehensive marketing plan encompassing content, social media, email, online advertising, and affiliate marketing.</a:t>
            </a:r>
          </a:p>
          <a:p>
            <a:pPr>
              <a:buFont typeface="Arial" panose="020B0604020202020204" pitchFamily="34" charset="0"/>
              <a:buChar char="•"/>
            </a:pPr>
            <a:r>
              <a:rPr lang="en-US" sz="1400" dirty="0"/>
              <a:t>Vendor partnerships and affiliate programs to expand IT-Mart24's reach.</a:t>
            </a:r>
          </a:p>
        </p:txBody>
      </p:sp>
      <p:sp>
        <p:nvSpPr>
          <p:cNvPr id="7" name="Rectangle 6"/>
          <p:cNvSpPr/>
          <p:nvPr/>
        </p:nvSpPr>
        <p:spPr>
          <a:xfrm>
            <a:off x="7210852" y="876946"/>
            <a:ext cx="4757829" cy="954107"/>
          </a:xfrm>
          <a:prstGeom prst="rect">
            <a:avLst/>
          </a:prstGeom>
        </p:spPr>
        <p:txBody>
          <a:bodyPr wrap="square">
            <a:spAutoFit/>
          </a:bodyPr>
          <a:lstStyle/>
          <a:p>
            <a:r>
              <a:rPr lang="en-US" sz="1400" b="1" dirty="0"/>
              <a:t>Team and Partnerships:</a:t>
            </a:r>
          </a:p>
          <a:p>
            <a:pPr>
              <a:buFont typeface="Arial" panose="020B0604020202020204" pitchFamily="34" charset="0"/>
              <a:buChar char="•"/>
            </a:pPr>
            <a:r>
              <a:rPr lang="en-US" sz="1400" dirty="0"/>
              <a:t>A dedicated team with a proven track record in IT solutions.</a:t>
            </a:r>
          </a:p>
          <a:p>
            <a:pPr>
              <a:buFont typeface="Arial" panose="020B0604020202020204" pitchFamily="34" charset="0"/>
              <a:buChar char="•"/>
            </a:pPr>
            <a:r>
              <a:rPr lang="en-US" sz="1400" dirty="0"/>
              <a:t>Future collaborations and partnerships to enhance IT-Mart24's influence.</a:t>
            </a:r>
          </a:p>
        </p:txBody>
      </p:sp>
      <p:sp>
        <p:nvSpPr>
          <p:cNvPr id="13" name="Rectangle 12"/>
          <p:cNvSpPr/>
          <p:nvPr/>
        </p:nvSpPr>
        <p:spPr>
          <a:xfrm>
            <a:off x="2141211" y="2405959"/>
            <a:ext cx="4630781" cy="738664"/>
          </a:xfrm>
          <a:prstGeom prst="rect">
            <a:avLst/>
          </a:prstGeom>
        </p:spPr>
        <p:txBody>
          <a:bodyPr wrap="square">
            <a:spAutoFit/>
          </a:bodyPr>
          <a:lstStyle/>
          <a:p>
            <a:r>
              <a:rPr lang="en-US" sz="1400" b="1" dirty="0"/>
              <a:t>Legal and Regulatory Considerations:</a:t>
            </a:r>
          </a:p>
          <a:p>
            <a:pPr>
              <a:buFont typeface="Arial" panose="020B0604020202020204" pitchFamily="34" charset="0"/>
              <a:buChar char="•"/>
            </a:pPr>
            <a:r>
              <a:rPr lang="en-US" sz="1400" dirty="0" smtClean="0"/>
              <a:t>Full compliance with legal requirements, licenses, and permits for smooth operations.</a:t>
            </a:r>
            <a:endParaRPr lang="en-US" sz="1400" dirty="0"/>
          </a:p>
        </p:txBody>
      </p:sp>
      <p:sp>
        <p:nvSpPr>
          <p:cNvPr id="14" name="Rectangle 13"/>
          <p:cNvSpPr/>
          <p:nvPr/>
        </p:nvSpPr>
        <p:spPr>
          <a:xfrm>
            <a:off x="7210852" y="2405959"/>
            <a:ext cx="4612974" cy="738664"/>
          </a:xfrm>
          <a:prstGeom prst="rect">
            <a:avLst/>
          </a:prstGeom>
        </p:spPr>
        <p:txBody>
          <a:bodyPr wrap="square">
            <a:spAutoFit/>
          </a:bodyPr>
          <a:lstStyle/>
          <a:p>
            <a:r>
              <a:rPr lang="en-US" sz="1400" b="1" dirty="0"/>
              <a:t>Risk Analysis:</a:t>
            </a:r>
          </a:p>
          <a:p>
            <a:pPr>
              <a:buFont typeface="Arial" panose="020B0604020202020204" pitchFamily="34" charset="0"/>
              <a:buChar char="•"/>
            </a:pPr>
            <a:r>
              <a:rPr lang="en-US" sz="1400" dirty="0" smtClean="0"/>
              <a:t>Identification and mitigation of potential risks, ensuring a robust business model.</a:t>
            </a:r>
            <a:endParaRPr lang="en-US" sz="1400" dirty="0"/>
          </a:p>
        </p:txBody>
      </p:sp>
      <p:sp>
        <p:nvSpPr>
          <p:cNvPr id="15" name="Rectangle 14"/>
          <p:cNvSpPr/>
          <p:nvPr/>
        </p:nvSpPr>
        <p:spPr>
          <a:xfrm>
            <a:off x="2141211" y="3504085"/>
            <a:ext cx="4258147" cy="1169551"/>
          </a:xfrm>
          <a:prstGeom prst="rect">
            <a:avLst/>
          </a:prstGeom>
        </p:spPr>
        <p:txBody>
          <a:bodyPr wrap="square">
            <a:spAutoFit/>
          </a:bodyPr>
          <a:lstStyle/>
          <a:p>
            <a:r>
              <a:rPr lang="en-US" sz="1400" b="1" dirty="0"/>
              <a:t>Ask and Use of Funds:</a:t>
            </a:r>
          </a:p>
          <a:p>
            <a:pPr>
              <a:buFont typeface="Arial" panose="020B0604020202020204" pitchFamily="34" charset="0"/>
              <a:buChar char="•"/>
            </a:pPr>
            <a:r>
              <a:rPr lang="en-US" sz="1400" dirty="0"/>
              <a:t>A transparent breakdown of the investment ask and judicious use of funds.</a:t>
            </a:r>
          </a:p>
          <a:p>
            <a:pPr>
              <a:buFont typeface="Arial" panose="020B0604020202020204" pitchFamily="34" charset="0"/>
              <a:buChar char="•"/>
            </a:pPr>
            <a:r>
              <a:rPr lang="en-US" sz="1400" dirty="0"/>
              <a:t>A strong commitment from promoters, emphasizing confidence in IT-Mart24's success.</a:t>
            </a:r>
          </a:p>
        </p:txBody>
      </p:sp>
      <p:sp>
        <p:nvSpPr>
          <p:cNvPr id="8" name="Rectangle 7"/>
          <p:cNvSpPr/>
          <p:nvPr/>
        </p:nvSpPr>
        <p:spPr>
          <a:xfrm>
            <a:off x="2141212" y="5147205"/>
            <a:ext cx="7899082" cy="1169551"/>
          </a:xfrm>
          <a:prstGeom prst="rect">
            <a:avLst/>
          </a:prstGeom>
        </p:spPr>
        <p:txBody>
          <a:bodyPr wrap="square">
            <a:spAutoFit/>
          </a:bodyPr>
          <a:lstStyle/>
          <a:p>
            <a:pPr algn="just"/>
            <a:r>
              <a:rPr lang="en-US" sz="1400" b="1" dirty="0"/>
              <a:t>Conclusion:</a:t>
            </a:r>
          </a:p>
          <a:p>
            <a:pPr algn="just"/>
            <a:r>
              <a:rPr lang="en-US" sz="1400" dirty="0"/>
              <a:t>As we present IT-Mart24 to potential investors, we unveil a visionary platform set to redefine digital experiences. The culmination of meticulous planning, innovative technology, and a seasoned team, IT-Mart24 stands poised to not only meet but exceed the expectations of a dynamic and ever-evolving digital landscape. Join us in shaping the future of digital solutions with IT-Mart24.</a:t>
            </a:r>
            <a:endParaRPr lang="en-US" sz="1400" b="0" i="0" dirty="0">
              <a:effectLst/>
            </a:endParaRPr>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0294" y="3460643"/>
            <a:ext cx="1259391" cy="2980898"/>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526176724"/>
              </p:ext>
            </p:extLst>
          </p:nvPr>
        </p:nvGraphicFramePr>
        <p:xfrm>
          <a:off x="1" y="0"/>
          <a:ext cx="1904999" cy="6858000"/>
        </p:xfrm>
        <a:graphic>
          <a:graphicData uri="http://schemas.openxmlformats.org/drawingml/2006/table">
            <a:tbl>
              <a:tblPr firstRow="1" bandRow="1">
                <a:tableStyleId>{5C22544A-7EE6-4342-B048-85BDC9FD1C3A}</a:tableStyleId>
              </a:tblPr>
              <a:tblGrid>
                <a:gridCol w="1904999"/>
              </a:tblGrid>
              <a:tr h="336777">
                <a:tc>
                  <a:txBody>
                    <a:bodyPr/>
                    <a:lstStyle/>
                    <a:p>
                      <a:pPr algn="ctr"/>
                      <a:r>
                        <a:rPr lang="en-US" sz="1600" dirty="0" smtClean="0">
                          <a:solidFill>
                            <a:schemeClr val="tx1"/>
                          </a:solidFill>
                        </a:rPr>
                        <a:t>Table of</a:t>
                      </a:r>
                      <a:r>
                        <a:rPr lang="en-US" sz="1600" baseline="0" dirty="0" smtClean="0">
                          <a:solidFill>
                            <a:schemeClr val="tx1"/>
                          </a:solidFill>
                        </a:rPr>
                        <a:t> Contents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US" sz="1600" dirty="0" smtClean="0">
                          <a:solidFill>
                            <a:schemeClr val="tx1"/>
                          </a:solidFill>
                          <a:hlinkClick r:id="rId5" action="ppaction://hlinksldjump"/>
                        </a:rPr>
                        <a:t>Introduction</a:t>
                      </a:r>
                      <a:endParaRPr lang="en-IN" sz="1600" dirty="0">
                        <a:solidFill>
                          <a:schemeClr val="tx1"/>
                        </a:solidFill>
                      </a:endParaRPr>
                    </a:p>
                  </a:txBody>
                  <a:tcPr>
                    <a:solidFill>
                      <a:schemeClr val="bg2">
                        <a:lumMod val="90000"/>
                      </a:schemeClr>
                    </a:solidFill>
                  </a:tcPr>
                </a:tc>
              </a:tr>
              <a:tr h="336777">
                <a:tc>
                  <a:txBody>
                    <a:bodyPr/>
                    <a:lstStyle/>
                    <a:p>
                      <a:pPr algn="l"/>
                      <a:r>
                        <a:rPr lang="en-US" sz="1600" dirty="0" smtClean="0">
                          <a:solidFill>
                            <a:schemeClr val="tx1"/>
                          </a:solidFill>
                          <a:hlinkClick r:id="rId6" action="ppaction://hlinksldjump"/>
                        </a:rPr>
                        <a:t>Problem Statement</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7" action="ppaction://hlinksldjump"/>
                        </a:rPr>
                        <a:t>Solution and Unique Selling Proposition</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8" action="ppaction://hlinksldjump"/>
                        </a:rPr>
                        <a:t>Market Analysis</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9" action="ppaction://hlinksldjump"/>
                        </a:rPr>
                        <a:t>Business Model</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0" action="ppaction://hlinksldjump"/>
                        </a:rPr>
                        <a:t>Technology Stack</a:t>
                      </a:r>
                      <a:endParaRPr lang="en-IN" sz="1600" dirty="0">
                        <a:solidFill>
                          <a:schemeClr val="tx1"/>
                        </a:solidFill>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1" action="ppaction://hlinksldjump"/>
                        </a:rPr>
                        <a:t>User Experience</a:t>
                      </a:r>
                      <a:endParaRPr lang="en-IN" sz="1600" dirty="0">
                        <a:solidFill>
                          <a:schemeClr val="tx1"/>
                        </a:solidFill>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2" action="ppaction://hlinksldjump"/>
                        </a:rPr>
                        <a:t>Features and Functionalities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3" action="ppaction://hlinksldjump"/>
                        </a:rPr>
                        <a:t>Financial Projections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4" action="ppaction://hlinksldjump"/>
                        </a:rPr>
                        <a:t>Go-to-Market Strategy</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5" action="ppaction://hlinksldjump"/>
                        </a:rPr>
                        <a:t>Team and Partnerships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IN" sz="1600" b="0" i="0" kern="1200" dirty="0" smtClean="0">
                          <a:solidFill>
                            <a:schemeClr val="tx1"/>
                          </a:solidFill>
                          <a:effectLst/>
                          <a:latin typeface="+mn-lt"/>
                          <a:ea typeface="+mn-ea"/>
                          <a:cs typeface="+mn-cs"/>
                          <a:hlinkClick r:id="rId16" action="ppaction://hlinksldjump"/>
                        </a:rPr>
                        <a:t>Legal and Regulatory Considerations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7" action="ppaction://hlinksldjump"/>
                        </a:rPr>
                        <a:t>Risk Analysis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581705">
                <a:tc>
                  <a:txBody>
                    <a:bodyPr/>
                    <a:lstStyle/>
                    <a:p>
                      <a:pPr algn="l"/>
                      <a:r>
                        <a:rPr lang="en-US" sz="1600" b="0" i="0" kern="1200" dirty="0" smtClean="0">
                          <a:solidFill>
                            <a:schemeClr val="tx1"/>
                          </a:solidFill>
                          <a:effectLst/>
                          <a:latin typeface="+mn-lt"/>
                          <a:ea typeface="+mn-ea"/>
                          <a:cs typeface="+mn-cs"/>
                          <a:hlinkClick r:id="rId18" action="ppaction://hlinksldjump"/>
                        </a:rPr>
                        <a:t>Ask and Use of Funds</a:t>
                      </a:r>
                      <a:endParaRPr lang="en-IN" sz="1600" b="0" i="0" kern="1200" dirty="0" smtClean="0">
                        <a:solidFill>
                          <a:schemeClr val="tx1"/>
                        </a:solidFill>
                        <a:effectLst/>
                        <a:latin typeface="+mn-lt"/>
                        <a:ea typeface="+mn-ea"/>
                        <a:cs typeface="+mn-cs"/>
                      </a:endParaRPr>
                    </a:p>
                  </a:txBody>
                  <a:tcPr>
                    <a:solidFill>
                      <a:schemeClr val="accent3">
                        <a:lumMod val="60000"/>
                        <a:lumOff val="40000"/>
                      </a:schemeClr>
                    </a:solidFill>
                  </a:tcPr>
                </a:tc>
              </a:tr>
              <a:tr h="336777">
                <a:tc>
                  <a:txBody>
                    <a:bodyPr/>
                    <a:lstStyle/>
                    <a:p>
                      <a:pPr algn="l"/>
                      <a:r>
                        <a:rPr lang="en-IN" sz="1600" b="0" i="0" kern="1200" dirty="0" smtClean="0">
                          <a:solidFill>
                            <a:schemeClr val="tx1"/>
                          </a:solidFill>
                          <a:effectLst/>
                          <a:latin typeface="+mn-lt"/>
                          <a:ea typeface="+mn-ea"/>
                          <a:cs typeface="+mn-cs"/>
                          <a:hlinkClick r:id="rId19" action="ppaction://hlinksldjump"/>
                        </a:rPr>
                        <a:t>Conclusion</a:t>
                      </a:r>
                      <a:endParaRPr lang="en-IN" sz="1600" b="0" i="0" kern="1200" dirty="0" smtClean="0">
                        <a:solidFill>
                          <a:schemeClr val="tx1"/>
                        </a:solidFill>
                        <a:effectLst/>
                        <a:latin typeface="+mn-lt"/>
                        <a:ea typeface="+mn-ea"/>
                        <a:cs typeface="+mn-cs"/>
                      </a:endParaRPr>
                    </a:p>
                  </a:txBody>
                  <a:tcPr>
                    <a:solidFill>
                      <a:schemeClr val="accent4">
                        <a:lumMod val="60000"/>
                        <a:lumOff val="40000"/>
                      </a:schemeClr>
                    </a:solidFill>
                  </a:tcPr>
                </a:tc>
              </a:tr>
            </a:tbl>
          </a:graphicData>
        </a:graphic>
      </p:graphicFrame>
      <p:sp>
        <p:nvSpPr>
          <p:cNvPr id="16" name="TextBox 15"/>
          <p:cNvSpPr txBox="1"/>
          <p:nvPr/>
        </p:nvSpPr>
        <p:spPr>
          <a:xfrm>
            <a:off x="11658600" y="143501"/>
            <a:ext cx="382509" cy="307777"/>
          </a:xfrm>
          <a:prstGeom prst="rect">
            <a:avLst/>
          </a:prstGeom>
          <a:noFill/>
        </p:spPr>
        <p:txBody>
          <a:bodyPr wrap="square" rtlCol="0">
            <a:spAutoFit/>
          </a:bodyPr>
          <a:lstStyle/>
          <a:p>
            <a:r>
              <a:rPr lang="en-US" sz="1400" dirty="0" smtClean="0"/>
              <a:t>30</a:t>
            </a:r>
            <a:endParaRPr lang="en-IN" sz="1400" dirty="0"/>
          </a:p>
        </p:txBody>
      </p:sp>
    </p:spTree>
    <p:extLst>
      <p:ext uri="{BB962C8B-B14F-4D97-AF65-F5344CB8AC3E}">
        <p14:creationId xmlns:p14="http://schemas.microsoft.com/office/powerpoint/2010/main" val="25918720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3291</TotalTime>
  <Words>6385</Words>
  <Application>Microsoft Office PowerPoint</Application>
  <PresentationFormat>Widescreen</PresentationFormat>
  <Paragraphs>1128</Paragraphs>
  <Slides>30</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Google Sans</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Pratiksham</dc:creator>
  <cp:lastModifiedBy>Pratiksham</cp:lastModifiedBy>
  <cp:revision>416</cp:revision>
  <dcterms:created xsi:type="dcterms:W3CDTF">2023-11-05T17:42:17Z</dcterms:created>
  <dcterms:modified xsi:type="dcterms:W3CDTF">2023-11-23T16:03:57Z</dcterms:modified>
</cp:coreProperties>
</file>