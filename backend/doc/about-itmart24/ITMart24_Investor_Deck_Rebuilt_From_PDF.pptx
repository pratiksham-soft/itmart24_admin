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67" r:id="rId15"/>
    <p:sldId id="272" r:id="rId16"/>
    <p:sldId id="273" r:id="rId17"/>
    <p:sldId id="274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303"/>
    <a:srgbClr val="0D7505"/>
    <a:srgbClr val="040C19"/>
    <a:srgbClr val="0F2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 i="0" u="none" strike="noStrike" baseline="0" dirty="0">
                        <a:effectLst/>
                      </a:rPr>
                      <a:t>532.2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1BC-485C-A9E6-6EA9F7A72C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Hosting</c:v>
                </c:pt>
                <c:pt idx="1">
                  <c:v>Software</c:v>
                </c:pt>
                <c:pt idx="2">
                  <c:v>AI</c:v>
                </c:pt>
                <c:pt idx="3">
                  <c:v>Digital Tutorials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532.20000000000005</c:v>
                </c:pt>
                <c:pt idx="1">
                  <c:v>780</c:v>
                </c:pt>
                <c:pt idx="2">
                  <c:v>827</c:v>
                </c:pt>
                <c:pt idx="3">
                  <c:v>263.33999999999997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BF-42C3-B87C-3B2776BBE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 (Projected)</c:v>
                </c:pt>
              </c:strCache>
            </c:strRef>
          </c:tx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 i="0" u="none" strike="noStrike" baseline="0" dirty="0">
                        <a:effectLst/>
                      </a:rPr>
                      <a:t>1295.84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1BC-485C-A9E6-6EA9F7A72C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Hosting</c:v>
                </c:pt>
                <c:pt idx="1">
                  <c:v>Software</c:v>
                </c:pt>
                <c:pt idx="2">
                  <c:v>AI</c:v>
                </c:pt>
                <c:pt idx="3">
                  <c:v>Digital Tutorials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1295.8399999999999</c:v>
                </c:pt>
                <c:pt idx="1">
                  <c:v>1432.94</c:v>
                </c:pt>
                <c:pt idx="2">
                  <c:v>1807.84</c:v>
                </c:pt>
                <c:pt idx="3">
                  <c:v>491.35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BF-42C3-B87C-3B2776BBE8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ln>
          <a:solidFill>
            <a:schemeClr val="bg1"/>
          </a:solidFill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C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4335" y="3429000"/>
            <a:ext cx="666995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rPr dirty="0"/>
              <a:t>ITMart24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rPr dirty="0"/>
              <a:t>AI-Powered Digital Commerce Marketplace</a:t>
            </a:r>
          </a:p>
        </p:txBody>
      </p:sp>
      <p:pic>
        <p:nvPicPr>
          <p:cNvPr id="4" name="Picture 3" descr="A blue logo with a basket and text&#10;&#10;AI-generated content may be incorrect.">
            <a:extLst>
              <a:ext uri="{FF2B5EF4-FFF2-40B4-BE49-F238E27FC236}">
                <a16:creationId xmlns:a16="http://schemas.microsoft.com/office/drawing/2014/main" id="{8EA75F98-ED58-D5A6-4243-AF1EA109D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41" y="575188"/>
            <a:ext cx="2982861" cy="2982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1.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7799"/>
            <a:ext cx="8229600" cy="34179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solidFill>
                  <a:schemeClr val="bg1"/>
                </a:solidFill>
              </a:rPr>
              <a:t>Individuals and businesses have powerful digital ideas but lack the technical clarity to choose the right software, hosting, AI tools, or IT services.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The market is flooded with overwhelming options, biased SEO content, and complex technical jargon, making decision-making confusing and risky.</a:t>
            </a:r>
          </a:p>
        </p:txBody>
      </p:sp>
      <p:pic>
        <p:nvPicPr>
          <p:cNvPr id="7" name="Picture 6" descr="A group of people with their hands on their head&#10;&#10;AI-generated content may be incorrect.">
            <a:extLst>
              <a:ext uri="{FF2B5EF4-FFF2-40B4-BE49-F238E27FC236}">
                <a16:creationId xmlns:a16="http://schemas.microsoft.com/office/drawing/2014/main" id="{072856E0-1A97-12B7-3606-17EE4D52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830" y="3266768"/>
            <a:ext cx="4723170" cy="31487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4970E1-B271-828A-C10B-E67A779EF231}"/>
              </a:ext>
            </a:extLst>
          </p:cNvPr>
          <p:cNvSpPr txBox="1"/>
          <p:nvPr/>
        </p:nvSpPr>
        <p:spPr>
          <a:xfrm>
            <a:off x="457200" y="4036091"/>
            <a:ext cx="423278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Even tech-savvy professionals struggle with information overload, leading to inefficient, time-consuming, and often costly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2. </a:t>
            </a:r>
            <a:r>
              <a:rPr lang="en-US" dirty="0">
                <a:solidFill>
                  <a:schemeClr val="bg1"/>
                </a:solidFill>
              </a:rPr>
              <a:t>Clear Solution Definition</a:t>
            </a:r>
            <a:r>
              <a:rPr dirty="0">
                <a:solidFill>
                  <a:schemeClr val="bg1"/>
                </a:solidFill>
              </a:rPr>
              <a:t> – ITMart24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5956"/>
            <a:ext cx="8229600" cy="326676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solidFill>
                  <a:schemeClr val="bg1"/>
                </a:solidFill>
              </a:rPr>
              <a:t>ITMart24 simplifies digital decision-making by helping users identify the right software, hosting, AI tools, and IT services based on their specific needs.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It provides structured comparisons, transparent reviews, and AI-powered recommendations to eliminate confusion and biased information.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4A2ED-AC43-7A6C-DBF2-4187E71EAD0E}"/>
              </a:ext>
            </a:extLst>
          </p:cNvPr>
          <p:cNvSpPr txBox="1"/>
          <p:nvPr/>
        </p:nvSpPr>
        <p:spPr>
          <a:xfrm>
            <a:off x="4085303" y="3636965"/>
            <a:ext cx="4572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ITMart24 acts as a one-stop IT discovery platform, enabling individuals and businesses to make confident, informed, and efficient technology choices.</a:t>
            </a:r>
          </a:p>
        </p:txBody>
      </p:sp>
      <p:pic>
        <p:nvPicPr>
          <p:cNvPr id="7" name="Picture 6" descr="A group of people standing in front of a computer screen&#10;&#10;AI-generated content may be incorrect.">
            <a:extLst>
              <a:ext uri="{FF2B5EF4-FFF2-40B4-BE49-F238E27FC236}">
                <a16:creationId xmlns:a16="http://schemas.microsoft.com/office/drawing/2014/main" id="{4016BAE9-ED96-8A4A-4A3D-29840AB4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49" y="3809999"/>
            <a:ext cx="4572001" cy="3048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Market Opportunity (202</a:t>
            </a:r>
            <a:r>
              <a:rPr lang="en-US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 vs 2030 in USD Billion)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43863"/>
              </p:ext>
            </p:extLst>
          </p:nvPr>
        </p:nvGraphicFramePr>
        <p:xfrm>
          <a:off x="914400" y="1976284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290" y="274638"/>
            <a:ext cx="5928852" cy="11430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4. Business Model – Multi Revenue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3283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● Affiliate Programs: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Revenue through affiliate programs with registered Software, Hosting, AI, and Tutorial providers, earning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commissions on successful referrals.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Average affiliate commission 5% - 80% per successful sale</a:t>
            </a:r>
          </a:p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● Advertising Placements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Monetization through targeted advertising spaces for companies seeking visibility within the IT ecosystem.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Banner ads, featured placements, category sponsorships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Average Cost: ₹90,000 – ₹2,16,000 ($1000 – $2400) per month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High-intent audience ensures premium ad value</a:t>
            </a:r>
            <a:endParaRPr sz="2200" dirty="0">
              <a:solidFill>
                <a:schemeClr val="bg1"/>
              </a:solidFill>
            </a:endParaRPr>
          </a:p>
        </p:txBody>
      </p:sp>
      <p:pic>
        <p:nvPicPr>
          <p:cNvPr id="9" name="Picture 8" descr="A hand holding a bag of money&#10;&#10;AI-generated content may be incorrect.">
            <a:extLst>
              <a:ext uri="{FF2B5EF4-FFF2-40B4-BE49-F238E27FC236}">
                <a16:creationId xmlns:a16="http://schemas.microsoft.com/office/drawing/2014/main" id="{3D454704-E756-0CF8-E7F6-5A77AD5DF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2442702" cy="16244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E938D9-7DCC-7BBD-63F5-75DAE9562B51}"/>
              </a:ext>
            </a:extLst>
          </p:cNvPr>
          <p:cNvSpPr txBox="1"/>
          <p:nvPr/>
        </p:nvSpPr>
        <p:spPr>
          <a:xfrm>
            <a:off x="398206" y="172880"/>
            <a:ext cx="806736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100" dirty="0">
                <a:solidFill>
                  <a:schemeClr val="bg1"/>
                </a:solidFill>
              </a:rPr>
              <a:t>● SEO &amp; PPC Visibility Campaigns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Businesses can pay for enhanced visibility via sponsored listings and performance-based click campaigns.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Average CPC: ₹80 – ₹150 ($1 – $2) per click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Ideal for vendors launching new products or scaling reach</a:t>
            </a:r>
          </a:p>
          <a:p>
            <a:pPr algn="just"/>
            <a:endParaRPr lang="en-US" sz="2100" dirty="0">
              <a:solidFill>
                <a:schemeClr val="bg1"/>
              </a:solidFill>
            </a:endParaRP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● Premium Listings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Vendors can feature their products prominently on the homepage, top category sections, featured in blogs, top ten product pages etc.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Cost Range: ₹800 – ₹8,000 ($10 – $100)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Duration: 7 to 60 days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Drives immediate exposure and higher conversion probability</a:t>
            </a:r>
          </a:p>
          <a:p>
            <a:pPr algn="just"/>
            <a:endParaRPr lang="en-US" sz="2100" dirty="0">
              <a:solidFill>
                <a:schemeClr val="bg1"/>
              </a:solidFill>
            </a:endParaRP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● Subscription-Based Dashboard (Recurring Revenue)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A premium dashboard for digital product owners to manage software, hosting, licenses, renewals, and performance tracking.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Includes profile page, predictive alerts for resource requirements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Centralized IT subscription management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Monthly Subscription: ₹2,500 – ₹9,500 ($30 – $115)</a:t>
            </a:r>
          </a:p>
          <a:p>
            <a:pPr algn="just"/>
            <a:r>
              <a:rPr lang="en-US" sz="2100" dirty="0">
                <a:solidFill>
                  <a:schemeClr val="bg1"/>
                </a:solidFill>
              </a:rPr>
              <a:t>Builds predictable recurring revenue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933736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418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5. Competitive Advantage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03" y="1526460"/>
            <a:ext cx="8745793" cy="54347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● Apart from features like Personalized AI Recommendations, a Structured Decision Framework, Multi-Category Coverage, and Transparent Comparison Tools, ITMart24 is fundamentally designed as a true digital marketplace.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● Just as Amazon operates as a marketplace for physical products, ITMart24 operates as a marketplace for digital products — including software, hosting, AI tools, digital tutorials and other digital products.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● Unlike Capterra - a software directory, There's An AI For That - a AI Tools directory, Trustpilot - product review platform, and other directory-style platforms that primarily focus on listings or reviews,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ITMart24: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Enables vendor onboarding and active participation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Supports promotional placements and performance campaigns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Facilitates discovery, comparison, and conversion within one ecosystem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Builds a transactional, scalable digital commerce environment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chemeClr val="bg1"/>
                </a:solidFill>
              </a:rPr>
              <a:t>In short, others are directories or review platforms — ITMart24 is a structured digital commerce marketplace.</a:t>
            </a:r>
            <a:endParaRPr sz="1800" dirty="0">
              <a:solidFill>
                <a:schemeClr val="bg1"/>
              </a:solidFill>
            </a:endParaRPr>
          </a:p>
        </p:txBody>
      </p:sp>
      <p:pic>
        <p:nvPicPr>
          <p:cNvPr id="5" name="Picture 4" descr="A group of people with a star&#10;&#10;AI-generated content may be incorrect.">
            <a:extLst>
              <a:ext uri="{FF2B5EF4-FFF2-40B4-BE49-F238E27FC236}">
                <a16:creationId xmlns:a16="http://schemas.microsoft.com/office/drawing/2014/main" id="{4366FB18-FCDE-E4CF-5A86-A45EAC32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16" y="250724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r>
              <a:rPr dirty="0">
                <a:solidFill>
                  <a:schemeClr val="bg1"/>
                </a:solidFill>
              </a:rPr>
              <a:t>. </a:t>
            </a:r>
            <a:r>
              <a:rPr lang="en-US" dirty="0">
                <a:solidFill>
                  <a:schemeClr val="bg1"/>
                </a:solidFill>
              </a:rPr>
              <a:t>Traction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2313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● Platform Live: ITMart24.com is fully operational with approximately 1,000 digital products listed across software, hosting, AI tools, and digital tutorials.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● Vendor Infrastructure Ready: A dedicated Vendor Panel has been fully developed and integrated, enabling vendor onboarding, product management, and promotional features — scheduled to go live soon.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49E4D85-DEAB-D53D-645A-F749F91BA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162" y="3429000"/>
            <a:ext cx="4778477" cy="3185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C2181B-FE01-47BA-F05A-90AE7C24C3E5}"/>
              </a:ext>
            </a:extLst>
          </p:cNvPr>
          <p:cNvSpPr txBox="1"/>
          <p:nvPr/>
        </p:nvSpPr>
        <p:spPr>
          <a:xfrm>
            <a:off x="457200" y="3582833"/>
            <a:ext cx="4114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solidFill>
                  <a:schemeClr val="bg1"/>
                </a:solidFill>
              </a:rPr>
              <a:t>● AI Recommendation Engine in Development: The AI-powered personalized recommendation system is currently under development, designed to enhance user decision-making and improve conversion efficiency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r>
              <a:rPr dirty="0">
                <a:solidFill>
                  <a:schemeClr val="bg1"/>
                </a:solidFill>
              </a:rPr>
              <a:t>. </a:t>
            </a:r>
            <a:r>
              <a:rPr lang="en-US" dirty="0">
                <a:solidFill>
                  <a:schemeClr val="bg1"/>
                </a:solidFill>
              </a:rPr>
              <a:t>Growth Strategy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38272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● Product Development Roadmap (Feb – Aug)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  ⦿ February 26 – August (6 Months):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Complete full platform development including: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Vendor marketplace activation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AI recommendation engine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Advanced comparison system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Subscription dashboard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Scalable backend &amp; analytics integration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● Revenue Activation Begins: Sep 2026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Monetization starts while development continues toward full optimization by August.</a:t>
            </a:r>
          </a:p>
        </p:txBody>
      </p:sp>
      <p:pic>
        <p:nvPicPr>
          <p:cNvPr id="5" name="Picture 4" descr="A green leafy plant in a hand&#10;&#10;AI-generated content may be incorrect.">
            <a:extLst>
              <a:ext uri="{FF2B5EF4-FFF2-40B4-BE49-F238E27FC236}">
                <a16:creationId xmlns:a16="http://schemas.microsoft.com/office/drawing/2014/main" id="{452430C5-3174-0290-4004-41D2F003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164" y="5257799"/>
            <a:ext cx="4595198" cy="1727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5A7BE-29AD-9489-F916-EFCA179C172A}"/>
              </a:ext>
            </a:extLst>
          </p:cNvPr>
          <p:cNvSpPr txBox="1"/>
          <p:nvPr/>
        </p:nvSpPr>
        <p:spPr>
          <a:xfrm>
            <a:off x="435077" y="146660"/>
            <a:ext cx="827384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● Subscription-Based Vendor Onboarding (Primary Growth Driver)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⦿ Phase 1: Initial Scale Sep Onwards)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Target: 1,000 vendors onboarded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Average Monthly Subscription: $30 (~₹2,700)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Projected Monthly Revenue: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1,000 × $30 = $30,000 (~₹27,00,000/month)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⦿ Phase 2: 12-Month Expansion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Target: 10,000 vendors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• Projected Monthly Revenue: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10,000 × $30 = $300,000/month (~₹2.7 Cr/month)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This builds predictable, recurring revenue and strengthens marketplace depth.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● Affiliate Program Revenue (Performance-Based Layer)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⦿ Average Commission per Sale: $30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⦿ Initial Target: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	2 sales per vendor / month × 1,000 vendors = 2,000 sales/month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⦿ Revenue Projection: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		2,000 × $30 = $60,000/month (~₹54,00,000)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Affiliate revenue scales proportionally with traffic growth and vendor expansion.</a:t>
            </a:r>
          </a:p>
        </p:txBody>
      </p:sp>
    </p:spTree>
    <p:extLst>
      <p:ext uri="{BB962C8B-B14F-4D97-AF65-F5344CB8AC3E}">
        <p14:creationId xmlns:p14="http://schemas.microsoft.com/office/powerpoint/2010/main" val="284112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3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513CE2-85EE-3F27-3E51-3362854077BC}"/>
              </a:ext>
            </a:extLst>
          </p:cNvPr>
          <p:cNvSpPr txBox="1"/>
          <p:nvPr/>
        </p:nvSpPr>
        <p:spPr>
          <a:xfrm>
            <a:off x="634182" y="309715"/>
            <a:ext cx="824434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● Advertising Placements (Premium Regional Model)</a:t>
            </a:r>
          </a:p>
          <a:p>
            <a:r>
              <a:rPr lang="en-US" dirty="0">
                <a:solidFill>
                  <a:schemeClr val="bg1"/>
                </a:solidFill>
              </a:rPr>
              <a:t>	• Max 10 premium ads per region per week</a:t>
            </a:r>
          </a:p>
          <a:p>
            <a:r>
              <a:rPr lang="en-US" dirty="0">
                <a:solidFill>
                  <a:schemeClr val="bg1"/>
                </a:solidFill>
              </a:rPr>
              <a:t>	• Price: $150 (~₹13,500) per ad</a:t>
            </a:r>
          </a:p>
          <a:p>
            <a:r>
              <a:rPr lang="en-US" dirty="0">
                <a:solidFill>
                  <a:schemeClr val="bg1"/>
                </a:solidFill>
              </a:rPr>
              <a:t>	• Targeting: 5 regions initially</a:t>
            </a:r>
          </a:p>
          <a:p>
            <a:r>
              <a:rPr lang="en-US" dirty="0">
                <a:solidFill>
                  <a:schemeClr val="bg1"/>
                </a:solidFill>
              </a:rPr>
              <a:t>	• Monthly Potential Capacity:</a:t>
            </a:r>
          </a:p>
          <a:p>
            <a:r>
              <a:rPr lang="en-US" dirty="0">
                <a:solidFill>
                  <a:schemeClr val="bg1"/>
                </a:solidFill>
              </a:rPr>
              <a:t>		$150 × 10 ads × 5 regions × 4 weeks</a:t>
            </a:r>
          </a:p>
          <a:p>
            <a:r>
              <a:rPr lang="en-US" dirty="0">
                <a:solidFill>
                  <a:schemeClr val="bg1"/>
                </a:solidFill>
              </a:rPr>
              <a:t>		= $30,000/month (~ ₹27,00,000)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• Initial Conservative Target:</a:t>
            </a:r>
          </a:p>
          <a:p>
            <a:r>
              <a:rPr lang="en-US" dirty="0">
                <a:solidFill>
                  <a:schemeClr val="bg1"/>
                </a:solidFill>
              </a:rPr>
              <a:t>		2 ads initially</a:t>
            </a:r>
          </a:p>
          <a:p>
            <a:r>
              <a:rPr lang="en-US" dirty="0">
                <a:solidFill>
                  <a:schemeClr val="bg1"/>
                </a:solidFill>
              </a:rPr>
              <a:t>		Revenue: $6,000/month (~ ₹5,40,000)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r>
              <a:rPr lang="en-US" dirty="0">
                <a:solidFill>
                  <a:schemeClr val="bg1"/>
                </a:solidFill>
              </a:rPr>
              <a:t>This creates scarcity-driven premium positioning.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● Premium Listings</a:t>
            </a:r>
          </a:p>
          <a:p>
            <a:r>
              <a:rPr lang="en-US" dirty="0">
                <a:solidFill>
                  <a:schemeClr val="bg1"/>
                </a:solidFill>
              </a:rPr>
              <a:t>	• Target: Minimum 100 premium listings</a:t>
            </a:r>
          </a:p>
          <a:p>
            <a:r>
              <a:rPr lang="en-US" dirty="0">
                <a:solidFill>
                  <a:schemeClr val="bg1"/>
                </a:solidFill>
              </a:rPr>
              <a:t>	• Price: $25 per week</a:t>
            </a:r>
          </a:p>
          <a:p>
            <a:r>
              <a:rPr lang="en-US" dirty="0">
                <a:solidFill>
                  <a:schemeClr val="bg1"/>
                </a:solidFill>
              </a:rPr>
              <a:t>	• Monthly Revenue:</a:t>
            </a:r>
          </a:p>
          <a:p>
            <a:r>
              <a:rPr lang="en-US" dirty="0">
                <a:solidFill>
                  <a:schemeClr val="bg1"/>
                </a:solidFill>
              </a:rPr>
              <a:t>		100 × $25 × 4 weeks</a:t>
            </a:r>
          </a:p>
          <a:p>
            <a:r>
              <a:rPr lang="en-US" dirty="0">
                <a:solidFill>
                  <a:schemeClr val="bg1"/>
                </a:solidFill>
              </a:rPr>
              <a:t>		= $10,000/month (~₹9,00,000)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This supports product visibility upgrades within the marketplace.</a:t>
            </a:r>
          </a:p>
        </p:txBody>
      </p:sp>
    </p:spTree>
    <p:extLst>
      <p:ext uri="{BB962C8B-B14F-4D97-AF65-F5344CB8AC3E}">
        <p14:creationId xmlns:p14="http://schemas.microsoft.com/office/powerpoint/2010/main" val="98708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27CA46A5-C777-6342-3472-4F5C6F9AD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735" y="3958051"/>
            <a:ext cx="4564626" cy="29260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8. ITMart24 – Team Structure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1) Project Head (Founder / CEO)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2) Operations Head (COO)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3) UI/UX Team (2–3 Members)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4) Development Team (4–5 Members)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5) Digital Marketing Team (3–4 Members)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6) Content &amp; Research (2 Members)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7) Finance &amp; Administration (1–2 Members)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Team Size Summary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Core Team: 15 Members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Expanded Structure: 17–18 Members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Lean, scalable, and role-optimized for marketplace growth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725562"/>
            <a:ext cx="6607277" cy="2568012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Financial Ask: </a:t>
            </a:r>
            <a:br>
              <a:rPr lang="en-US" sz="7200" dirty="0">
                <a:solidFill>
                  <a:schemeClr val="bg1"/>
                </a:solidFill>
              </a:rPr>
            </a:br>
            <a:r>
              <a:rPr lang="en-US" sz="7200" dirty="0">
                <a:solidFill>
                  <a:schemeClr val="bg1"/>
                </a:solidFill>
              </a:rPr>
              <a:t>3 Crore Runway</a:t>
            </a:r>
            <a:endParaRPr sz="7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9CDB-1255-BB7C-5C02-3684D45B7A1C}"/>
              </a:ext>
            </a:extLst>
          </p:cNvPr>
          <p:cNvSpPr txBox="1"/>
          <p:nvPr/>
        </p:nvSpPr>
        <p:spPr>
          <a:xfrm>
            <a:off x="1522305" y="2300437"/>
            <a:ext cx="4097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9. </a:t>
            </a:r>
            <a:endParaRPr lang="en-US" sz="2200" dirty="0"/>
          </a:p>
        </p:txBody>
      </p:sp>
      <p:pic>
        <p:nvPicPr>
          <p:cNvPr id="4" name="Picture 3" descr="A money bag with a plant growing out of it&#10;&#10;AI-generated content may be incorrect.">
            <a:extLst>
              <a:ext uri="{FF2B5EF4-FFF2-40B4-BE49-F238E27FC236}">
                <a16:creationId xmlns:a16="http://schemas.microsoft.com/office/drawing/2014/main" id="{C1191B76-AD0B-5A22-91C8-A15752D6FD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7000"/>
          </a:blip>
          <a:stretch>
            <a:fillRect/>
          </a:stretch>
        </p:blipFill>
        <p:spPr>
          <a:xfrm>
            <a:off x="6600835" y="4500051"/>
            <a:ext cx="2018665" cy="20186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10. Month Roadmap: 12-Month Roadmap – ITMart24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8" y="2112315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● February – April 2026 (Core Development Phase)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Strengthen marketplace architecture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Finalize vendor subscription infrastructure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Build advanced comparison engine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Begin AI recommendation system development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Initial vendor pipeline building (pre-launch onboarding interest)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● May – June 2026 (System Integration Phase)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Vendor panel integration &amp; testing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AI recommendation engine beta testing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Payment gateway &amp; subscription automation setup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UX optimization &amp; conversion-focused redesign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	• SEO foundation &amp; large-scale content addition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19242-67E7-1F2E-29E9-93EA6B0550A5}"/>
              </a:ext>
            </a:extLst>
          </p:cNvPr>
          <p:cNvSpPr txBox="1"/>
          <p:nvPr/>
        </p:nvSpPr>
        <p:spPr>
          <a:xfrm>
            <a:off x="1548581" y="1567290"/>
            <a:ext cx="6592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(Development Until August 2026 | Revenue After August 2026)</a:t>
            </a:r>
          </a:p>
        </p:txBody>
      </p:sp>
      <p:pic>
        <p:nvPicPr>
          <p:cNvPr id="6" name="Picture 5" descr="A road with pin pointers on it&#10;&#10;AI-generated content may be incorrect.">
            <a:extLst>
              <a:ext uri="{FF2B5EF4-FFF2-40B4-BE49-F238E27FC236}">
                <a16:creationId xmlns:a16="http://schemas.microsoft.com/office/drawing/2014/main" id="{4BECD712-92E7-F2A7-27F4-74582040B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48" y="4419600"/>
            <a:ext cx="2438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86F01-BAA3-EF98-3109-474BC03BF38E}"/>
              </a:ext>
            </a:extLst>
          </p:cNvPr>
          <p:cNvSpPr txBox="1"/>
          <p:nvPr/>
        </p:nvSpPr>
        <p:spPr>
          <a:xfrm>
            <a:off x="825909" y="197346"/>
            <a:ext cx="781664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● July – August 2026 (Finalization &amp; Pre-Launch Phase)</a:t>
            </a:r>
          </a:p>
          <a:p>
            <a:r>
              <a:rPr lang="en-US" dirty="0">
                <a:solidFill>
                  <a:schemeClr val="bg1"/>
                </a:solidFill>
              </a:rPr>
              <a:t>	• Full platform testing (security, scalability, performance)</a:t>
            </a:r>
          </a:p>
          <a:p>
            <a:r>
              <a:rPr lang="en-US" dirty="0">
                <a:solidFill>
                  <a:schemeClr val="bg1"/>
                </a:solidFill>
              </a:rPr>
              <a:t>	• AI engine deployment (Version 1)</a:t>
            </a:r>
          </a:p>
          <a:p>
            <a:r>
              <a:rPr lang="en-US" dirty="0">
                <a:solidFill>
                  <a:schemeClr val="bg1"/>
                </a:solidFill>
              </a:rPr>
              <a:t>	• Vendor onboarding system ready for scale</a:t>
            </a:r>
          </a:p>
          <a:p>
            <a:r>
              <a:rPr lang="en-US" dirty="0">
                <a:solidFill>
                  <a:schemeClr val="bg1"/>
                </a:solidFill>
              </a:rPr>
              <a:t>	• Marketing pre-launch campaigns</a:t>
            </a:r>
          </a:p>
          <a:p>
            <a:r>
              <a:rPr lang="en-US" dirty="0">
                <a:solidFill>
                  <a:schemeClr val="bg1"/>
                </a:solidFill>
              </a:rPr>
              <a:t>	• Strategic vendor partnerships finalized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⦿ Platform Fully Developed by End of August 2026</a:t>
            </a:r>
          </a:p>
          <a:p>
            <a:r>
              <a:rPr lang="en-US" dirty="0">
                <a:solidFill>
                  <a:schemeClr val="bg1"/>
                </a:solidFill>
              </a:rPr>
              <a:t>⦿ Revenue Generation Begins: September 2026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● September – November 2026 (Revenue Activation Phase)</a:t>
            </a:r>
          </a:p>
          <a:p>
            <a:r>
              <a:rPr lang="en-US" dirty="0">
                <a:solidFill>
                  <a:schemeClr val="bg1"/>
                </a:solidFill>
              </a:rPr>
              <a:t>	• Launch paid vendor subscriptions</a:t>
            </a:r>
          </a:p>
          <a:p>
            <a:r>
              <a:rPr lang="en-US" dirty="0">
                <a:solidFill>
                  <a:schemeClr val="bg1"/>
                </a:solidFill>
              </a:rPr>
              <a:t>	• Activate affiliate monetization</a:t>
            </a:r>
          </a:p>
          <a:p>
            <a:r>
              <a:rPr lang="en-US" dirty="0">
                <a:solidFill>
                  <a:schemeClr val="bg1"/>
                </a:solidFill>
              </a:rPr>
              <a:t>	• Enable premium listings &amp; ad placements</a:t>
            </a:r>
          </a:p>
          <a:p>
            <a:r>
              <a:rPr lang="en-US" dirty="0">
                <a:solidFill>
                  <a:schemeClr val="bg1"/>
                </a:solidFill>
              </a:rPr>
              <a:t>	• Target initial 1,000 vendor onboarding</a:t>
            </a:r>
          </a:p>
          <a:p>
            <a:r>
              <a:rPr lang="en-US" dirty="0">
                <a:solidFill>
                  <a:schemeClr val="bg1"/>
                </a:solidFill>
              </a:rPr>
              <a:t>	• Begin performance marketing campaigns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● December 2026 – February 2027 (Scaling Phase)</a:t>
            </a:r>
          </a:p>
          <a:p>
            <a:r>
              <a:rPr lang="en-US" dirty="0">
                <a:solidFill>
                  <a:schemeClr val="bg1"/>
                </a:solidFill>
              </a:rPr>
              <a:t>	• Expand vendor base aggressively</a:t>
            </a:r>
          </a:p>
          <a:p>
            <a:r>
              <a:rPr lang="en-US" dirty="0">
                <a:solidFill>
                  <a:schemeClr val="bg1"/>
                </a:solidFill>
              </a:rPr>
              <a:t>	• Scale ad placements across regions</a:t>
            </a:r>
          </a:p>
          <a:p>
            <a:r>
              <a:rPr lang="en-US" dirty="0">
                <a:solidFill>
                  <a:schemeClr val="bg1"/>
                </a:solidFill>
              </a:rPr>
              <a:t>	• Optimize affiliate conversion funnels</a:t>
            </a:r>
          </a:p>
          <a:p>
            <a:r>
              <a:rPr lang="en-US" dirty="0">
                <a:solidFill>
                  <a:schemeClr val="bg1"/>
                </a:solidFill>
              </a:rPr>
              <a:t>	• Introduce dashboard subscription (Phase 2)</a:t>
            </a:r>
          </a:p>
          <a:p>
            <a:r>
              <a:rPr lang="en-US" dirty="0">
                <a:solidFill>
                  <a:schemeClr val="bg1"/>
                </a:solidFill>
              </a:rPr>
              <a:t>	• Improve AI personalization accuracy</a:t>
            </a:r>
          </a:p>
        </p:txBody>
      </p:sp>
    </p:spTree>
    <p:extLst>
      <p:ext uri="{BB962C8B-B14F-4D97-AF65-F5344CB8AC3E}">
        <p14:creationId xmlns:p14="http://schemas.microsoft.com/office/powerpoint/2010/main" val="806273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7A945-B7D1-0CB2-27BD-69F5AC093335}"/>
              </a:ext>
            </a:extLst>
          </p:cNvPr>
          <p:cNvSpPr txBox="1"/>
          <p:nvPr/>
        </p:nvSpPr>
        <p:spPr>
          <a:xfrm>
            <a:off x="899652" y="2255881"/>
            <a:ext cx="780189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● 12-Month Objective</a:t>
            </a:r>
          </a:p>
          <a:p>
            <a:r>
              <a:rPr lang="en-US" sz="2400" dirty="0">
                <a:solidFill>
                  <a:schemeClr val="bg1"/>
                </a:solidFill>
              </a:rPr>
              <a:t>	• Fully operational AI-powered digital marketplace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	• Revenue-generating vendor ecosystem</a:t>
            </a:r>
          </a:p>
          <a:p>
            <a:r>
              <a:rPr lang="en-US" sz="2400" dirty="0">
                <a:solidFill>
                  <a:schemeClr val="bg1"/>
                </a:solidFill>
              </a:rPr>
              <a:t>	• Strong recurring subscription foundation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	• Positioned for rapid expansion &amp; next funding stage</a:t>
            </a:r>
          </a:p>
        </p:txBody>
      </p:sp>
    </p:spTree>
    <p:extLst>
      <p:ext uri="{BB962C8B-B14F-4D97-AF65-F5344CB8AC3E}">
        <p14:creationId xmlns:p14="http://schemas.microsoft.com/office/powerpoint/2010/main" val="54397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gauge with text&#10;&#10;AI-generated content may be incorrect.">
            <a:extLst>
              <a:ext uri="{FF2B5EF4-FFF2-40B4-BE49-F238E27FC236}">
                <a16:creationId xmlns:a16="http://schemas.microsoft.com/office/drawing/2014/main" id="{1330F842-E7A3-DF3A-E415-E2684D7D71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6238875" y="4274624"/>
            <a:ext cx="3333750" cy="3333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697BF2-599E-08AD-5AF8-A3B8426EAC1E}"/>
              </a:ext>
            </a:extLst>
          </p:cNvPr>
          <p:cNvSpPr txBox="1">
            <a:spLocks/>
          </p:cNvSpPr>
          <p:nvPr/>
        </p:nvSpPr>
        <p:spPr>
          <a:xfrm>
            <a:off x="457200" y="9765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11. Risk &amp;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CB3DE-6F45-32D1-54AC-35CEE2359D00}"/>
              </a:ext>
            </a:extLst>
          </p:cNvPr>
          <p:cNvSpPr txBox="1">
            <a:spLocks/>
          </p:cNvSpPr>
          <p:nvPr/>
        </p:nvSpPr>
        <p:spPr>
          <a:xfrm>
            <a:off x="339213" y="951271"/>
            <a:ext cx="8347587" cy="58034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● SEO Dependency Risk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Risk: Over-reliance on organic traffic may slow growth if search algorithms change.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Mitigation: Diversify acquisition channels — PPC, vendor-driven traffic, email marketing, partnerships, and social distribution.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● Vendor Acquisition Risk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Risk: Slower vendor onboarding could impact marketplace depth and revenue targets.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Mitigation: Dedicated vendor acquisition team, competitive pricing, early adopter incentives, and performance-based value positioning.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● Competition from Established Platforms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Risk: Platforms like Capterra or Trustpilot have strong brand recognition.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Mitigation: Differentiate as a structured digital marketplace with AI-powered recommendations and subscription-based ecosystem, not just a review directory.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● Monetization Delay Risk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Risk: Revenue may take time to scale post-launch.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Mitigation: Multi-layered revenue model (subscriptions + affiliate + ads + premium listings) to reduce dependency on a single stream.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● Technology &amp; AI Execution Risk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Risk: AI recommendation system may face delays or performance gaps.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	• Mitigation: Phased AI rollout (MVP → Optimization), continuous testing, and scalable infrastructure planning.</a:t>
            </a:r>
          </a:p>
        </p:txBody>
      </p:sp>
    </p:spTree>
    <p:extLst>
      <p:ext uri="{BB962C8B-B14F-4D97-AF65-F5344CB8AC3E}">
        <p14:creationId xmlns:p14="http://schemas.microsoft.com/office/powerpoint/2010/main" val="4173612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12. Investor Exit Possibility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362335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Investors in ITMart24 gain value through equity appreciation and strategic exit opportunities.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	• Strategic Acquisition: A larger tech media company or SaaS discovery platform may acquire ITMart24 to expand their marketplace ecosystem.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	• Secondary Sale: Future investors (Series A/B) can buy early investors’ shares at a higher valuation as the company scales.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	• Marketplace Consolidation: As vendor subscriptions and recurring affiliate revenue grow, ITMart24 becomes a valuable digital asset attractive for buyouts.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	• High-Multiple Valuation: With strong recurring revenue (MRR/ARR model), the company can achieve 5x–10x revenue-based valuation, enabling investors to exit with significant capital gains.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 simple terms: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Investors enter at an early valuation and exit when ITMart24’s value multiplies.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1812</Words>
  <Application>Microsoft Office PowerPoint</Application>
  <PresentationFormat>On-screen Show (4:3)</PresentationFormat>
  <Paragraphs>195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1. Problem Statement</vt:lpstr>
      <vt:lpstr>2. Clear Solution Definition – ITMart24</vt:lpstr>
      <vt:lpstr>Market Opportunity (2026 vs 2030 in USD Billion)</vt:lpstr>
      <vt:lpstr>4. Business Model – Multi Revenue Engine</vt:lpstr>
      <vt:lpstr>PowerPoint Presentation</vt:lpstr>
      <vt:lpstr>5. Competitive Advantage</vt:lpstr>
      <vt:lpstr>6. Traction</vt:lpstr>
      <vt:lpstr>7. Growth Strategy</vt:lpstr>
      <vt:lpstr>PowerPoint Presentation</vt:lpstr>
      <vt:lpstr>PowerPoint Presentation</vt:lpstr>
      <vt:lpstr>8. ITMart24 – Team Structure</vt:lpstr>
      <vt:lpstr>Financial Ask:  3 Crore Runway</vt:lpstr>
      <vt:lpstr>10. Month Roadmap: 12-Month Roadmap – ITMart24</vt:lpstr>
      <vt:lpstr>PowerPoint Presentation</vt:lpstr>
      <vt:lpstr>PowerPoint Presentation</vt:lpstr>
      <vt:lpstr>PowerPoint Presentation</vt:lpstr>
      <vt:lpstr>12. Investor Exit Possibility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PRATIKSHAM</dc:creator>
  <cp:keywords/>
  <dc:description>generated using python-pptx</dc:description>
  <cp:lastModifiedBy>Pratik Meshram</cp:lastModifiedBy>
  <cp:revision>9</cp:revision>
  <dcterms:created xsi:type="dcterms:W3CDTF">2013-01-27T09:14:16Z</dcterms:created>
  <dcterms:modified xsi:type="dcterms:W3CDTF">2026-02-24T18:46:11Z</dcterms:modified>
  <cp:category/>
</cp:coreProperties>
</file>